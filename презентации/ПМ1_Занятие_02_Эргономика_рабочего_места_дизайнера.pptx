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e2cb553d744f05" /><Relationship Type="http://schemas.openxmlformats.org/officeDocument/2006/relationships/extended-properties" Target="/docProps/app.xml" Id="R9e92e28041cc45aa" /><Relationship Type="http://schemas.openxmlformats.org/officeDocument/2006/relationships/officeDocument" Target="/ppt/presentation.xml" Id="Re2897b3c26aa48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32df01cfd04fcd"/>
  </p:sldMasterIdLst>
  <p:notesMasterIdLst>
    <p:notesMasterId xmlns:r="http://schemas.openxmlformats.org/officeDocument/2006/relationships" r:id="R30c8578b791a479b"/>
  </p:notesMasterIdLst>
  <p:sldIdLst>
    <p:sldId xmlns:r="http://schemas.openxmlformats.org/officeDocument/2006/relationships" id="256" r:id="Rbc21f19b321f4ff2"/>
    <p:sldId xmlns:r="http://schemas.openxmlformats.org/officeDocument/2006/relationships" id="257" r:id="R5191beeb99124a79"/>
    <p:sldId xmlns:r="http://schemas.openxmlformats.org/officeDocument/2006/relationships" id="258" r:id="R207edffb1e4c48d2"/>
    <p:sldId xmlns:r="http://schemas.openxmlformats.org/officeDocument/2006/relationships" id="259" r:id="R421b6990798c4f1a"/>
    <p:sldId xmlns:r="http://schemas.openxmlformats.org/officeDocument/2006/relationships" id="260" r:id="Rad18124c16d443ff"/>
    <p:sldId xmlns:r="http://schemas.openxmlformats.org/officeDocument/2006/relationships" id="261" r:id="R86b25bd2e97d405b"/>
    <p:sldId xmlns:r="http://schemas.openxmlformats.org/officeDocument/2006/relationships" id="262" r:id="R86743fcaff0749f0"/>
    <p:sldId xmlns:r="http://schemas.openxmlformats.org/officeDocument/2006/relationships" id="263" r:id="Rb15e1b2a15184fd6"/>
    <p:sldId xmlns:r="http://schemas.openxmlformats.org/officeDocument/2006/relationships" id="264" r:id="R9f856a0f357d4951"/>
    <p:sldId xmlns:r="http://schemas.openxmlformats.org/officeDocument/2006/relationships" id="265" r:id="Rd4bc8a36c1814329"/>
    <p:sldId xmlns:r="http://schemas.openxmlformats.org/officeDocument/2006/relationships" id="266" r:id="R64b7efac935a4838"/>
    <p:sldId xmlns:r="http://schemas.openxmlformats.org/officeDocument/2006/relationships" id="267" r:id="R59e1627ea5764af7"/>
    <p:sldId xmlns:r="http://schemas.openxmlformats.org/officeDocument/2006/relationships" id="268" r:id="R82ec1c1c338445a1"/>
    <p:sldId xmlns:r="http://schemas.openxmlformats.org/officeDocument/2006/relationships" id="269" r:id="Rfe14c4959bfa49ae"/>
    <p:sldId xmlns:r="http://schemas.openxmlformats.org/officeDocument/2006/relationships" id="270" r:id="R1b7a969a9b814d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6e0701a53941de" /><Relationship Type="http://schemas.openxmlformats.org/officeDocument/2006/relationships/slideMaster" Target="/ppt/slideMasters/slideMaster1.xml" Id="R2a32df01cfd04fcd" /><Relationship Type="http://schemas.openxmlformats.org/officeDocument/2006/relationships/notesMaster" Target="/ppt/notesMasters/notesMaster1.xml" Id="R30c8578b791a479b" /><Relationship Type="http://schemas.openxmlformats.org/officeDocument/2006/relationships/presProps" Target="/ppt/presProps.xml" Id="Rf74ba79f621f4a22" /><Relationship Type="http://schemas.openxmlformats.org/officeDocument/2006/relationships/tableStyles" Target="/ppt/tableStyles.xml" Id="R12427203b8aa42c4" /><Relationship Type="http://schemas.openxmlformats.org/officeDocument/2006/relationships/slide" Target="/ppt/slides/slide1.xml" Id="Rbc21f19b321f4ff2" /><Relationship Type="http://schemas.openxmlformats.org/officeDocument/2006/relationships/slide" Target="/ppt/slides/slide2.xml" Id="R5191beeb99124a79" /><Relationship Type="http://schemas.openxmlformats.org/officeDocument/2006/relationships/slide" Target="/ppt/slides/slide3.xml" Id="R207edffb1e4c48d2" /><Relationship Type="http://schemas.openxmlformats.org/officeDocument/2006/relationships/slide" Target="/ppt/slides/slide4.xml" Id="R421b6990798c4f1a" /><Relationship Type="http://schemas.openxmlformats.org/officeDocument/2006/relationships/slide" Target="/ppt/slides/slide5.xml" Id="Rad18124c16d443ff" /><Relationship Type="http://schemas.openxmlformats.org/officeDocument/2006/relationships/slide" Target="/ppt/slides/slide6.xml" Id="R86b25bd2e97d405b" /><Relationship Type="http://schemas.openxmlformats.org/officeDocument/2006/relationships/slide" Target="/ppt/slides/slide7.xml" Id="R86743fcaff0749f0" /><Relationship Type="http://schemas.openxmlformats.org/officeDocument/2006/relationships/slide" Target="/ppt/slides/slide8.xml" Id="Rb15e1b2a15184fd6" /><Relationship Type="http://schemas.openxmlformats.org/officeDocument/2006/relationships/slide" Target="/ppt/slides/slide9.xml" Id="R9f856a0f357d4951" /><Relationship Type="http://schemas.openxmlformats.org/officeDocument/2006/relationships/slide" Target="/ppt/slides/slide10.xml" Id="Rd4bc8a36c1814329" /><Relationship Type="http://schemas.openxmlformats.org/officeDocument/2006/relationships/slide" Target="/ppt/slides/slide11.xml" Id="R64b7efac935a4838" /><Relationship Type="http://schemas.openxmlformats.org/officeDocument/2006/relationships/slide" Target="/ppt/slides/slide12.xml" Id="R59e1627ea5764af7" /><Relationship Type="http://schemas.openxmlformats.org/officeDocument/2006/relationships/slide" Target="/ppt/slides/slide13.xml" Id="R82ec1c1c338445a1" /><Relationship Type="http://schemas.openxmlformats.org/officeDocument/2006/relationships/slide" Target="/ppt/slides/slide14.xml" Id="Rfe14c4959bfa49ae" /><Relationship Type="http://schemas.openxmlformats.org/officeDocument/2006/relationships/slide" Target="/ppt/slides/slide15.xml" Id="R1b7a969a9b814d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fa1efd523742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71d8af30794f54" /><Relationship Type="http://schemas.openxmlformats.org/officeDocument/2006/relationships/notesMaster" Target="/ppt/notesMasters/notesMaster1.xml" Id="Rcdd2368e8bf842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ebe9774f224413" /><Relationship Type="http://schemas.openxmlformats.org/officeDocument/2006/relationships/notesMaster" Target="/ppt/notesMasters/notesMaster1.xml" Id="Rac54cce9d25244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f3d9c0446944fb" /><Relationship Type="http://schemas.openxmlformats.org/officeDocument/2006/relationships/notesMaster" Target="/ppt/notesMasters/notesMaster1.xml" Id="Ra5237471f80944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c3e15ea8d44b09" /><Relationship Type="http://schemas.openxmlformats.org/officeDocument/2006/relationships/notesMaster" Target="/ppt/notesMasters/notesMaster1.xml" Id="Rccf42f71f3984f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53abdf06604437" /><Relationship Type="http://schemas.openxmlformats.org/officeDocument/2006/relationships/notesMaster" Target="/ppt/notesMasters/notesMaster1.xml" Id="R04756e5238e04d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40f7b829a44e04" /><Relationship Type="http://schemas.openxmlformats.org/officeDocument/2006/relationships/notesMaster" Target="/ppt/notesMasters/notesMaster1.xml" Id="Rc56279dbc65242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16ac14a31c4b99" /><Relationship Type="http://schemas.openxmlformats.org/officeDocument/2006/relationships/notesMaster" Target="/ppt/notesMasters/notesMaster1.xml" Id="Ra0184bf95ac143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72bc2473d34b0e" /><Relationship Type="http://schemas.openxmlformats.org/officeDocument/2006/relationships/notesMaster" Target="/ppt/notesMasters/notesMaster1.xml" Id="Re8736a8270ac40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5dcf138d5a4298" /><Relationship Type="http://schemas.openxmlformats.org/officeDocument/2006/relationships/notesMaster" Target="/ppt/notesMasters/notesMaster1.xml" Id="R04b0986fbbd54d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51edecfe8746e4" /><Relationship Type="http://schemas.openxmlformats.org/officeDocument/2006/relationships/notesMaster" Target="/ppt/notesMasters/notesMaster1.xml" Id="R20bffb95c9234a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59530167674cea" /><Relationship Type="http://schemas.openxmlformats.org/officeDocument/2006/relationships/notesMaster" Target="/ppt/notesMasters/notesMaster1.xml" Id="R18a2044d89174f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32bae510bc4c17" /><Relationship Type="http://schemas.openxmlformats.org/officeDocument/2006/relationships/notesMaster" Target="/ppt/notesMasters/notesMaster1.xml" Id="Rdb80555ca5e34c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ec722f103f4355" /><Relationship Type="http://schemas.openxmlformats.org/officeDocument/2006/relationships/notesMaster" Target="/ppt/notesMasters/notesMaster1.xml" Id="R4d4b792d98b74f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0c672910e14e75" /><Relationship Type="http://schemas.openxmlformats.org/officeDocument/2006/relationships/notesMaster" Target="/ppt/notesMasters/notesMaster1.xml" Id="Rb6829f90fb3940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994731b5ef4ac3" /><Relationship Type="http://schemas.openxmlformats.org/officeDocument/2006/relationships/notesMaster" Target="/ppt/notesMasters/notesMaster1.xml" Id="R68ae70f952954b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Обложка. Обязательное hero-изображение РО 1.1. Тема: Эргономика рабочего места дизайнера.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Зачем дизайнеру эргономика.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Почему поза влияет на дизайн.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Три элемента рабочего места.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Что именно наблюдаем.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Показ преподавателя: действие, объяснение, повтор первого шага, самостоятельное усложнение.</a:t>
            </a:r>
          </a:p>
          <a:p xmlns:a="http://schemas.openxmlformats.org/drawingml/2006/main">
            <a:r>
              <a:t>Визуалы повторно использованы из принятого комплекта П002;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Разбор преподавателя: настройка места.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Зачем настраивать место до задания.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Пары: одна задача — разные условия.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Вопросы “зачем” и “почему”.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Разбор ответов студентов.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Интерактив: найдите 5 настроек.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Мини-дебаты: что менять первым.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Как звучит сильная рекомендация.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Чек-лист рабочего места дизайнера.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Итоги занятия.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e409ad3e5045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b4a6f67a32455c" /><Relationship Type="http://schemas.openxmlformats.org/officeDocument/2006/relationships/slideLayout" Target="/ppt/slideLayouts/slideLayout1.xml" Id="Ra5efd723759a44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efd723759a44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dd6a33f444051" /><Relationship Type="http://schemas.openxmlformats.org/officeDocument/2006/relationships/image" Target="/ppt/media/image.png" Id="Rb3b14ba765074f0a" /><Relationship Type="http://schemas.openxmlformats.org/officeDocument/2006/relationships/notesSlide" Target="/ppt/notesSlides/notesSlide1.xml" Id="Rfab3419986c444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4491c90274d9e" /><Relationship Type="http://schemas.openxmlformats.org/officeDocument/2006/relationships/image" Target="/ppt/media/image2.png" Id="Rfc626b6fe7f9410a" /><Relationship Type="http://schemas.openxmlformats.org/officeDocument/2006/relationships/image" Target="/ppt/media/image.jpeg" Id="Rdbca8c77baf745ab" /><Relationship Type="http://schemas.openxmlformats.org/officeDocument/2006/relationships/image" Target="/ppt/media/image2.jpeg" Id="R995d7add874d4e31" /><Relationship Type="http://schemas.openxmlformats.org/officeDocument/2006/relationships/image" Target="/ppt/media/image3.jpeg" Id="R5dafe13e3c1c4aa0" /><Relationship Type="http://schemas.openxmlformats.org/officeDocument/2006/relationships/notesSlide" Target="/ppt/notesSlides/notesSlide2.xml" Id="R04904bf8c95842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a152bf1924175" /><Relationship Type="http://schemas.openxmlformats.org/officeDocument/2006/relationships/image" Target="/ppt/media/image4.jpeg" Id="R806101de543044fc" /><Relationship Type="http://schemas.openxmlformats.org/officeDocument/2006/relationships/image" Target="/ppt/media/image5.jpeg" Id="R553476c8e85b459c" /><Relationship Type="http://schemas.openxmlformats.org/officeDocument/2006/relationships/notesSlide" Target="/ppt/notesSlides/notesSlide3.xml" Id="Rfd2ce3580b224b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ce830fb7d42ae" /><Relationship Type="http://schemas.openxmlformats.org/officeDocument/2006/relationships/image" Target="/ppt/media/image6.jpeg" Id="R5c597b8b15744025" /><Relationship Type="http://schemas.openxmlformats.org/officeDocument/2006/relationships/notesSlide" Target="/ppt/notesSlides/notesSlide4.xml" Id="R59e3c7cbd30b4f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8f5478d774b7a" /><Relationship Type="http://schemas.openxmlformats.org/officeDocument/2006/relationships/image" Target="/ppt/media/image7.jpeg" Id="R2b6333735da6409a" /><Relationship Type="http://schemas.openxmlformats.org/officeDocument/2006/relationships/image" Target="/ppt/media/image3.png" Id="Re781faa33eaf4fcb" /><Relationship Type="http://schemas.openxmlformats.org/officeDocument/2006/relationships/image" Target="/ppt/media/image8.jpeg" Id="R47aa5790f16e4717" /><Relationship Type="http://schemas.openxmlformats.org/officeDocument/2006/relationships/image" Target="/ppt/media/image9.jpeg" Id="Rbcae3d99105d49e4" /><Relationship Type="http://schemas.openxmlformats.org/officeDocument/2006/relationships/notesSlide" Target="/ppt/notesSlides/notesSlide5.xml" Id="R4b6dbf7044f245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7bf1d89374ca7" /><Relationship Type="http://schemas.openxmlformats.org/officeDocument/2006/relationships/image" Target="/ppt/media/image10.jpeg" Id="R1c45fcde5224467f" /><Relationship Type="http://schemas.openxmlformats.org/officeDocument/2006/relationships/image" Target="/ppt/media/image11.jpeg" Id="R1e57701a24fe4df9" /><Relationship Type="http://schemas.openxmlformats.org/officeDocument/2006/relationships/notesSlide" Target="/ppt/notesSlides/notesSlide6.xml" Id="R34e5c01b57534a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5031642364826" /><Relationship Type="http://schemas.openxmlformats.org/officeDocument/2006/relationships/image" Target="/ppt/media/image12.jpeg" Id="Rd548b381471c4756" /><Relationship Type="http://schemas.openxmlformats.org/officeDocument/2006/relationships/notesSlide" Target="/ppt/notesSlides/notesSlide7.xml" Id="Rcbac7268b61f44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294bd735b4ec6" /><Relationship Type="http://schemas.openxmlformats.org/officeDocument/2006/relationships/image" Target="/ppt/media/image13.jpeg" Id="R5f9c6d8c2d784163" /><Relationship Type="http://schemas.openxmlformats.org/officeDocument/2006/relationships/image" Target="/ppt/media/image14.jpeg" Id="R44baf9e101374810" /><Relationship Type="http://schemas.openxmlformats.org/officeDocument/2006/relationships/image" Target="/ppt/media/image4.png" Id="Re81b9a2d4c3d408e" /><Relationship Type="http://schemas.openxmlformats.org/officeDocument/2006/relationships/image" Target="/ppt/media/image15.jpeg" Id="R6a70c69e13044298" /><Relationship Type="http://schemas.openxmlformats.org/officeDocument/2006/relationships/notesSlide" Target="/ppt/notesSlides/notesSlide8.xml" Id="R6c2d2b3aa89145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20c8408154627" /><Relationship Type="http://schemas.openxmlformats.org/officeDocument/2006/relationships/image" Target="/ppt/media/image16.jpeg" Id="R074dfe7e80984235" /><Relationship Type="http://schemas.openxmlformats.org/officeDocument/2006/relationships/image" Target="/ppt/media/image17.jpeg" Id="Ra5f5b0076bff430e" /><Relationship Type="http://schemas.openxmlformats.org/officeDocument/2006/relationships/notesSlide" Target="/ppt/notesSlides/notesSlide9.xml" Id="R01e585466eb448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06e6faced4d22" /><Relationship Type="http://schemas.openxmlformats.org/officeDocument/2006/relationships/image" Target="/ppt/media/image18.jpeg" Id="R2b344b2df1984998" /><Relationship Type="http://schemas.openxmlformats.org/officeDocument/2006/relationships/notesSlide" Target="/ppt/notesSlides/notesSlide10.xml" Id="R53019ceddf5d47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011dcb5344f16" /><Relationship Type="http://schemas.openxmlformats.org/officeDocument/2006/relationships/image" Target="/ppt/media/image19.jpeg" Id="R22e1a5e745574f73" /><Relationship Type="http://schemas.openxmlformats.org/officeDocument/2006/relationships/image" Target="/ppt/media/image20.jpeg" Id="Rc12edadd46af4c3c" /><Relationship Type="http://schemas.openxmlformats.org/officeDocument/2006/relationships/image" Target="/ppt/media/image21.jpeg" Id="Rd24eadb52a854c52" /><Relationship Type="http://schemas.openxmlformats.org/officeDocument/2006/relationships/image" Target="/ppt/media/image5.png" Id="R197bdc64fdc94b37" /><Relationship Type="http://schemas.openxmlformats.org/officeDocument/2006/relationships/notesSlide" Target="/ppt/notesSlides/notesSlide11.xml" Id="R5da8dd68969e4c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c067ccd9743b3" /><Relationship Type="http://schemas.openxmlformats.org/officeDocument/2006/relationships/image" Target="/ppt/media/image22.jpeg" Id="Rf22b953d9aac4aec" /><Relationship Type="http://schemas.openxmlformats.org/officeDocument/2006/relationships/image" Target="/ppt/media/image23.jpeg" Id="R324b18d889e1450b" /><Relationship Type="http://schemas.openxmlformats.org/officeDocument/2006/relationships/notesSlide" Target="/ppt/notesSlides/notesSlide12.xml" Id="R2d40601e6e874c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2a9ef5f284837" /><Relationship Type="http://schemas.openxmlformats.org/officeDocument/2006/relationships/image" Target="/ppt/media/image24.jpeg" Id="R08d4dfd0e44b483c" /><Relationship Type="http://schemas.openxmlformats.org/officeDocument/2006/relationships/notesSlide" Target="/ppt/notesSlides/notesSlide13.xml" Id="R6eabec2c48c047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f45f053b74fb3" /><Relationship Type="http://schemas.openxmlformats.org/officeDocument/2006/relationships/image" Target="/ppt/media/image25.jpeg" Id="R5e02e8d57df04108" /><Relationship Type="http://schemas.openxmlformats.org/officeDocument/2006/relationships/image" Target="/ppt/media/image26.jpeg" Id="R26b15754906b462c" /><Relationship Type="http://schemas.openxmlformats.org/officeDocument/2006/relationships/image" Target="/ppt/media/image27.jpeg" Id="Reddac56d53014605" /><Relationship Type="http://schemas.openxmlformats.org/officeDocument/2006/relationships/image" Target="/ppt/media/image28.jpeg" Id="Rd6f2b7adb1ac4a59" /><Relationship Type="http://schemas.openxmlformats.org/officeDocument/2006/relationships/notesSlide" Target="/ppt/notesSlides/notesSlide14.xml" Id="R6e31029c064b49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ff493a79a4789" /><Relationship Type="http://schemas.openxmlformats.org/officeDocument/2006/relationships/image" Target="/ppt/media/image6.png" Id="Rfe29843ae83e45b0" /><Relationship Type="http://schemas.openxmlformats.org/officeDocument/2006/relationships/image" Target="/ppt/media/image29.jpeg" Id="R3ef24b8b14cc495d" /><Relationship Type="http://schemas.openxmlformats.org/officeDocument/2006/relationships/notesSlide" Target="/ppt/notesSlides/notesSlide15.xml" Id="R267076355ae54a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14ba765074f0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95160-FC2C-449B-A2B9-1EC7B058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Хекслет Колледж">
            <a:extLst xmlns:a="http://schemas.openxmlformats.org/drawingml/2006/main">
              <a:ext uri="{FF2B5EF4-FFF2-40B4-BE49-F238E27FC236}">
                <a16:creationId xmlns:a16="http://schemas.microsoft.com/office/drawing/2014/main" id="{C44764F3-4198-49B0-B4B5-B3AD1564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4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ПМ1 · Сканирование и обработка…">
            <a:extLst xmlns:a="http://schemas.openxmlformats.org/drawingml/2006/main">
              <a:ext uri="{FF2B5EF4-FFF2-40B4-BE49-F238E27FC236}">
                <a16:creationId xmlns:a16="http://schemas.microsoft.com/office/drawing/2014/main" id="{2B82458A-7EF2-4650-BB8E-3E5B4F65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66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Занятие 2">
            <a:extLst xmlns:a="http://schemas.openxmlformats.org/drawingml/2006/main">
              <a:ext uri="{FF2B5EF4-FFF2-40B4-BE49-F238E27FC236}">
                <a16:creationId xmlns:a16="http://schemas.microsoft.com/office/drawing/2014/main" id="{50E69C72-793D-4858-864E-9A606ED7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620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2</a:t>
            </a:r>
          </a:p>
        </p:txBody>
      </p:sp>
      <p:sp>
        <p:nvSpPr>
          <p:cNvPr id="6" name="Эргономика рабочего места дизайнера">
            <a:extLst xmlns:a="http://schemas.openxmlformats.org/drawingml/2006/main">
              <a:ext uri="{FF2B5EF4-FFF2-40B4-BE49-F238E27FC236}">
                <a16:creationId xmlns:a16="http://schemas.microsoft.com/office/drawing/2014/main" id="{FCF0F556-FE0A-49B7-97BE-269C906F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38350"/>
            <a:ext cx="3143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7" name="От инструмента к обоснованному…">
            <a:extLst xmlns:a="http://schemas.openxmlformats.org/drawingml/2006/main">
              <a:ext uri="{FF2B5EF4-FFF2-40B4-BE49-F238E27FC236}">
                <a16:creationId xmlns:a16="http://schemas.microsoft.com/office/drawing/2014/main" id="{92A69C12-E863-47F8-B41C-654C8435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4810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инструмента к обоснованному</a:t>
            </a:r>
          </a:p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визуальному решению</a:t>
            </a:r>
          </a:p>
        </p:txBody>
      </p:sp>
      <p:sp>
        <p:nvSpPr>
          <p:cNvPr id="8" name="люди · идеи · инструменты ·…">
            <a:extLst xmlns:a="http://schemas.openxmlformats.org/drawingml/2006/main">
              <a:ext uri="{FF2B5EF4-FFF2-40B4-BE49-F238E27FC236}">
                <a16:creationId xmlns:a16="http://schemas.microsoft.com/office/drawing/2014/main" id="{3699B15E-9E1E-45A7-904B-03A3BBF5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334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E8587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381571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30DA23A4-64C0-4BB0-B332-1C4CC6F2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E22CEFE2-5465-41E4-B37F-8EF54D21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C114AB6-D7D8-4C38-836B-F6671C5C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 дизайнеру эргономика</a:t>
            </a:r>
          </a:p>
        </p:txBody>
      </p:sp>
      <p:sp>
        <p:nvSpPr>
          <p:cNvPr id="4" name="Эргономика — это не про “сидеть…">
            <a:extLst xmlns:a="http://schemas.openxmlformats.org/drawingml/2006/main">
              <a:ext uri="{FF2B5EF4-FFF2-40B4-BE49-F238E27FC236}">
                <a16:creationId xmlns:a16="http://schemas.microsoft.com/office/drawing/2014/main" id="{654BE99C-1F0C-4B29-BFCC-B43662C4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— это не про “сидеть красиво”. Это про точность руки, внимание, скорость и устойчивость работы в течение занятия.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DA0B8-416F-4EF8-A5B0-F117A5A4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A04E4-830E-475B-B98F-E7074B8A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BD7AE7FF-668F-42A4-82F9-94B992E0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интерактив: отвечаем вслух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49AE5182-155F-4826-AA81-676F1A7F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26b6fe7f9410a"/>
          <a:srcRect xmlns:a="http://schemas.openxmlformats.org/drawingml/2006/main" l="8897" t="0" r="8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Эргономика — это не про “сидеть…">
            <a:extLst xmlns:a="http://schemas.openxmlformats.org/drawingml/2006/main">
              <a:ext uri="{FF2B5EF4-FFF2-40B4-BE49-F238E27FC236}">
                <a16:creationId xmlns:a16="http://schemas.microsoft.com/office/drawing/2014/main" id="{CF687C1E-5EC6-4403-80EA-29A78FDD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— это не про “сидеть красиво”. Это про точность руки, внимание, скорость и устойчивость…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B35F4969-4B79-4115-AF4A-B8EDA651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a8c77baf745ab"/>
          <a:srcRect xmlns:a="http://schemas.openxmlformats.org/drawingml/2006/main" l="0" t="10022" r="0" b="100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Эргономика рабочего места дизайнера">
            <a:extLst xmlns:a="http://schemas.openxmlformats.org/drawingml/2006/main">
              <a:ext uri="{FF2B5EF4-FFF2-40B4-BE49-F238E27FC236}">
                <a16:creationId xmlns:a16="http://schemas.microsoft.com/office/drawing/2014/main" id="{F06E942F-4CB8-4B48-85AE-1C936C7A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14D79D17-C99C-4A71-88B7-0D4C8BBA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d7add874d4e31"/>
          <a:srcRect xmlns:a="http://schemas.openxmlformats.org/drawingml/2006/main" l="0" t="3910" r="0" b="39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разбор преподавателя: один пример">
            <a:extLst xmlns:a="http://schemas.openxmlformats.org/drawingml/2006/main">
              <a:ext uri="{FF2B5EF4-FFF2-40B4-BE49-F238E27FC236}">
                <a16:creationId xmlns:a16="http://schemas.microsoft.com/office/drawing/2014/main" id="{0A615A8D-DE72-4FD8-92BA-CC72855C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разбор преподавателя: один пример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AE56FF15-A2CB-4B42-909A-E485FD69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fe13e3c1c4aa0"/>
          <a:srcRect xmlns:a="http://schemas.openxmlformats.org/drawingml/2006/main" l="0" t="2310" r="0" b="2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20 мин">
            <a:extLst xmlns:a="http://schemas.openxmlformats.org/drawingml/2006/main">
              <a:ext uri="{FF2B5EF4-FFF2-40B4-BE49-F238E27FC236}">
                <a16:creationId xmlns:a16="http://schemas.microsoft.com/office/drawing/2014/main" id="{7FBD4F7A-3711-4B17-92D8-3CD9900E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20 мин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A90DCD25-4ECA-4E21-BB9E-307B1669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477310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0F76C6E7-A0FB-40B4-A78A-FD7419EC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8D7A77CC-BEE6-4DB9-B04E-D8B3F1B2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B359CC95-609F-42F4-83D7-20E99D70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Почему поза влияет на дизайн</a:t>
            </a:r>
          </a:p>
        </p:txBody>
      </p:sp>
      <p:sp>
        <p:nvSpPr>
          <p:cNvPr id="4" name="ЗАЧЕМ?">
            <a:extLst xmlns:a="http://schemas.openxmlformats.org/drawingml/2006/main">
              <a:ext uri="{FF2B5EF4-FFF2-40B4-BE49-F238E27FC236}">
                <a16:creationId xmlns:a16="http://schemas.microsoft.com/office/drawing/2014/main" id="{4C5F24D8-0F60-4AC1-A2E5-56D5DEAE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ЗАЧЕМ?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A8C30-E95D-434F-85A1-90F58205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ADF6E-6B27-4653-ABB2-ABC65266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51DC13E2-F894-48AA-83AC-79C4C133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вопрос классу: кто не согласен — объясните по признаку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8DF55620-3B66-401F-81B8-89103BD9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101de543044fc"/>
          <a:srcRect xmlns:a="http://schemas.openxmlformats.org/drawingml/2006/main" l="0" t="13084" r="0" b="130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ЗАЧЕМ?">
            <a:extLst xmlns:a="http://schemas.openxmlformats.org/drawingml/2006/main">
              <a:ext uri="{FF2B5EF4-FFF2-40B4-BE49-F238E27FC236}">
                <a16:creationId xmlns:a16="http://schemas.microsoft.com/office/drawing/2014/main" id="{BD1EAC77-A1EB-404F-AE73-82B42B68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ЗАЧЕМ?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2D065FA8-AE45-42D1-9EDA-784B6856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476c8e85b459c"/>
          <a:srcRect xmlns:a="http://schemas.openxmlformats.org/drawingml/2006/main" l="0" t="21754" r="0" b="217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Эргономика рабочего места дизайнера">
            <a:extLst xmlns:a="http://schemas.openxmlformats.org/drawingml/2006/main">
              <a:ext uri="{FF2B5EF4-FFF2-40B4-BE49-F238E27FC236}">
                <a16:creationId xmlns:a16="http://schemas.microsoft.com/office/drawing/2014/main" id="{81965497-988B-4E94-8FC3-591D3F45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B653B688-BF62-4C1E-8E44-10DD734D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6848242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8E30C8F7-F5A3-489E-89FC-9D9BEEDD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610F1DDA-0FF2-49DB-9C64-A37319DE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D2DA4DC5-E7BA-44B6-9DF3-BBC0791F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Три элемента рабочего места</a:t>
            </a:r>
          </a:p>
        </p:txBody>
      </p:sp>
      <p:sp>
        <p:nvSpPr>
          <p:cNvPr id="4" name="Эргономика возникает не из одного…">
            <a:extLst xmlns:a="http://schemas.openxmlformats.org/drawingml/2006/main">
              <a:ext uri="{FF2B5EF4-FFF2-40B4-BE49-F238E27FC236}">
                <a16:creationId xmlns:a16="http://schemas.microsoft.com/office/drawing/2014/main" id="{C203C6E4-DB53-46F2-9108-9A1406C8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возникает не из одного стула, а из связи тела, инструмента и света.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DF5CD-B27C-40DE-8FD4-F8BCE16B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8FE13-4F4C-4258-8A48-D9B95249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EF39D3F7-BDAE-41B4-AA6E-21D6BF3A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мини-пауза: скажите одним предложением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7D205DAF-E130-4ED1-BD60-89B396C9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97b8b15744025"/>
          <a:srcRect xmlns:a="http://schemas.openxmlformats.org/drawingml/2006/main" l="0" t="2166" r="0" b="21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B35B1-0620-44B2-A1E8-64B825CB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45E7C-1964-4AC5-9D9A-E4938CC5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3ED48EF0-0DA8-46AA-B3DA-8130491D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Эргономика возникает не из одного…">
            <a:extLst xmlns:a="http://schemas.openxmlformats.org/drawingml/2006/main">
              <a:ext uri="{FF2B5EF4-FFF2-40B4-BE49-F238E27FC236}">
                <a16:creationId xmlns:a16="http://schemas.microsoft.com/office/drawing/2014/main" id="{FCBCC8BE-E988-4C58-AFEA-F6A80C33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возникает не из одного стула, а из связи тела, инструмента и света.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21981-E29C-4064-AFD9-12006F56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DCD8E-790F-464E-A3EC-FD9523DE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038AC262-34EC-4648-966A-B9863C8F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Эргономика рабочего места дизайнера">
            <a:extLst xmlns:a="http://schemas.openxmlformats.org/drawingml/2006/main">
              <a:ext uri="{FF2B5EF4-FFF2-40B4-BE49-F238E27FC236}">
                <a16:creationId xmlns:a16="http://schemas.microsoft.com/office/drawing/2014/main" id="{BEDE678B-6B8A-431F-B80E-036CD93C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BB59A-AB7B-45DC-B8DA-913152F7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FDD73-95D2-491D-A278-4E879FF7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EA87715E-459E-4C30-ACBE-3C4E6A07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Тело">
            <a:extLst xmlns:a="http://schemas.openxmlformats.org/drawingml/2006/main">
              <a:ext uri="{FF2B5EF4-FFF2-40B4-BE49-F238E27FC236}">
                <a16:creationId xmlns:a16="http://schemas.microsoft.com/office/drawing/2014/main" id="{3CC35178-20D7-4127-A85D-29ABA0A3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Тело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56288-762E-4CBC-9283-4FE19950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A5C0E-45BF-4797-B660-1C7ED0CD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E57F517D-1065-4077-9E5C-7AA738A6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Экран">
            <a:extLst xmlns:a="http://schemas.openxmlformats.org/drawingml/2006/main">
              <a:ext uri="{FF2B5EF4-FFF2-40B4-BE49-F238E27FC236}">
                <a16:creationId xmlns:a16="http://schemas.microsoft.com/office/drawing/2014/main" id="{7FB3BE72-BBE2-46E9-9074-EE9C6F32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Экран</a:t>
            </a:r>
          </a:p>
        </p:txBody>
      </p:sp>
    </p:spTree>
    <p:extLst>
      <p:ext uri="{BB962C8B-B14F-4D97-AF65-F5344CB8AC3E}">
        <p14:creationId xmlns:p14="http://schemas.microsoft.com/office/powerpoint/2010/main" val="11627608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Тема">
            <a:extLst xmlns:a="http://schemas.openxmlformats.org/drawingml/2006/main">
              <a:ext uri="{FF2B5EF4-FFF2-40B4-BE49-F238E27FC236}">
                <a16:creationId xmlns:a16="http://schemas.microsoft.com/office/drawing/2014/main" id="{6238203E-D4E0-4B06-B015-30AAA5BB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D519C605-4D3D-482B-AA3F-F3F232BC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F3DCAB4C-D42D-4D3E-BFC0-70662690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преподавателя: действие → объяснение → повтор</a:t>
            </a:r>
          </a:p>
        </p:txBody>
      </p:sp>
      <p:sp>
        <p:nvSpPr>
          <p:cNvPr id="4" name="Описываем только видимые…">
            <a:extLst xmlns:a="http://schemas.openxmlformats.org/drawingml/2006/main">
              <a:ext uri="{FF2B5EF4-FFF2-40B4-BE49-F238E27FC236}">
                <a16:creationId xmlns:a16="http://schemas.microsoft.com/office/drawing/2014/main" id="{49C3B5D3-9F50-41F1-99B7-FCFC9762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Описываем только видимые признаки. Не ставим диагнозы и не угадываем ощущения человека.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96F3A-839E-4A63-8813-04D61910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628E1-172B-4833-AC8A-E5C5E6E4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2669F3CD-EB04-47B5-9F07-F50B6E2F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П002 · занятие 2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8AE94B07-70CE-482B-9910-0518CC67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E72A5-4EE0-43FA-BDF8-88E3BCF3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F6357-553D-4C70-8736-2F0ADF3E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32442053-C4DB-4B60-B1A0-0C912B1D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333735da6409a"/>
          <a:srcRect xmlns:a="http://schemas.openxmlformats.org/drawingml/2006/main" l="0" t="16440" r="0" b="164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3" name="Преподаватель показывает действие…">
            <a:extLst xmlns:a="http://schemas.openxmlformats.org/drawingml/2006/main">
              <a:ext uri="{FF2B5EF4-FFF2-40B4-BE49-F238E27FC236}">
                <a16:creationId xmlns:a16="http://schemas.microsoft.com/office/drawing/2014/main" id="{F6F61D60-EDF5-492F-A02A-5A2AF772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показывает действие в рабочем файле.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C5A6E-9BBB-420D-A287-B6572A05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AE9DE-09A4-432C-AB95-DC4F4264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A4DDE7C4-6389-4A90-ABAB-68354CEC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1faa33eaf4fcb"/>
          <a:srcRect xmlns:a="http://schemas.openxmlformats.org/drawingml/2006/main" l="0" t="2406" r="0" b="24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47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Вслух объясняет выбор инструмента…">
            <a:extLst xmlns:a="http://schemas.openxmlformats.org/drawingml/2006/main">
              <a:ext uri="{FF2B5EF4-FFF2-40B4-BE49-F238E27FC236}">
                <a16:creationId xmlns:a16="http://schemas.microsoft.com/office/drawing/2014/main" id="{1F00408C-DDB5-4F40-B901-6FE5EF55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Вслух объясняет выбор инструмента и критерия.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FACBC-FAFE-4FBC-9A6A-ED30699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63D46-8731-4334-9A6D-B58445DD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3">
            <a:extLst xmlns:a="http://schemas.openxmlformats.org/drawingml/2006/main">
              <a:ext uri="{FF2B5EF4-FFF2-40B4-BE49-F238E27FC236}">
                <a16:creationId xmlns:a16="http://schemas.microsoft.com/office/drawing/2014/main" id="{E67E5910-DC71-4A4C-B5A7-59D6A62B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a5790f16e4717"/>
          <a:srcRect xmlns:a="http://schemas.openxmlformats.org/drawingml/2006/main" l="0" t="18717" r="0" b="187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3" name="Студенты повторяют первый шаг.">
            <a:extLst xmlns:a="http://schemas.openxmlformats.org/drawingml/2006/main">
              <a:ext uri="{FF2B5EF4-FFF2-40B4-BE49-F238E27FC236}">
                <a16:creationId xmlns:a16="http://schemas.microsoft.com/office/drawing/2014/main" id="{C8332D7D-4EC0-4161-BCA8-1063C2EF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Студенты повторяют первый шаг.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8F093-EE48-405E-BF0F-E8C20BA3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EC4985-FA92-458B-A166-27EF9057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4">
            <a:extLst xmlns:a="http://schemas.openxmlformats.org/drawingml/2006/main">
              <a:ext uri="{FF2B5EF4-FFF2-40B4-BE49-F238E27FC236}">
                <a16:creationId xmlns:a16="http://schemas.microsoft.com/office/drawing/2014/main" id="{AE219EA1-2E1D-4DA5-A958-8C41AAB8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e3d99105d49e4"/>
          <a:srcRect xmlns:a="http://schemas.openxmlformats.org/drawingml/2006/main" l="0" t="13935" r="0" b="139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30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8" name="Самостоятельно усложняют…">
            <a:extLst xmlns:a="http://schemas.openxmlformats.org/drawingml/2006/main">
              <a:ext uri="{FF2B5EF4-FFF2-40B4-BE49-F238E27FC236}">
                <a16:creationId xmlns:a16="http://schemas.microsoft.com/office/drawing/2014/main" id="{8F5EC8FC-B9F4-4B75-9844-70B31C37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Самостоятельно усложняют результат и проверяют его.</a:t>
            </a:r>
          </a:p>
        </p:txBody>
      </p:sp>
    </p:spTree>
    <p:extLst>
      <p:ext uri="{BB962C8B-B14F-4D97-AF65-F5344CB8AC3E}">
        <p14:creationId xmlns:p14="http://schemas.microsoft.com/office/powerpoint/2010/main" val="1052465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C59EF5DA-8EE8-454C-B9C1-610CB840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71163377-12F8-4698-BEA3-814C2C81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65726BB6-AC65-41EB-B8D4-A1D3D16C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Разбор преподавателя: настройка места</a:t>
            </a:r>
          </a:p>
        </p:txBody>
      </p:sp>
      <p:sp>
        <p:nvSpPr>
          <p:cNvPr id="4" name="Преподаватель показывает, как из…">
            <a:extLst xmlns:a="http://schemas.openxmlformats.org/drawingml/2006/main">
              <a:ext uri="{FF2B5EF4-FFF2-40B4-BE49-F238E27FC236}">
                <a16:creationId xmlns:a16="http://schemas.microsoft.com/office/drawing/2014/main" id="{A23920F2-CD45-42CA-980B-B3590A7E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Преподаватель показывает, как из фотографии получить осторожную рекомендацию, а не оценку человека.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7B64F-362D-40BF-AF47-F2E1834E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B686B-9AD3-4C73-900B-F0ABDA4C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2D51336E-F72E-41D5-BB08-B0998BE5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П002 · занятие 2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9A5EB28C-9F3A-4860-85DE-7174E3F2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5fcde5224467f"/>
          <a:srcRect xmlns:a="http://schemas.openxmlformats.org/drawingml/2006/main" l="0" t="20704" r="0" b="20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Преподаватель показывает, как из…">
            <a:extLst xmlns:a="http://schemas.openxmlformats.org/drawingml/2006/main">
              <a:ext uri="{FF2B5EF4-FFF2-40B4-BE49-F238E27FC236}">
                <a16:creationId xmlns:a16="http://schemas.microsoft.com/office/drawing/2014/main" id="{EA0E47F1-85C9-48DC-AAD7-F4F33D60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показывает, как из фотографии получить осторожную рекомендацию, а не оценку человека.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2DE56036-BAF1-4D29-8761-F10BAD35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7701a24fe4df9"/>
          <a:srcRect xmlns:a="http://schemas.openxmlformats.org/drawingml/2006/main" l="0" t="13084" r="0" b="130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Эргономика рабочего места дизайнера">
            <a:extLst xmlns:a="http://schemas.openxmlformats.org/drawingml/2006/main">
              <a:ext uri="{FF2B5EF4-FFF2-40B4-BE49-F238E27FC236}">
                <a16:creationId xmlns:a16="http://schemas.microsoft.com/office/drawing/2014/main" id="{96E17E31-682F-41F8-AB58-F39AB26E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7AEEB7FB-18B2-4F50-9EA6-7B9F65F5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6423315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5B9E1330-AE95-4292-9739-4357BF54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8F77152A-1497-4531-A59A-E10A7D20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1B0CE6A-5A87-4FDC-85BC-E7430608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 настраивать место до задания</a:t>
            </a:r>
          </a:p>
        </p:txBody>
      </p:sp>
      <p:sp>
        <p:nvSpPr>
          <p:cNvPr id="4" name="ЗАЧЕМ?">
            <a:extLst xmlns:a="http://schemas.openxmlformats.org/drawingml/2006/main">
              <a:ext uri="{FF2B5EF4-FFF2-40B4-BE49-F238E27FC236}">
                <a16:creationId xmlns:a16="http://schemas.microsoft.com/office/drawing/2014/main" id="{A245AE01-588F-453B-BA5E-F29C14D4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ЗАЧЕМ?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79D89-A2A6-4E1F-92B2-570FB028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A6EEE-C000-4A0C-BBA8-CB061C9F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32F11B11-5BDB-4699-B6A7-74AAF204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вопрос классу: кто не согласен — объясните по признаку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74F562C7-F4E3-4578-962A-14447567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8b381471c4756"/>
          <a:srcRect xmlns:a="http://schemas.openxmlformats.org/drawingml/2006/main" l="0" t="5673" r="0" b="56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32159-5B50-4989-8C0B-7C07D5C9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4FC8B-E09E-4E54-8326-0FE8AAF5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8D89C728-0784-48A8-B284-CEFAD045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ЗАЧЕМ?">
            <a:extLst xmlns:a="http://schemas.openxmlformats.org/drawingml/2006/main">
              <a:ext uri="{FF2B5EF4-FFF2-40B4-BE49-F238E27FC236}">
                <a16:creationId xmlns:a16="http://schemas.microsoft.com/office/drawing/2014/main" id="{B79519C2-2726-42F7-AD38-BF040A76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2CEB3-9C68-4609-B6B0-219A8961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D581E-D173-41ED-9BF1-463D5EA9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BDE40AD9-B74D-4110-A86F-54866F34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Эргономика рабочего места дизайнера">
            <a:extLst xmlns:a="http://schemas.openxmlformats.org/drawingml/2006/main">
              <a:ext uri="{FF2B5EF4-FFF2-40B4-BE49-F238E27FC236}">
                <a16:creationId xmlns:a16="http://schemas.microsoft.com/office/drawing/2014/main" id="{3C366A5A-4AE5-465B-AF11-E11E2CA2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71B27-95FB-4AEC-A23F-A404BA2B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E5B35-DA14-4E52-B756-608599FE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5211EA72-BE77-4BF2-8E1C-CC1ABBA7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ПОЧЕМУ?">
            <a:extLst xmlns:a="http://schemas.openxmlformats.org/drawingml/2006/main">
              <a:ext uri="{FF2B5EF4-FFF2-40B4-BE49-F238E27FC236}">
                <a16:creationId xmlns:a16="http://schemas.microsoft.com/office/drawing/2014/main" id="{A1AEAB0D-EAF2-409C-AFCB-F98B48F1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ПОЧЕМУ?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757B9-8E49-4A5C-BA10-48B8A289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FF981-759C-437A-9596-27DDD217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5BD556DC-FDBA-4C54-B408-8D6B84AC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Потому что во время работы…">
            <a:extLst xmlns:a="http://schemas.openxmlformats.org/drawingml/2006/main">
              <a:ext uri="{FF2B5EF4-FFF2-40B4-BE49-F238E27FC236}">
                <a16:creationId xmlns:a16="http://schemas.microsoft.com/office/drawing/2014/main" id="{971E0B9D-4D84-4FFB-AF77-F8263621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Потому что во время работы студент уже сосредоточен на изображении и перестаёт замечать напряжение.</a:t>
            </a:r>
          </a:p>
        </p:txBody>
      </p:sp>
    </p:spTree>
    <p:extLst>
      <p:ext uri="{BB962C8B-B14F-4D97-AF65-F5344CB8AC3E}">
        <p14:creationId xmlns:p14="http://schemas.microsoft.com/office/powerpoint/2010/main" val="1599457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F4756FBF-065D-4C2D-AACC-2BED1C70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82509596-3397-425C-8102-284C7671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5561125-DCBF-4F24-9148-6E8F6C9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Пары: одна задача — разные условия</a:t>
            </a:r>
          </a:p>
        </p:txBody>
      </p:sp>
      <p:sp>
        <p:nvSpPr>
          <p:cNvPr id="4" name="Сравните два варианта по одному…">
            <a:extLst xmlns:a="http://schemas.openxmlformats.org/drawingml/2006/main">
              <a:ext uri="{FF2B5EF4-FFF2-40B4-BE49-F238E27FC236}">
                <a16:creationId xmlns:a16="http://schemas.microsoft.com/office/drawing/2014/main" id="{E8E9134C-6400-4FB2-8BD1-ABCA4014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Сравните два варианта по одному критерию: помогает ли положение тела долго и точно работать.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23793-7CB0-4224-B470-357DFE16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94211-594A-4F89-BB6E-595823AA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2E7003C0-2902-44E4-B55A-2F939C8D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П002 · занятие 2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78924E9A-7C12-4D9F-95B2-3D72442A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c6d8c2d784163"/>
          <a:srcRect xmlns:a="http://schemas.openxmlformats.org/drawingml/2006/main" l="0" t="382" r="0" b="3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Сравните два варианта по одному…">
            <a:extLst xmlns:a="http://schemas.openxmlformats.org/drawingml/2006/main">
              <a:ext uri="{FF2B5EF4-FFF2-40B4-BE49-F238E27FC236}">
                <a16:creationId xmlns:a16="http://schemas.microsoft.com/office/drawing/2014/main" id="{7EAB21DB-2490-42E8-B212-2E114C00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Сравните два варианта по одному критерию: помогает ли положение тела долго и точно работать.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0AABC90B-B2E8-47E6-8488-ACCF2F51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af9e101374810"/>
          <a:srcRect xmlns:a="http://schemas.openxmlformats.org/drawingml/2006/main" l="0" t="7112" r="0" b="7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Эргономика рабочего места дизайнера">
            <a:extLst xmlns:a="http://schemas.openxmlformats.org/drawingml/2006/main">
              <a:ext uri="{FF2B5EF4-FFF2-40B4-BE49-F238E27FC236}">
                <a16:creationId xmlns:a16="http://schemas.microsoft.com/office/drawing/2014/main" id="{103CEF29-3340-4604-A148-11E17803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87CA7101-FE17-48B8-9E0F-B9C708CF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b9a2d4c3d408e"/>
          <a:srcRect xmlns:a="http://schemas.openxmlformats.org/drawingml/2006/main" l="8897" t="0" r="8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Поза удерживается">
            <a:extLst xmlns:a="http://schemas.openxmlformats.org/drawingml/2006/main">
              <a:ext uri="{FF2B5EF4-FFF2-40B4-BE49-F238E27FC236}">
                <a16:creationId xmlns:a16="http://schemas.microsoft.com/office/drawing/2014/main" id="{44606962-42A9-4BA6-A574-4EBA1D29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Поза удерживается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9BCD3936-B00E-4397-B408-56D6B275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0c69e13044298"/>
          <a:srcRect xmlns:a="http://schemas.openxmlformats.org/drawingml/2006/main" l="0" t="10022" r="0" b="100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экран и планшет близко, спина…">
            <a:extLst xmlns:a="http://schemas.openxmlformats.org/drawingml/2006/main">
              <a:ext uri="{FF2B5EF4-FFF2-40B4-BE49-F238E27FC236}">
                <a16:creationId xmlns:a16="http://schemas.microsoft.com/office/drawing/2014/main" id="{832BEAEE-C68E-4CC1-90BA-EEA59993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экран и планшет близко, спина имеет опору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9A6A7AC1-FFA0-4E61-B846-EE74AFCE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353272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81FA9749-225B-42B6-8DDE-0F31F979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EF331B27-994B-4E75-9728-01E8F01A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0E38158-57AD-4B8F-B33C-4791ABD1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Вопросы “зачем” и “почему”</a:t>
            </a:r>
          </a:p>
        </p:txBody>
      </p:sp>
      <p:sp>
        <p:nvSpPr>
          <p:cNvPr id="4" name="Зачем экран ставить прямо перед…">
            <a:extLst xmlns:a="http://schemas.openxmlformats.org/drawingml/2006/main">
              <a:ext uri="{FF2B5EF4-FFF2-40B4-BE49-F238E27FC236}">
                <a16:creationId xmlns:a16="http://schemas.microsoft.com/office/drawing/2014/main" id="{539F0FD5-3960-4232-8756-6C88BB8E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Зачем экран ставить прямо перед собой?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2344F-CE9F-4835-B825-1D2070FA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45B41-84C5-4761-8C55-5319E5BA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7CF77081-60D5-428A-A2B6-A8B07F97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П002 · занятие 2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A1B80782-7091-4683-AF39-20ED6147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dfe7e80984235"/>
          <a:srcRect xmlns:a="http://schemas.openxmlformats.org/drawingml/2006/main" l="0" t="21687" r="0" b="216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Зачем экран ставить прямо перед…">
            <a:extLst xmlns:a="http://schemas.openxmlformats.org/drawingml/2006/main">
              <a:ext uri="{FF2B5EF4-FFF2-40B4-BE49-F238E27FC236}">
                <a16:creationId xmlns:a16="http://schemas.microsoft.com/office/drawing/2014/main" id="{F0DD254D-50E0-4ECB-AD1E-EC879612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 экран ставить прямо перед собой?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86563B94-0498-4653-A046-0DF9F88E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5b0076bff430e"/>
          <a:srcRect xmlns:a="http://schemas.openxmlformats.org/drawingml/2006/main" l="0" t="20704" r="0" b="20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Эргономика рабочего места дизайнера">
            <a:extLst xmlns:a="http://schemas.openxmlformats.org/drawingml/2006/main">
              <a:ext uri="{FF2B5EF4-FFF2-40B4-BE49-F238E27FC236}">
                <a16:creationId xmlns:a16="http://schemas.microsoft.com/office/drawing/2014/main" id="{144919DC-7585-493F-9548-C88FD9F3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AE06AC22-6B49-4D02-8A8F-94AB9D21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8228220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CB2A35EF-FD91-4FB9-9AC3-D58B7299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0086C38B-121F-4542-B3BB-EC5198B6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7D6FD41-EC0A-41DC-819D-502FE23B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Разбор ответов студентов</a:t>
            </a:r>
          </a:p>
        </p:txBody>
      </p:sp>
      <p:sp>
        <p:nvSpPr>
          <p:cNvPr id="4" name="Цель обсуждения — улучшить язык…">
            <a:extLst xmlns:a="http://schemas.openxmlformats.org/drawingml/2006/main">
              <a:ext uri="{FF2B5EF4-FFF2-40B4-BE49-F238E27FC236}">
                <a16:creationId xmlns:a16="http://schemas.microsoft.com/office/drawing/2014/main" id="{D2915F87-3E5F-441A-8018-625062F1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Цель обсуждения — улучшить язык рекомендаций: от оценки человека к настройке среды.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C1757-5024-47C0-90A7-61818272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BBD42-CBA0-416B-8618-DFC7D022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E1C2E8CE-83DD-4816-AD5A-9473867C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разбор: почему вторая формулировка сильнее?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79CCAA8A-681B-407D-BE7E-53DF095A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44b2df1984998"/>
          <a:srcRect xmlns:a="http://schemas.openxmlformats.org/drawingml/2006/main" l="6848" t="0" r="68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0863C-7A48-4255-8729-7B4848F1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703D9-9230-4B8C-A947-CA313ACD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619A0BD8-BFF5-49A1-B761-03196E4D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Цель обсуждения — улучшить язык…">
            <a:extLst xmlns:a="http://schemas.openxmlformats.org/drawingml/2006/main">
              <a:ext uri="{FF2B5EF4-FFF2-40B4-BE49-F238E27FC236}">
                <a16:creationId xmlns:a16="http://schemas.microsoft.com/office/drawing/2014/main" id="{DB4F2422-49AD-433E-9922-4E61DDFC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Цель обсуждения — улучшить язык рекомендаций: от оценки человека к настройке среды.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FF853-B156-4B99-B6E2-8DBDEA05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01B15-5412-490E-9FC0-3D04D992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C2C40FAD-C984-4FFA-84E7-ADA95D38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Эргономика рабочего места дизайнера">
            <a:extLst xmlns:a="http://schemas.openxmlformats.org/drawingml/2006/main">
              <a:ext uri="{FF2B5EF4-FFF2-40B4-BE49-F238E27FC236}">
                <a16:creationId xmlns:a16="http://schemas.microsoft.com/office/drawing/2014/main" id="{F0277DF4-CA42-42FB-8A8E-A2843F89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4C5C8-C112-4D9B-87D4-4D488574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3178B-F835-4AF1-B7AC-161A9D1B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9B4781BD-23EE-4CE9-AA66-415F83BE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“Она сидит неправильно.”">
            <a:extLst xmlns:a="http://schemas.openxmlformats.org/drawingml/2006/main">
              <a:ext uri="{FF2B5EF4-FFF2-40B4-BE49-F238E27FC236}">
                <a16:creationId xmlns:a16="http://schemas.microsoft.com/office/drawing/2014/main" id="{919E78FA-7D66-43B7-B4E0-F0754874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“Она сидит неправильно.”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063C32-58DD-4416-AD83-6B875F21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1AE58-050D-437D-9A1F-564CF55C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A5FE0ABF-ED63-4348-9FDB-A8967D03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“Экран низко, поэтому голова…">
            <a:extLst xmlns:a="http://schemas.openxmlformats.org/drawingml/2006/main">
              <a:ext uri="{FF2B5EF4-FFF2-40B4-BE49-F238E27FC236}">
                <a16:creationId xmlns:a16="http://schemas.microsoft.com/office/drawing/2014/main" id="{272A4C20-1935-4EE9-B28E-6A95D0F6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“Экран низко, поэтому голова наклоняется вперёд.”</a:t>
            </a:r>
          </a:p>
        </p:txBody>
      </p:sp>
    </p:spTree>
    <p:extLst>
      <p:ext uri="{BB962C8B-B14F-4D97-AF65-F5344CB8AC3E}">
        <p14:creationId xmlns:p14="http://schemas.microsoft.com/office/powerpoint/2010/main" val="6857624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2142D3B3-D53B-4448-ABEE-0BA34879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03AA0802-4127-4984-82D6-A8CE8963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FC5CF7B-F27A-448C-8B56-FCF7879D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Интерактив: найдите 5 настроек</a:t>
            </a:r>
          </a:p>
        </p:txBody>
      </p:sp>
      <p:sp>
        <p:nvSpPr>
          <p:cNvPr id="4" name="90 секунд: назовите настройку,…">
            <a:extLst xmlns:a="http://schemas.openxmlformats.org/drawingml/2006/main">
              <a:ext uri="{FF2B5EF4-FFF2-40B4-BE49-F238E27FC236}">
                <a16:creationId xmlns:a16="http://schemas.microsoft.com/office/drawing/2014/main" id="{4BC7BF9D-89B9-45C6-B469-17918112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90 секунд: назовите настройку, которую можно изменить сразу, без покупки новой мебели.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35667-123B-4A9A-ACB1-7009C2AA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3D945-04D5-4DA4-B1FF-5DB69DA2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8CE731D3-0538-4312-A984-953B02F3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П002 · занятие 2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E4D3B397-1E32-43F0-8F45-97228560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1a5e745574f73"/>
          <a:srcRect xmlns:a="http://schemas.openxmlformats.org/drawingml/2006/main" l="0" t="4019" r="0" b="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90 секунд: назовите настройку,…">
            <a:extLst xmlns:a="http://schemas.openxmlformats.org/drawingml/2006/main">
              <a:ext uri="{FF2B5EF4-FFF2-40B4-BE49-F238E27FC236}">
                <a16:creationId xmlns:a16="http://schemas.microsoft.com/office/drawing/2014/main" id="{EC06F63A-E389-47F5-BFC2-3C37E564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90 секунд: назовите настройку, которую можно изменить сразу, без покупки новой мебели.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CA71A7F3-51DA-437B-9A1B-77C7301B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edadd46af4c3c"/>
          <a:srcRect xmlns:a="http://schemas.openxmlformats.org/drawingml/2006/main" l="0" t="382" r="0" b="3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Эргономика рабочего места дизайнера">
            <a:extLst xmlns:a="http://schemas.openxmlformats.org/drawingml/2006/main">
              <a:ext uri="{FF2B5EF4-FFF2-40B4-BE49-F238E27FC236}">
                <a16:creationId xmlns:a16="http://schemas.microsoft.com/office/drawing/2014/main" id="{5BD3CD96-443C-41A2-9800-6B273614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E224138E-EF95-4743-B74F-D7F57DF4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eadb52a854c52"/>
          <a:srcRect xmlns:a="http://schemas.openxmlformats.org/drawingml/2006/main" l="0" t="7112" r="0" b="7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Высота стула или монитора">
            <a:extLst xmlns:a="http://schemas.openxmlformats.org/drawingml/2006/main">
              <a:ext uri="{FF2B5EF4-FFF2-40B4-BE49-F238E27FC236}">
                <a16:creationId xmlns:a16="http://schemas.microsoft.com/office/drawing/2014/main" id="{28DD7312-E6EC-46D4-9732-FB580EE0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Высота стула или монитора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888D1189-F0C2-40C1-88A4-FAD711BE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bdc64fdc94b37"/>
          <a:srcRect xmlns:a="http://schemas.openxmlformats.org/drawingml/2006/main" l="8897" t="0" r="8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Расстояние до экрана">
            <a:extLst xmlns:a="http://schemas.openxmlformats.org/drawingml/2006/main">
              <a:ext uri="{FF2B5EF4-FFF2-40B4-BE49-F238E27FC236}">
                <a16:creationId xmlns:a16="http://schemas.microsoft.com/office/drawing/2014/main" id="{190793E5-0C7B-4E45-9EB4-CB395ACB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Расстояние до экрана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AF57BD25-A801-41B4-9C13-4C161B02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4783360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429E5674-768E-4A94-8A0A-501B0F9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BD8AB147-A63C-4544-BA3B-521524B5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FA5AECED-4314-4140-8294-ADD292A1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Мини-дебаты: что менять первым</a:t>
            </a:r>
          </a:p>
        </p:txBody>
      </p:sp>
      <p:sp>
        <p:nvSpPr>
          <p:cNvPr id="4" name="Студенту неудобно работать 20…">
            <a:extLst xmlns:a="http://schemas.openxmlformats.org/drawingml/2006/main">
              <a:ext uri="{FF2B5EF4-FFF2-40B4-BE49-F238E27FC236}">
                <a16:creationId xmlns:a16="http://schemas.microsoft.com/office/drawing/2014/main" id="{1F317809-B0F6-4ABB-AED9-419B0656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Студенту неудобно работать 20 минут. Что исправить первым?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A3491-2E52-42B4-B773-D75375E5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6F6A0-A390-4CF5-826B-699C3D54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9D184D44-0EB7-43F9-BEEC-6EF4AF45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П002 · занятие 2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25169D49-E6C0-4475-B83D-327E14A2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b953d9aac4aec"/>
          <a:srcRect xmlns:a="http://schemas.openxmlformats.org/drawingml/2006/main" l="0" t="25441" r="0" b="254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Студенту неудобно работать 20…">
            <a:extLst xmlns:a="http://schemas.openxmlformats.org/drawingml/2006/main">
              <a:ext uri="{FF2B5EF4-FFF2-40B4-BE49-F238E27FC236}">
                <a16:creationId xmlns:a16="http://schemas.microsoft.com/office/drawing/2014/main" id="{CF036389-6253-4B4F-AB6A-824741B7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Студенту неудобно работать 20 минут. Что исправить первым?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0FE21451-B0E9-4525-8FE3-4D4D85C1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b18d889e1450b"/>
          <a:srcRect xmlns:a="http://schemas.openxmlformats.org/drawingml/2006/main" l="0" t="21687" r="0" b="216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Эргономика рабочего места дизайнера">
            <a:extLst xmlns:a="http://schemas.openxmlformats.org/drawingml/2006/main">
              <a:ext uri="{FF2B5EF4-FFF2-40B4-BE49-F238E27FC236}">
                <a16:creationId xmlns:a16="http://schemas.microsoft.com/office/drawing/2014/main" id="{ABA9093E-3C1C-4FE8-B475-3621FC28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215FDF9A-75F1-494D-A4ED-4B503536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9589520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C455380E-8E3B-4C23-90B4-1A888E6D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FB73DCA5-21E4-428F-A898-A33B794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DA04D70-80DB-4EF4-945F-6C61F7E9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 звучит сильная рекомендация</a:t>
            </a:r>
          </a:p>
        </p:txBody>
      </p:sp>
      <p:sp>
        <p:nvSpPr>
          <p:cNvPr id="4" name="Рекомендация должна быть короткой…">
            <a:extLst xmlns:a="http://schemas.openxmlformats.org/drawingml/2006/main">
              <a:ext uri="{FF2B5EF4-FFF2-40B4-BE49-F238E27FC236}">
                <a16:creationId xmlns:a16="http://schemas.microsoft.com/office/drawing/2014/main" id="{4B0D502F-595B-46C0-B8D7-B34EA963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Рекомендация должна быть короткой и проверяемой. Без обвинений, диагнозов и общих советов.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3716A-6055-46D7-A41A-E6B6B2AB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9E09E-F058-402B-9836-9AE59239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E3CE4078-D886-4F4C-A79A-0E1600BF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мини-пауза: скажите одним предложением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C7F6DBB1-AFF6-405E-B301-9CEE5A07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4dfd0e44b483c"/>
          <a:srcRect xmlns:a="http://schemas.openxmlformats.org/drawingml/2006/main" l="0" t="4024" r="0" b="40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F1399-D692-4311-B99E-48517952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293D2-F84F-4BE2-91FB-A41B8995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378CACF4-7306-47FF-8DCE-673E4D19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Рекомендация должна быть короткой…">
            <a:extLst xmlns:a="http://schemas.openxmlformats.org/drawingml/2006/main">
              <a:ext uri="{FF2B5EF4-FFF2-40B4-BE49-F238E27FC236}">
                <a16:creationId xmlns:a16="http://schemas.microsoft.com/office/drawing/2014/main" id="{B6C696A8-FF3E-4672-AF89-2079C92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Рекомендация должна быть короткой и проверяемой. Без обвинений, диагнозов и общих советов.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E86BE-96C3-488A-A6B2-EA1C08A5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F2432-7482-47ED-9CF8-E0233EC3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FBF62CC5-7A1A-42DD-A5E3-C169A06F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Эргономика рабочего места дизайнера">
            <a:extLst xmlns:a="http://schemas.openxmlformats.org/drawingml/2006/main">
              <a:ext uri="{FF2B5EF4-FFF2-40B4-BE49-F238E27FC236}">
                <a16:creationId xmlns:a16="http://schemas.microsoft.com/office/drawing/2014/main" id="{2EDD6604-2D2A-4B88-88C2-E38BAF8D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0A6DA-0675-40FF-8FDE-E6CB39EB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1CDEC-5396-4027-9900-DB1E648A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052F42DB-4BC9-454B-B9CD-34EAED45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Факт">
            <a:extLst xmlns:a="http://schemas.openxmlformats.org/drawingml/2006/main">
              <a:ext uri="{FF2B5EF4-FFF2-40B4-BE49-F238E27FC236}">
                <a16:creationId xmlns:a16="http://schemas.microsoft.com/office/drawing/2014/main" id="{3CB2AEA6-9E50-4833-BB67-5CC17913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Факт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515BA-28BF-44BD-9334-C532AD4C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7AAC5-3182-4900-8088-8E2836ED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488CBF77-1DCD-4F1C-950E-F28EC481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Риск">
            <a:extLst xmlns:a="http://schemas.openxmlformats.org/drawingml/2006/main">
              <a:ext uri="{FF2B5EF4-FFF2-40B4-BE49-F238E27FC236}">
                <a16:creationId xmlns:a16="http://schemas.microsoft.com/office/drawing/2014/main" id="{9F241B3D-7D46-4AA3-8182-B233FF9C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Риск</a:t>
            </a:r>
          </a:p>
        </p:txBody>
      </p:sp>
    </p:spTree>
    <p:extLst>
      <p:ext uri="{BB962C8B-B14F-4D97-AF65-F5344CB8AC3E}">
        <p14:creationId xmlns:p14="http://schemas.microsoft.com/office/powerpoint/2010/main" val="21287793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D13D8749-FD94-458E-B8AB-5B02A2E8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24C2D7E8-5793-4377-B971-66632FB4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A864F23C-EAF2-42AA-82EF-C0D4817B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Чек-лист рабочего места дизайнера</a:t>
            </a:r>
          </a:p>
        </p:txBody>
      </p:sp>
      <p:sp>
        <p:nvSpPr>
          <p:cNvPr id="4" name="Экран">
            <a:extLst xmlns:a="http://schemas.openxmlformats.org/drawingml/2006/main">
              <a:ext uri="{FF2B5EF4-FFF2-40B4-BE49-F238E27FC236}">
                <a16:creationId xmlns:a16="http://schemas.microsoft.com/office/drawing/2014/main" id="{D1C3E123-C8D1-475C-9788-577B0EFB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Экран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36B53-184E-4A00-AD16-9B462606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D1419-2111-4F5A-9425-44549BF5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551C3FFC-5277-4135-A21B-A0DD8C41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П002 · занятие 2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7D2D84EE-725D-4B1F-9B0E-E1A50CCB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2e8d57df04108"/>
          <a:srcRect xmlns:a="http://schemas.openxmlformats.org/drawingml/2006/main" l="8399" t="0" r="83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Экран">
            <a:extLst xmlns:a="http://schemas.openxmlformats.org/drawingml/2006/main">
              <a:ext uri="{FF2B5EF4-FFF2-40B4-BE49-F238E27FC236}">
                <a16:creationId xmlns:a16="http://schemas.microsoft.com/office/drawing/2014/main" id="{C848520D-717F-46F1-ABC1-31C2EABC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Экран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A0D6968F-8830-4899-BC77-40ED4ACC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15754906b462c"/>
          <a:srcRect xmlns:a="http://schemas.openxmlformats.org/drawingml/2006/main" l="0" t="4019" r="0" b="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Эргономика рабочего места дизайнера">
            <a:extLst xmlns:a="http://schemas.openxmlformats.org/drawingml/2006/main">
              <a:ext uri="{FF2B5EF4-FFF2-40B4-BE49-F238E27FC236}">
                <a16:creationId xmlns:a16="http://schemas.microsoft.com/office/drawing/2014/main" id="{75BF2B7F-69AE-4800-94CB-A46C3BB6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B2CE20D7-8098-4580-AF3D-4ED54736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ac56d53014605"/>
          <a:srcRect xmlns:a="http://schemas.openxmlformats.org/drawingml/2006/main" l="0" t="382" r="0" b="3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прямо перед студентом">
            <a:extLst xmlns:a="http://schemas.openxmlformats.org/drawingml/2006/main">
              <a:ext uri="{FF2B5EF4-FFF2-40B4-BE49-F238E27FC236}">
                <a16:creationId xmlns:a16="http://schemas.microsoft.com/office/drawing/2014/main" id="{5C64883D-E4D1-4424-B441-13965DF2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прямо перед студентом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BB7793CC-DAD3-44A6-85D7-40E760F6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2b7adb1ac4a59"/>
          <a:srcRect xmlns:a="http://schemas.openxmlformats.org/drawingml/2006/main" l="0" t="7112" r="0" b="7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Расстояние">
            <a:extLst xmlns:a="http://schemas.openxmlformats.org/drawingml/2006/main">
              <a:ext uri="{FF2B5EF4-FFF2-40B4-BE49-F238E27FC236}">
                <a16:creationId xmlns:a16="http://schemas.microsoft.com/office/drawing/2014/main" id="{2B604FB6-4D08-4CD6-9A5E-2A6C10D7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Расстояние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5304D581-DDE1-40FD-90B4-FF74116D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8589808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0F634F0B-AC29-476A-8AB4-172768A0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89F2937B-7CD6-460F-A886-CC377858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22B04751-C761-4263-B004-DCE9E878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Итоги занятия</a:t>
            </a:r>
          </a:p>
        </p:txBody>
      </p:sp>
      <p:sp>
        <p:nvSpPr>
          <p:cNvPr id="4" name="Эргономика — это проектирование…">
            <a:extLst xmlns:a="http://schemas.openxmlformats.org/drawingml/2006/main">
              <a:ext uri="{FF2B5EF4-FFF2-40B4-BE49-F238E27FC236}">
                <a16:creationId xmlns:a16="http://schemas.microsoft.com/office/drawing/2014/main" id="{8E6C084C-AA39-48A0-BCA9-BD14463F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Эргономика — это проектирование условий, в которых дизайн можно делать дольше и точнее.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7D735-0FDD-4157-8958-9789F3F5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ACB60-61E7-49EB-9530-B917D25C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E6D58981-FB26-4A87-BE3C-15046652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дальше: сообщение изображения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D31B4B3B-35DA-4F89-A1C7-1E4D8D19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9843ae83e45b0"/>
          <a:srcRect xmlns:a="http://schemas.openxmlformats.org/drawingml/2006/main" l="0" t="12637" r="0" b="12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Эргономика — это проектирование…">
            <a:extLst xmlns:a="http://schemas.openxmlformats.org/drawingml/2006/main">
              <a:ext uri="{FF2B5EF4-FFF2-40B4-BE49-F238E27FC236}">
                <a16:creationId xmlns:a16="http://schemas.microsoft.com/office/drawing/2014/main" id="{17334088-DC3D-4FDA-A9EC-960B3CB0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— это проектирование условий, в которых дизайн можно делать дольше и точнее.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8F1DA8DC-15DD-4D15-87D2-02609198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24b8b14cc495d"/>
          <a:srcRect xmlns:a="http://schemas.openxmlformats.org/drawingml/2006/main" l="0" t="25441" r="0" b="254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Эргономика рабочего места дизайнера">
            <a:extLst xmlns:a="http://schemas.openxmlformats.org/drawingml/2006/main">
              <a:ext uri="{FF2B5EF4-FFF2-40B4-BE49-F238E27FC236}">
                <a16:creationId xmlns:a16="http://schemas.microsoft.com/office/drawing/2014/main" id="{69DA6747-D08B-4201-97D6-7CD8501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Эргономика рабочего места дизайнера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FBFC240E-392A-484A-A0A3-729122C0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805877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2026-09-13T13:17:20.5490000Z</dcterms:created>
  <dcterms:modified xsi:type="dcterms:W3CDTF">2026-09-13T13:17:20.5490000Z</dcterms:modified>
</coreProperties>
</file>