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6fd254ed734ae6" /><Relationship Type="http://schemas.openxmlformats.org/officeDocument/2006/relationships/extended-properties" Target="/docProps/app.xml" Id="Ref0735468a304c3a" /><Relationship Type="http://schemas.openxmlformats.org/officeDocument/2006/relationships/officeDocument" Target="/ppt/presentation.xml" Id="Rb75717b023b1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a722f7b874a95"/>
  </p:sldMasterIdLst>
  <p:notesMasterIdLst>
    <p:notesMasterId xmlns:r="http://schemas.openxmlformats.org/officeDocument/2006/relationships" r:id="R5ecccba356884b96"/>
  </p:notesMasterIdLst>
  <p:sldIdLst>
    <p:sldId xmlns:r="http://schemas.openxmlformats.org/officeDocument/2006/relationships" id="256" r:id="R12caef4788e44763"/>
    <p:sldId xmlns:r="http://schemas.openxmlformats.org/officeDocument/2006/relationships" id="257" r:id="R1d3e620e35d1497a"/>
    <p:sldId xmlns:r="http://schemas.openxmlformats.org/officeDocument/2006/relationships" id="258" r:id="R81619ad307b04bf4"/>
    <p:sldId xmlns:r="http://schemas.openxmlformats.org/officeDocument/2006/relationships" id="259" r:id="R6c4a90b4382f4ac6"/>
    <p:sldId xmlns:r="http://schemas.openxmlformats.org/officeDocument/2006/relationships" id="260" r:id="Re825ea2ff77740fe"/>
    <p:sldId xmlns:r="http://schemas.openxmlformats.org/officeDocument/2006/relationships" id="261" r:id="Rbf32f197822f41cb"/>
    <p:sldId xmlns:r="http://schemas.openxmlformats.org/officeDocument/2006/relationships" id="262" r:id="Rc9d6cbc738c246a8"/>
    <p:sldId xmlns:r="http://schemas.openxmlformats.org/officeDocument/2006/relationships" id="263" r:id="Re378bc903ed44a8a"/>
    <p:sldId xmlns:r="http://schemas.openxmlformats.org/officeDocument/2006/relationships" id="264" r:id="Rfac44152129b4a27"/>
    <p:sldId xmlns:r="http://schemas.openxmlformats.org/officeDocument/2006/relationships" id="265" r:id="R383f5bd912fb4876"/>
    <p:sldId xmlns:r="http://schemas.openxmlformats.org/officeDocument/2006/relationships" id="266" r:id="R01caa0b73e4a4cd1"/>
    <p:sldId xmlns:r="http://schemas.openxmlformats.org/officeDocument/2006/relationships" id="267" r:id="R796d48103cce408f"/>
    <p:sldId xmlns:r="http://schemas.openxmlformats.org/officeDocument/2006/relationships" id="268" r:id="R52a5bd1c9e514140"/>
    <p:sldId xmlns:r="http://schemas.openxmlformats.org/officeDocument/2006/relationships" id="269" r:id="R67f49d9b9f0540b7"/>
    <p:sldId xmlns:r="http://schemas.openxmlformats.org/officeDocument/2006/relationships" id="270" r:id="Ra6bc8e1f41f04d34"/>
    <p:sldId xmlns:r="http://schemas.openxmlformats.org/officeDocument/2006/relationships" id="271" r:id="R54766c14e2ad45a7"/>
    <p:sldId xmlns:r="http://schemas.openxmlformats.org/officeDocument/2006/relationships" id="272" r:id="R49f9d0daefcc4c27"/>
    <p:sldId xmlns:r="http://schemas.openxmlformats.org/officeDocument/2006/relationships" id="273" r:id="R460776dbeb444de4"/>
    <p:sldId xmlns:r="http://schemas.openxmlformats.org/officeDocument/2006/relationships" id="274" r:id="R6556495c50b347d8"/>
    <p:sldId xmlns:r="http://schemas.openxmlformats.org/officeDocument/2006/relationships" id="275" r:id="R5c1357ffd9a548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6323a34e1e47a9" /><Relationship Type="http://schemas.openxmlformats.org/officeDocument/2006/relationships/slideMaster" Target="/ppt/slideMasters/slideMaster1.xml" Id="R58fa722f7b874a95" /><Relationship Type="http://schemas.openxmlformats.org/officeDocument/2006/relationships/notesMaster" Target="/ppt/notesMasters/notesMaster1.xml" Id="R5ecccba356884b96" /><Relationship Type="http://schemas.openxmlformats.org/officeDocument/2006/relationships/presProps" Target="/ppt/presProps.xml" Id="R493f6d85b9964df0" /><Relationship Type="http://schemas.openxmlformats.org/officeDocument/2006/relationships/tableStyles" Target="/ppt/tableStyles.xml" Id="R63cd3e126512411c" /><Relationship Type="http://schemas.openxmlformats.org/officeDocument/2006/relationships/slide" Target="/ppt/slides/slide1.xml" Id="R12caef4788e44763" /><Relationship Type="http://schemas.openxmlformats.org/officeDocument/2006/relationships/slide" Target="/ppt/slides/slide2.xml" Id="R1d3e620e35d1497a" /><Relationship Type="http://schemas.openxmlformats.org/officeDocument/2006/relationships/slide" Target="/ppt/slides/slide3.xml" Id="R81619ad307b04bf4" /><Relationship Type="http://schemas.openxmlformats.org/officeDocument/2006/relationships/slide" Target="/ppt/slides/slide4.xml" Id="R6c4a90b4382f4ac6" /><Relationship Type="http://schemas.openxmlformats.org/officeDocument/2006/relationships/slide" Target="/ppt/slides/slide5.xml" Id="Re825ea2ff77740fe" /><Relationship Type="http://schemas.openxmlformats.org/officeDocument/2006/relationships/slide" Target="/ppt/slides/slide6.xml" Id="Rbf32f197822f41cb" /><Relationship Type="http://schemas.openxmlformats.org/officeDocument/2006/relationships/slide" Target="/ppt/slides/slide7.xml" Id="Rc9d6cbc738c246a8" /><Relationship Type="http://schemas.openxmlformats.org/officeDocument/2006/relationships/slide" Target="/ppt/slides/slide8.xml" Id="Re378bc903ed44a8a" /><Relationship Type="http://schemas.openxmlformats.org/officeDocument/2006/relationships/slide" Target="/ppt/slides/slide9.xml" Id="Rfac44152129b4a27" /><Relationship Type="http://schemas.openxmlformats.org/officeDocument/2006/relationships/slide" Target="/ppt/slides/slide10.xml" Id="R383f5bd912fb4876" /><Relationship Type="http://schemas.openxmlformats.org/officeDocument/2006/relationships/slide" Target="/ppt/slides/slide11.xml" Id="R01caa0b73e4a4cd1" /><Relationship Type="http://schemas.openxmlformats.org/officeDocument/2006/relationships/slide" Target="/ppt/slides/slide12.xml" Id="R796d48103cce408f" /><Relationship Type="http://schemas.openxmlformats.org/officeDocument/2006/relationships/slide" Target="/ppt/slides/slide13.xml" Id="R52a5bd1c9e514140" /><Relationship Type="http://schemas.openxmlformats.org/officeDocument/2006/relationships/slide" Target="/ppt/slides/slide14.xml" Id="R67f49d9b9f0540b7" /><Relationship Type="http://schemas.openxmlformats.org/officeDocument/2006/relationships/slide" Target="/ppt/slides/slide15.xml" Id="Ra6bc8e1f41f04d34" /><Relationship Type="http://schemas.openxmlformats.org/officeDocument/2006/relationships/slide" Target="/ppt/slides/slide16.xml" Id="R54766c14e2ad45a7" /><Relationship Type="http://schemas.openxmlformats.org/officeDocument/2006/relationships/slide" Target="/ppt/slides/slide17.xml" Id="R49f9d0daefcc4c27" /><Relationship Type="http://schemas.openxmlformats.org/officeDocument/2006/relationships/slide" Target="/ppt/slides/slide18.xml" Id="R460776dbeb444de4" /><Relationship Type="http://schemas.openxmlformats.org/officeDocument/2006/relationships/slide" Target="/ppt/slides/slide19.xml" Id="R6556495c50b347d8" /><Relationship Type="http://schemas.openxmlformats.org/officeDocument/2006/relationships/slide" Target="/ppt/slides/slide20.xml" Id="R5c1357ffd9a5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492b9d25d34f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81d598d3f4840" /><Relationship Type="http://schemas.openxmlformats.org/officeDocument/2006/relationships/notesMaster" Target="/ppt/notesMasters/notesMaster1.xml" Id="R57fe7e1570e54e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09797197e46b9" /><Relationship Type="http://schemas.openxmlformats.org/officeDocument/2006/relationships/notesMaster" Target="/ppt/notesMasters/notesMaster1.xml" Id="R6fe5b241bd2147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02605b8f2940cb" /><Relationship Type="http://schemas.openxmlformats.org/officeDocument/2006/relationships/notesMaster" Target="/ppt/notesMasters/notesMaster1.xml" Id="R83709edb42a147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eba46496334e34" /><Relationship Type="http://schemas.openxmlformats.org/officeDocument/2006/relationships/notesMaster" Target="/ppt/notesMasters/notesMaster1.xml" Id="R93d00c30ef8c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9b0f990db741e6" /><Relationship Type="http://schemas.openxmlformats.org/officeDocument/2006/relationships/notesMaster" Target="/ppt/notesMasters/notesMaster1.xml" Id="Rd22bb854249445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ecbe9c86fe4af7" /><Relationship Type="http://schemas.openxmlformats.org/officeDocument/2006/relationships/notesMaster" Target="/ppt/notesMasters/notesMaster1.xml" Id="Rd53d8dea22ac47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872c6e719842ec" /><Relationship Type="http://schemas.openxmlformats.org/officeDocument/2006/relationships/notesMaster" Target="/ppt/notesMasters/notesMaster1.xml" Id="R707f7320e16642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7cca86a99b4a82" /><Relationship Type="http://schemas.openxmlformats.org/officeDocument/2006/relationships/notesMaster" Target="/ppt/notesMasters/notesMaster1.xml" Id="R6e5ca6ec454643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5429c52f814c6c" /><Relationship Type="http://schemas.openxmlformats.org/officeDocument/2006/relationships/notesMaster" Target="/ppt/notesMasters/notesMaster1.xml" Id="Raffde157734b45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4b6f2255af4f14" /><Relationship Type="http://schemas.openxmlformats.org/officeDocument/2006/relationships/notesMaster" Target="/ppt/notesMasters/notesMaster1.xml" Id="R87a6da1a075646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0eb44aeb014f48" /><Relationship Type="http://schemas.openxmlformats.org/officeDocument/2006/relationships/notesMaster" Target="/ppt/notesMasters/notesMaster1.xml" Id="R08ff73b5d32848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3565008a764c53" /><Relationship Type="http://schemas.openxmlformats.org/officeDocument/2006/relationships/notesMaster" Target="/ppt/notesMasters/notesMaster1.xml" Id="R3b821875147e47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51db09591a453d" /><Relationship Type="http://schemas.openxmlformats.org/officeDocument/2006/relationships/notesMaster" Target="/ppt/notesMasters/notesMaster1.xml" Id="Rcf836d441c0c4c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5a71527bdb4fed" /><Relationship Type="http://schemas.openxmlformats.org/officeDocument/2006/relationships/notesMaster" Target="/ppt/notesMasters/notesMaster1.xml" Id="Rfe769672c90f49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025831ca5447d7" /><Relationship Type="http://schemas.openxmlformats.org/officeDocument/2006/relationships/notesMaster" Target="/ppt/notesMasters/notesMaster1.xml" Id="R6d56fd0155cb4e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7027258a3f4be6" /><Relationship Type="http://schemas.openxmlformats.org/officeDocument/2006/relationships/notesMaster" Target="/ppt/notesMasters/notesMaster1.xml" Id="R9a2bca0383dd4d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9102b23c814def" /><Relationship Type="http://schemas.openxmlformats.org/officeDocument/2006/relationships/notesMaster" Target="/ppt/notesMasters/notesMaster1.xml" Id="R4319906095e247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8d7dd3af3d94ce5" /><Relationship Type="http://schemas.openxmlformats.org/officeDocument/2006/relationships/notesMaster" Target="/ppt/notesMasters/notesMaster1.xml" Id="R090a21fe753045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00ad7adf10424b" /><Relationship Type="http://schemas.openxmlformats.org/officeDocument/2006/relationships/notesMaster" Target="/ppt/notesMasters/notesMaster1.xml" Id="R14f32db442714e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2da9ac6d0e4026" /><Relationship Type="http://schemas.openxmlformats.org/officeDocument/2006/relationships/notesMaster" Target="/ppt/notesMasters/notesMaster1.xml" Id="R32caa03912754a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Как кадр и масштаб меняют сообщение.pptx.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дизайнеру кадрирование.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Кадр — это граница сообщения.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Три плана — три типа смысла.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Масштаб меняет визуальный вес.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Кадрирование может менять историю.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Формат экрана тоже кадрирует.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Desktop, tablet, mobile: один образ — разная роль.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Safe area: что нельзя потерять.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Фокусная точка: куда должен прийти взгляд.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Кадр рядом с текстом.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Кейс: один исходник — три задачи.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Типичная ошибка: «просто приблизить».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Не растягивать: пропорции тоже часть сообщения.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Кадрирование связано с пикселями.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Алгоритм подготовки изображения для web-блока.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Мини-кейс: портфолио web-дизайнера.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Практика: три кадра из одного исходника.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Чек-лист перед сохранением файла.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Итоги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П010;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7828b66c6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2098280474627" /><Relationship Type="http://schemas.openxmlformats.org/officeDocument/2006/relationships/slideLayout" Target="/ppt/slideLayouts/slideLayout1.xml" Id="R5a944c207ca740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44c207ca740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68237fbfe4b86" /><Relationship Type="http://schemas.openxmlformats.org/officeDocument/2006/relationships/image" Target="/ppt/media/image.png" Id="R7304d3ed07d34344" /><Relationship Type="http://schemas.openxmlformats.org/officeDocument/2006/relationships/notesSlide" Target="/ppt/notesSlides/notesSlide1.xml" Id="R2fc3cc88d47a4d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c14572b4a44ba" /><Relationship Type="http://schemas.openxmlformats.org/officeDocument/2006/relationships/image" Target="/ppt/media/image2.png" Id="Rb31a699f36634b01" /><Relationship Type="http://schemas.openxmlformats.org/officeDocument/2006/relationships/image" Target="/ppt/media/image.jpeg" Id="R72185dbe183d47fc" /><Relationship Type="http://schemas.openxmlformats.org/officeDocument/2006/relationships/image" Target="/ppt/media/image2.jpeg" Id="R0e37c328c8084aa0" /><Relationship Type="http://schemas.openxmlformats.org/officeDocument/2006/relationships/image" Target="/ppt/media/image3.jpeg" Id="R6ce53f13adf34368" /><Relationship Type="http://schemas.openxmlformats.org/officeDocument/2006/relationships/notesSlide" Target="/ppt/notesSlides/notesSlide2.xml" Id="R002cfa4db3894b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bf089bedc42fa" /><Relationship Type="http://schemas.openxmlformats.org/officeDocument/2006/relationships/image" Target="/ppt/media/image4.jpeg" Id="R5808c5e311c4426d" /><Relationship Type="http://schemas.openxmlformats.org/officeDocument/2006/relationships/image" Target="/ppt/media/image5.jpeg" Id="Rd7d9e7a443694c12" /><Relationship Type="http://schemas.openxmlformats.org/officeDocument/2006/relationships/notesSlide" Target="/ppt/notesSlides/notesSlide3.xml" Id="R810cbe6d78fb4f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5f2a996574032" /><Relationship Type="http://schemas.openxmlformats.org/officeDocument/2006/relationships/image" Target="/ppt/media/image6.jpeg" Id="R881fc3522ca545a9" /><Relationship Type="http://schemas.openxmlformats.org/officeDocument/2006/relationships/notesSlide" Target="/ppt/notesSlides/notesSlide4.xml" Id="R61f55b9884e140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aadda1d4047cf" /><Relationship Type="http://schemas.openxmlformats.org/officeDocument/2006/relationships/image" Target="/ppt/media/image7.jpeg" Id="Rae210f2c039a46f1" /><Relationship Type="http://schemas.openxmlformats.org/officeDocument/2006/relationships/image" Target="/ppt/media/image8.jpeg" Id="R348fb3ad0d924d2d" /><Relationship Type="http://schemas.openxmlformats.org/officeDocument/2006/relationships/image" Target="/ppt/media/image3.png" Id="R69945ecf58a8489e" /><Relationship Type="http://schemas.openxmlformats.org/officeDocument/2006/relationships/image" Target="/ppt/media/image9.jpeg" Id="Rf15f88d9e4104a6c" /><Relationship Type="http://schemas.openxmlformats.org/officeDocument/2006/relationships/notesSlide" Target="/ppt/notesSlides/notesSlide5.xml" Id="R1a30cdce641940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b051618c2406b" /><Relationship Type="http://schemas.openxmlformats.org/officeDocument/2006/relationships/image" Target="/ppt/media/image10.jpeg" Id="R770cf43e535542c9" /><Relationship Type="http://schemas.openxmlformats.org/officeDocument/2006/relationships/image" Target="/ppt/media/image11.jpeg" Id="Rcb2c61aaecbc4bab" /><Relationship Type="http://schemas.openxmlformats.org/officeDocument/2006/relationships/notesSlide" Target="/ppt/notesSlides/notesSlide6.xml" Id="R0c2929c800da4d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785740d024d12" /><Relationship Type="http://schemas.openxmlformats.org/officeDocument/2006/relationships/image" Target="/ppt/media/image12.jpeg" Id="R3cbf16cf3bbd4240" /><Relationship Type="http://schemas.openxmlformats.org/officeDocument/2006/relationships/notesSlide" Target="/ppt/notesSlides/notesSlide7.xml" Id="Re71f4d32da3248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d87a2ea124af3" /><Relationship Type="http://schemas.openxmlformats.org/officeDocument/2006/relationships/image" Target="/ppt/media/image13.jpeg" Id="Rc103c37dac5547c2" /><Relationship Type="http://schemas.openxmlformats.org/officeDocument/2006/relationships/image" Target="/ppt/media/image14.jpeg" Id="R4660c0d8f14249ac" /><Relationship Type="http://schemas.openxmlformats.org/officeDocument/2006/relationships/image" Target="/ppt/media/image15.jpeg" Id="R60a1a80c5f114b2a" /><Relationship Type="http://schemas.openxmlformats.org/officeDocument/2006/relationships/image" Target="/ppt/media/image16.jpeg" Id="R99d6d66f621d4835" /><Relationship Type="http://schemas.openxmlformats.org/officeDocument/2006/relationships/notesSlide" Target="/ppt/notesSlides/notesSlide8.xml" Id="R52b6600ea94f48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780234deb43c9" /><Relationship Type="http://schemas.openxmlformats.org/officeDocument/2006/relationships/image" Target="/ppt/media/image4.png" Id="R8166e3a5019d4c0b" /><Relationship Type="http://schemas.openxmlformats.org/officeDocument/2006/relationships/image" Target="/ppt/media/image17.jpeg" Id="R380a0b91c99a41a1" /><Relationship Type="http://schemas.openxmlformats.org/officeDocument/2006/relationships/notesSlide" Target="/ppt/notesSlides/notesSlide9.xml" Id="R4c0d5834073040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0e92c4b934baa" /><Relationship Type="http://schemas.openxmlformats.org/officeDocument/2006/relationships/image" Target="/ppt/media/image18.jpeg" Id="R552eca1c5503418a" /><Relationship Type="http://schemas.openxmlformats.org/officeDocument/2006/relationships/notesSlide" Target="/ppt/notesSlides/notesSlide10.xml" Id="R7b87dfff449042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3ccad61a745c5" /><Relationship Type="http://schemas.openxmlformats.org/officeDocument/2006/relationships/image" Target="/ppt/media/image19.jpeg" Id="Rcb80d7af36b6498d" /><Relationship Type="http://schemas.openxmlformats.org/officeDocument/2006/relationships/image" Target="/ppt/media/image20.jpeg" Id="Rc948b0d0c77f4e6a" /><Relationship Type="http://schemas.openxmlformats.org/officeDocument/2006/relationships/image" Target="/ppt/media/image21.jpeg" Id="R96f448695eac447a" /><Relationship Type="http://schemas.openxmlformats.org/officeDocument/2006/relationships/image" Target="/ppt/media/image22.jpeg" Id="R72a233d696694b30" /><Relationship Type="http://schemas.openxmlformats.org/officeDocument/2006/relationships/notesSlide" Target="/ppt/notesSlides/notesSlide11.xml" Id="R36381f536fe742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88588510c4dd4" /><Relationship Type="http://schemas.openxmlformats.org/officeDocument/2006/relationships/image" Target="/ppt/media/image23.jpeg" Id="R01504afa8b254bc9" /><Relationship Type="http://schemas.openxmlformats.org/officeDocument/2006/relationships/image" Target="/ppt/media/image24.jpeg" Id="R6af2be6b905a4ef0" /><Relationship Type="http://schemas.openxmlformats.org/officeDocument/2006/relationships/notesSlide" Target="/ppt/notesSlides/notesSlide12.xml" Id="R0a1fe213e39b47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385ab557e4815" /><Relationship Type="http://schemas.openxmlformats.org/officeDocument/2006/relationships/image" Target="/ppt/media/image5.png" Id="R40acb44635e84a12" /><Relationship Type="http://schemas.openxmlformats.org/officeDocument/2006/relationships/notesSlide" Target="/ppt/notesSlides/notesSlide13.xml" Id="R8a74f9db71dd46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376cc50cb41f5" /><Relationship Type="http://schemas.openxmlformats.org/officeDocument/2006/relationships/image" Target="/ppt/media/image25.jpeg" Id="R4b98b08aa92f4198" /><Relationship Type="http://schemas.openxmlformats.org/officeDocument/2006/relationships/image" Target="/ppt/media/image26.jpeg" Id="Rfbe60c66f563489a" /><Relationship Type="http://schemas.openxmlformats.org/officeDocument/2006/relationships/image" Target="/ppt/media/image27.jpeg" Id="Rfe20081beec0444f" /><Relationship Type="http://schemas.openxmlformats.org/officeDocument/2006/relationships/image" Target="/ppt/media/image28.jpeg" Id="R531d7ca30c994b6a" /><Relationship Type="http://schemas.openxmlformats.org/officeDocument/2006/relationships/notesSlide" Target="/ppt/notesSlides/notesSlide14.xml" Id="Rac070c38623745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43788c6874181" /><Relationship Type="http://schemas.openxmlformats.org/officeDocument/2006/relationships/image" Target="/ppt/media/image29.jpeg" Id="R9644dbbe0b90463a" /><Relationship Type="http://schemas.openxmlformats.org/officeDocument/2006/relationships/image" Target="/ppt/media/image30.jpeg" Id="R44e6ff0b60014318" /><Relationship Type="http://schemas.openxmlformats.org/officeDocument/2006/relationships/notesSlide" Target="/ppt/notesSlides/notesSlide15.xml" Id="R3689a38368b249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2e77310094288" /><Relationship Type="http://schemas.openxmlformats.org/officeDocument/2006/relationships/image" Target="/ppt/media/image31.jpeg" Id="R93fa2df2f74e4468" /><Relationship Type="http://schemas.openxmlformats.org/officeDocument/2006/relationships/notesSlide" Target="/ppt/notesSlides/notesSlide16.xml" Id="R983403a1ab104a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014cbe8504ed6" /><Relationship Type="http://schemas.openxmlformats.org/officeDocument/2006/relationships/image" Target="/ppt/media/image32.jpeg" Id="Re3edf84288ce4e6d" /><Relationship Type="http://schemas.openxmlformats.org/officeDocument/2006/relationships/image" Target="/ppt/media/image6.png" Id="Re6064f9789444fd7" /><Relationship Type="http://schemas.openxmlformats.org/officeDocument/2006/relationships/image" Target="/ppt/media/image33.jpeg" Id="R7283672c348240be" /><Relationship Type="http://schemas.openxmlformats.org/officeDocument/2006/relationships/image" Target="/ppt/media/image34.jpeg" Id="R78efc59b30ec481b" /><Relationship Type="http://schemas.openxmlformats.org/officeDocument/2006/relationships/notesSlide" Target="/ppt/notesSlides/notesSlide17.xml" Id="Rbbcd88e85e064f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f0b5e15144fbb" /><Relationship Type="http://schemas.openxmlformats.org/officeDocument/2006/relationships/image" Target="/ppt/media/image35.jpeg" Id="R897250c6d01841cc" /><Relationship Type="http://schemas.openxmlformats.org/officeDocument/2006/relationships/image" Target="/ppt/media/image36.jpeg" Id="R09fcd6aa79924a3f" /><Relationship Type="http://schemas.openxmlformats.org/officeDocument/2006/relationships/notesSlide" Target="/ppt/notesSlides/notesSlide18.xml" Id="Rbcd3fa4f307547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9653a86024078" /><Relationship Type="http://schemas.openxmlformats.org/officeDocument/2006/relationships/image" Target="/ppt/media/image37.jpeg" Id="R57015ef481734eea" /><Relationship Type="http://schemas.openxmlformats.org/officeDocument/2006/relationships/notesSlide" Target="/ppt/notesSlides/notesSlide19.xml" Id="Rd7a0ad9f2fa14c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53106eace451a" /><Relationship Type="http://schemas.openxmlformats.org/officeDocument/2006/relationships/image" Target="/ppt/media/image38.jpeg" Id="R81450b6022164d51" /><Relationship Type="http://schemas.openxmlformats.org/officeDocument/2006/relationships/image" Target="/ppt/media/image39.jpeg" Id="R44e27373b1e6400c" /><Relationship Type="http://schemas.openxmlformats.org/officeDocument/2006/relationships/image" Target="/ppt/media/image40.jpeg" Id="Re18ecb8e0a7649e2" /><Relationship Type="http://schemas.openxmlformats.org/officeDocument/2006/relationships/image" Target="/ppt/media/image7.png" Id="R63dc3cf0ecad4e32" /><Relationship Type="http://schemas.openxmlformats.org/officeDocument/2006/relationships/notesSlide" Target="/ppt/notesSlides/notesSlide20.xml" Id="R5ce22e30cde040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4d3ed07d343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D3F7F-E5FB-4992-A59F-1270ECCE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AC00D1CD-3881-4EA9-B017-6E57EBA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30357A57-A17A-453F-A15D-641AFD1D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10">
            <a:extLst xmlns:a="http://schemas.openxmlformats.org/drawingml/2006/main">
              <a:ext uri="{FF2B5EF4-FFF2-40B4-BE49-F238E27FC236}">
                <a16:creationId xmlns:a16="http://schemas.microsoft.com/office/drawing/2014/main" id="{F6816042-BAA1-4BDF-B6EB-E591724A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10</a:t>
            </a:r>
          </a:p>
        </p:txBody>
      </p:sp>
      <p:sp>
        <p:nvSpPr>
          <p:cNvPr id="6" name="Как кадр и масштаб меняют…">
            <a:extLst xmlns:a="http://schemas.openxmlformats.org/drawingml/2006/main">
              <a:ext uri="{FF2B5EF4-FFF2-40B4-BE49-F238E27FC236}">
                <a16:creationId xmlns:a16="http://schemas.microsoft.com/office/drawing/2014/main" id="{C8C7F9FA-BB9B-4A8F-B65F-485CCF28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79C368B5-62FF-4CAC-9685-BB57B7AD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065747DF-7A32-4DAB-9575-221BBFA7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858108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35F093B0-033A-4C4B-A419-26E7C7C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B7F3D8A1-B293-4D4A-A2A1-BB3E72A3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64A44B1-B873-4E00-AF52-3DCD2C88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дизайнеру кадрирование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749FBFB7-5479-4DF1-9FF0-7726BC5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FA579-F84C-4124-B120-4161D9A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787C5-6C72-4D89-8674-5E40EEBE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B919A6E3-9824-4257-A455-0FEF346A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Кадрирование — базовый способ превратить исходник в сообщение.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911DD72-1493-4C4C-BA14-1C010481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a699f36634b01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94F9B763-2299-4041-AD61-57A2B567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A7F1F66-530C-486C-B913-806E162E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85dbe183d47fc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Кадр — это не обрезка «лишнего»,…">
            <a:extLst xmlns:a="http://schemas.openxmlformats.org/drawingml/2006/main">
              <a:ext uri="{FF2B5EF4-FFF2-40B4-BE49-F238E27FC236}">
                <a16:creationId xmlns:a16="http://schemas.microsoft.com/office/drawing/2014/main" id="{681B8F82-3553-40EF-8B4C-818CB338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 — это не обрезка «лишнего», а управление вниманием.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5B7D020-4387-4D25-AB29-136FFB2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7c328c8084aa0"/>
          <a:srcRect xmlns:a="http://schemas.openxmlformats.org/drawingml/2006/main" l="8966" t="0" r="8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Главная идея">
            <a:extLst xmlns:a="http://schemas.openxmlformats.org/drawingml/2006/main">
              <a:ext uri="{FF2B5EF4-FFF2-40B4-BE49-F238E27FC236}">
                <a16:creationId xmlns:a16="http://schemas.microsoft.com/office/drawing/2014/main" id="{15236296-037B-4546-B32E-CE82425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Главная идея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29B69C1-04B3-43FD-B7A1-4BDFB8A7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53f13adf34368"/>
          <a:srcRect xmlns:a="http://schemas.openxmlformats.org/drawingml/2006/main" l="8983" t="0" r="89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Когда меняется кадр, меняется не…">
            <a:extLst xmlns:a="http://schemas.openxmlformats.org/drawingml/2006/main">
              <a:ext uri="{FF2B5EF4-FFF2-40B4-BE49-F238E27FC236}">
                <a16:creationId xmlns:a16="http://schemas.microsoft.com/office/drawing/2014/main" id="{AD19F945-BCD1-42FB-9BB9-21993DC5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Когда меняется кадр, меняется не только композиция. Меняется вопрос, который зритель задаёт изображению.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D6D6F68-CE4C-409D-B2BA-5F37216A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316625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64D77F09-285E-4C58-A6F9-7110D16D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9246B51A-7B2D-42CE-B653-C3F8F24D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69E5F57-5B34-4075-BD14-B07E17C1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 — это граница сообщения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4EE82515-1F1D-476C-9129-A76786B8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917FF-C0E5-4EF3-96B2-9420015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FDE89-944B-4895-91C1-BE84A10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A43F0EB6-EEAD-4709-B85E-63B1D7FC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Вопрос классу: что изменилось сильнее — размер человека или смысл сцены? Почему?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266B4375-4465-4E47-A3F0-680229FB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8c5e311c4426d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2F1EF02D-CA09-40B0-94AC-342A02E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3294A149-E890-494F-B002-A585A8C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9e7a443694c12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В кадр попадает не «всё», а…">
            <a:extLst xmlns:a="http://schemas.openxmlformats.org/drawingml/2006/main">
              <a:ext uri="{FF2B5EF4-FFF2-40B4-BE49-F238E27FC236}">
                <a16:creationId xmlns:a16="http://schemas.microsoft.com/office/drawing/2014/main" id="{9CC78ADD-0CEF-4E78-80FC-2361E49D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кадр попадает не «всё», а только то, что дизайнер оставляет важным.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1CDB7E21-19EB-4320-9423-39677068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364447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A2B7E8A7-F631-4131-9E9E-83527CCF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4B2D954D-F790-4753-A126-846E8E2F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864EEEE-BC0B-4EB6-98A1-EC2260C4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Три плана — три типа смысла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24E75AEF-E027-43FF-9676-BCCE66F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92DA1-DE5E-4B0F-AD99-D54EF560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CAEE5-D796-4502-9D70-B38E3983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7A402FC-980F-4B22-8C39-1E66ECC2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План изображения — это не только расстояние камеры, но и способ распределить внимание зрителя.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FCFBC55-861F-43E1-8F59-8B6D9E9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fc3522ca545a9"/>
          <a:srcRect xmlns:a="http://schemas.openxmlformats.org/drawingml/2006/main" l="7409" t="0" r="74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4EC1B-B442-42E5-802D-B5259172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57595-A8D2-47D9-B2DC-34F53A32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3FDDBE65-0ED4-4C87-BE9E-326B3662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8EB96B9F-4A17-45D3-B774-1E409FD7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DB695-6310-4E6B-BB1C-DD1B1A8C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C97F3-3B73-44AC-BCB9-C233A07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D964EB01-256D-420E-B46E-8AA93B35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Общий, средний и крупный план…">
            <a:extLst xmlns:a="http://schemas.openxmlformats.org/drawingml/2006/main">
              <a:ext uri="{FF2B5EF4-FFF2-40B4-BE49-F238E27FC236}">
                <a16:creationId xmlns:a16="http://schemas.microsoft.com/office/drawing/2014/main" id="{C087FAAA-C063-46EC-9D6E-6C67B391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Общий, средний и крупный план отвечают на разные вопросы.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02C20-DED7-4CD7-A461-1DB0E74D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C68DD-F111-4279-9A95-166A022F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53FF769F-AADD-4609-B484-B7F9099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Общий план">
            <a:extLst xmlns:a="http://schemas.openxmlformats.org/drawingml/2006/main">
              <a:ext uri="{FF2B5EF4-FFF2-40B4-BE49-F238E27FC236}">
                <a16:creationId xmlns:a16="http://schemas.microsoft.com/office/drawing/2014/main" id="{7EDD0AF5-3361-48DB-8FF6-1E59BAA1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Общий план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BFEE9-6041-40A3-A74B-F24A0DCB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FDAF7-0360-4834-AD42-6EE9FD75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86CE56EB-819C-4DC5-93A2-562D3650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Средний план">
            <a:extLst xmlns:a="http://schemas.openxmlformats.org/drawingml/2006/main">
              <a:ext uri="{FF2B5EF4-FFF2-40B4-BE49-F238E27FC236}">
                <a16:creationId xmlns:a16="http://schemas.microsoft.com/office/drawing/2014/main" id="{195D9F33-2FC9-464C-A7CB-C7D3D8BC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Средний план</a:t>
            </a:r>
          </a:p>
        </p:txBody>
      </p:sp>
    </p:spTree>
    <p:extLst>
      <p:ext uri="{BB962C8B-B14F-4D97-AF65-F5344CB8AC3E}">
        <p14:creationId xmlns:p14="http://schemas.microsoft.com/office/powerpoint/2010/main" val="2113414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A659D4A4-0DA9-4FFF-994F-DE6297A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037CFFE-923E-42A6-B7B0-A089D17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A31FFAA-7523-49F5-88E7-5826611B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976A5104-2192-48A3-9638-BCE5FC2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9F310-3AA2-460F-82AA-80E7F44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FB590-DD1D-4843-9E72-3F56D0CD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1DAC5B7-D55E-45A4-8883-F275E897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На маленьком экране слабый акцент может вообще исчезнуть.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3A08B91-7144-4A1C-9E84-9A960A41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1A2DF-64DA-4996-BDB2-D78AA5E3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157E0-2917-4320-9640-7553E4C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66C8EA6F-018B-4C7E-A2B4-2ABC3ECD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10f2c039a46f1"/>
          <a:srcRect xmlns:a="http://schemas.openxmlformats.org/drawingml/2006/main" l="0" t="2356" r="0" b="2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3F1625EA-5B7D-46F3-A4DE-BCB809BF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48936-83F4-4DCC-A8C4-6A64AD7C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A63A2-D7B0-4D2D-A142-DF0D8812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457E255D-00EB-4911-9978-5F943C65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b3ad0d924d2d"/>
          <a:srcRect xmlns:a="http://schemas.openxmlformats.org/drawingml/2006/main" l="0" t="2356" r="0" b="2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1BEBBA27-FB9D-46EA-9768-F92E614F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60E07-54C4-4845-AD15-09097D3F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FF3A24-3F73-4C80-B854-8C26142B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C2DDBEAA-DC9E-4BB6-B94F-33B9E998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45ecf58a8489e"/>
          <a:srcRect xmlns:a="http://schemas.openxmlformats.org/drawingml/2006/main" l="0" t="2406" r="0" b="2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4CFE1BA1-4AD2-4CAD-9F50-98FF31C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96ABD-A2BD-49CF-B668-CEC27BF0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DB91F-71B7-40B5-AEF8-752EC72E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A01B01E7-C722-4E15-9BBD-7773E97C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f88d9e4104a6c"/>
          <a:srcRect xmlns:a="http://schemas.openxmlformats.org/drawingml/2006/main" l="0" t="2356" r="0" b="2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5B2C99CA-3918-46B7-8286-C215603C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1513803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1A2CEFB5-0743-4D34-9FEC-6B488B55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2C5664EB-9679-40FB-9E04-AA22138A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4419040-768E-408E-A208-EB56BD62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Кадрирование может менять историю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78BC02A3-381A-4D6A-B803-551FA69A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F9DE2-5D72-4291-8EA6-5846F4FE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434F1-68AA-44A0-A0FD-0B8A95C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D492BB0B-63A5-45A6-BD2E-4FA275C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Не существует «единственно правильного» кадра без задачи. Правильность появляется от назначения.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87BCA4A-72A0-4078-A616-79116283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cf43e535542c9"/>
          <a:srcRect xmlns:a="http://schemas.openxmlformats.org/drawingml/2006/main" l="0" t="12574" r="0" b="12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02131667-0F91-4B43-86CC-FBC5F06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7677DC02-94EA-4DBE-8A71-A46244A4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c61aaecbc4bab"/>
          <a:srcRect xmlns:a="http://schemas.openxmlformats.org/drawingml/2006/main" l="0" t="12558" r="0" b="12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Один исходник можно прочитать как…">
            <a:extLst xmlns:a="http://schemas.openxmlformats.org/drawingml/2006/main">
              <a:ext uri="{FF2B5EF4-FFF2-40B4-BE49-F238E27FC236}">
                <a16:creationId xmlns:a16="http://schemas.microsoft.com/office/drawing/2014/main" id="{AC49A1F8-4572-48AE-B433-0768351D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Один исходник можно прочитать как пейзаж, путь, портрет или действие.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D60E3B31-BACB-43CD-B210-72374F8A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595711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6BB8020D-64B0-4333-BD02-F0C808F3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3FEAE1CF-D869-455E-AB5C-218F9C5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522B816-06F7-496C-BAE6-E46F312E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Формат экрана тоже кадрирует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0B3F44C4-8F9D-4931-B8A6-8347F03A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0FB73-0608-49EE-BC37-2A56BD01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3013A-F78C-4883-A2CE-7D0D34FA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E60CA7B-61BB-4AFB-B59B-307807A3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Один исходник заранее проверяется в нескольких форматах, иначе адаптивный дизайн сломает сообщение.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68767E0-7E92-4163-8A71-EFCC7359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f16cf3bbd4240"/>
          <a:srcRect xmlns:a="http://schemas.openxmlformats.org/drawingml/2006/main" l="7465" t="0" r="74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A23EF-9BC0-4583-97DE-A006A115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B9689-8E45-43B1-A85F-3DAE7C8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05C39CE0-3376-4D42-9509-2BDC7CBF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C797DC2E-935E-4180-99C1-D529353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7821A-6F67-4132-9E53-4D1ABEE1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01C07-D9D5-45AE-8B49-C3F3B4EE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2834E314-E41E-4397-9427-09B9BEE5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Web-дизайнер работает не с одним…">
            <a:extLst xmlns:a="http://schemas.openxmlformats.org/drawingml/2006/main">
              <a:ext uri="{FF2B5EF4-FFF2-40B4-BE49-F238E27FC236}">
                <a16:creationId xmlns:a16="http://schemas.microsoft.com/office/drawing/2014/main" id="{4C8141DB-2A5F-4408-80BB-CA0093B9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Web-дизайнер работает не с одним изображением, а с системой форматов.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599C6-D92E-45D2-8A91-BB240A3A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87CE6-B8E2-4A92-BF80-BC94936C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3D520AA6-D835-4C5D-8E2E-89559756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16:9">
            <a:extLst xmlns:a="http://schemas.openxmlformats.org/drawingml/2006/main">
              <a:ext uri="{FF2B5EF4-FFF2-40B4-BE49-F238E27FC236}">
                <a16:creationId xmlns:a16="http://schemas.microsoft.com/office/drawing/2014/main" id="{43E4938A-369B-4E25-85B4-EB7DF2C2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16:9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B6F5D-4F6C-4D0F-96D2-6F707AA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012D3-0773-448B-947F-AB68C1D0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6DAACF39-B476-4D35-8A5C-41FBEBEC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9:16">
            <a:extLst xmlns:a="http://schemas.openxmlformats.org/drawingml/2006/main">
              <a:ext uri="{FF2B5EF4-FFF2-40B4-BE49-F238E27FC236}">
                <a16:creationId xmlns:a16="http://schemas.microsoft.com/office/drawing/2014/main" id="{319AEC84-9D0D-405B-9A0E-95D370C3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9:16</a:t>
            </a:r>
          </a:p>
        </p:txBody>
      </p:sp>
    </p:spTree>
    <p:extLst>
      <p:ext uri="{BB962C8B-B14F-4D97-AF65-F5344CB8AC3E}">
        <p14:creationId xmlns:p14="http://schemas.microsoft.com/office/powerpoint/2010/main" val="540612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A9687B74-0DE1-4A7D-B2C5-64236306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7289E6D-DE46-4C24-AE47-A8C990B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D2C9784-961F-48BB-855B-091C8C6C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Desktop, tablet, mobile: один образ — разная роль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4D1B4060-1EEF-4493-BE80-99BD0CD7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77FD7-BE2D-447D-A309-C5275D66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A080F-1778-4B9D-BD47-B356C38E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08BB6AE-4B5F-480E-9CE6-4938CE9F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Web-изображение должно выдерживать несколько экранных сценариев.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12F9E201-6DCF-44D8-85A4-29B84A55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3c37dac5547c2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3DE9AB06-B0FE-48AA-9618-6A6B431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F25C2C3-86E4-4E5C-96D7-B67AB3E4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0c0d8f14249ac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В адаптивном дизайне изображение…">
            <a:extLst xmlns:a="http://schemas.openxmlformats.org/drawingml/2006/main">
              <a:ext uri="{FF2B5EF4-FFF2-40B4-BE49-F238E27FC236}">
                <a16:creationId xmlns:a16="http://schemas.microsoft.com/office/drawing/2014/main" id="{27B7D651-578A-4DE5-A8DC-3C321AD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адаптивном дизайне изображение не просто уменьшается, оно меняет композиционную задачу.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D8E5CB0-FAD5-4772-8AB5-6AAD3B8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1a80c5f114b2a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Desktop">
            <a:extLst xmlns:a="http://schemas.openxmlformats.org/drawingml/2006/main">
              <a:ext uri="{FF2B5EF4-FFF2-40B4-BE49-F238E27FC236}">
                <a16:creationId xmlns:a16="http://schemas.microsoft.com/office/drawing/2014/main" id="{93D9A4B5-53E1-4080-A928-97F5B74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2F498E1-3C88-47A4-9563-C722BF47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6d66f621d4835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Tablet">
            <a:extLst xmlns:a="http://schemas.openxmlformats.org/drawingml/2006/main">
              <a:ext uri="{FF2B5EF4-FFF2-40B4-BE49-F238E27FC236}">
                <a16:creationId xmlns:a16="http://schemas.microsoft.com/office/drawing/2014/main" id="{781191EC-180A-4F62-A7BC-DAF3AEC4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Tablet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5EC7C7AD-57A2-4B81-A265-2E2515D4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2297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9EC00A48-2B65-4946-8AC8-1A4C4699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BD0F329-3272-4E9B-BEE1-DF6458CD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01E23EC-8CF6-40D3-86B4-A5BA4A3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Safe area: что нельзя потерять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8EFBFBC1-F620-44FA-B497-3A6CA9D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C46D3-98BA-4C74-A7D4-524CC5F3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D495C-DAB7-4EAA-819D-E4F6D6B8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2583AF8-5FC4-4BEF-BCD2-9E78D67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Перед экспортом дизайнер проверяет устойчивость смысла при обрезке.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C99F368-654C-458D-8FF9-58792B27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6e3a5019d4c0b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E2D445CD-AF85-4F38-BE67-2336E7D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7601329C-51D9-4D63-BE80-F12FEFD1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a0b91c99a41a1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Безопасная зона — часть…">
            <a:extLst xmlns:a="http://schemas.openxmlformats.org/drawingml/2006/main">
              <a:ext uri="{FF2B5EF4-FFF2-40B4-BE49-F238E27FC236}">
                <a16:creationId xmlns:a16="http://schemas.microsoft.com/office/drawing/2014/main" id="{71A70031-2745-44EF-95A1-171CFCB8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Безопасная зона — часть изображения, которая должна сохраниться при любом размере блока.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C1C9160D-916E-4814-B309-8707C25A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614277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DDD7EB19-E319-46B9-A024-81D29469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EC701FB-DA3B-4939-8127-A72FC983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F1BD72B-03FC-4D0E-9D1E-4DC9A68E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Фокусная точка: куда должен прийти взгляд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DAB4D5E7-C2C0-45A4-9D18-6A02C4B1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464A3-BCAB-4501-8E46-2053E4F8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FEB23-244C-4765-BD33-59A246A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C982B3A-11EE-43C9-96C8-3C5D2BA2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Зритель должен понять маршрут взгляда ещё до текста.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C639BAD-1F99-4DD6-8E12-B0FBF171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eca1c5503418a"/>
          <a:srcRect xmlns:a="http://schemas.openxmlformats.org/drawingml/2006/main" l="7435" t="0" r="74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95C53-3E3E-4D19-BFB1-E19A6B8B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BD2BB-8CBE-4289-82B9-1E98D72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28AE0516-91F0-4EB4-AC79-B1389A9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E14CEAB8-422E-4472-99E1-84719D3E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10B95-B54E-493B-8875-51A62496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A3878-046E-4FCF-8F1E-A03E43EA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CBA0A407-61CA-4B3F-9257-D8C929FC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Кадр и масштаб работают вместе:…">
            <a:extLst xmlns:a="http://schemas.openxmlformats.org/drawingml/2006/main">
              <a:ext uri="{FF2B5EF4-FFF2-40B4-BE49-F238E27FC236}">
                <a16:creationId xmlns:a16="http://schemas.microsoft.com/office/drawing/2014/main" id="{A47CAEE5-89B8-4BFD-906B-48E285B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 и масштаб работают вместе: один задаёт границу, другой усиливает главное.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A6E97-615D-428D-B9FC-6DD8047F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547C9-C95F-43A0-8583-23D1C058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B8287287-3B51-4D64-B8C2-016CE861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Как управлять взглядом">
            <a:extLst xmlns:a="http://schemas.openxmlformats.org/drawingml/2006/main">
              <a:ext uri="{FF2B5EF4-FFF2-40B4-BE49-F238E27FC236}">
                <a16:creationId xmlns:a16="http://schemas.microsoft.com/office/drawing/2014/main" id="{1D66E07B-0381-47A7-BE9B-B9A6676B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 управлять взглядом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3340E-6E9B-4089-9CB0-06F4A70E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A0A9A-6D6A-45F9-80A1-0AA5F760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3297C882-5768-4D24-8015-21F36395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Как сломать кадр">
            <a:extLst xmlns:a="http://schemas.openxmlformats.org/drawingml/2006/main">
              <a:ext uri="{FF2B5EF4-FFF2-40B4-BE49-F238E27FC236}">
                <a16:creationId xmlns:a16="http://schemas.microsoft.com/office/drawing/2014/main" id="{0984BF5F-1241-4406-A03D-A9580DF9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 сломать кадр</a:t>
            </a:r>
          </a:p>
        </p:txBody>
      </p:sp>
    </p:spTree>
    <p:extLst>
      <p:ext uri="{BB962C8B-B14F-4D97-AF65-F5344CB8AC3E}">
        <p14:creationId xmlns:p14="http://schemas.microsoft.com/office/powerpoint/2010/main" val="1591349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8D97FECA-BC1E-4CDB-B80A-25C4D291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1D9733D-0580-4536-BC5F-75F16C59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12D9166-D364-4CA7-A40C-4B64D481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 рядом с текстом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F7355B46-F33F-4677-9F85-426122C7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E2DB1-799A-4D11-832E-1216CE41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8F0C3-C97B-4C04-B834-6867DA7D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FD770C6-93C8-44F1-B974-0BC2DF69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Если текст и изображение спорят за внимание, зритель не понимает маршрут.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67F4FD1-04EB-4755-976A-F71DA212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0d7af36b6498d"/>
          <a:srcRect xmlns:a="http://schemas.openxmlformats.org/drawingml/2006/main" l="8983" t="0" r="89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2779BE25-1FC1-470E-8F86-E347929A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8A99222-178B-4B33-AC45-0F11F38E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8b0d0c77f4e6a"/>
          <a:srcRect xmlns:a="http://schemas.openxmlformats.org/drawingml/2006/main" l="8994" t="0" r="89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Изображение в web-блоке почти…">
            <a:extLst xmlns:a="http://schemas.openxmlformats.org/drawingml/2006/main">
              <a:ext uri="{FF2B5EF4-FFF2-40B4-BE49-F238E27FC236}">
                <a16:creationId xmlns:a16="http://schemas.microsoft.com/office/drawing/2014/main" id="{DC6BABEC-49D8-4837-8D97-1B640DD1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Изображение в web-блоке почти никогда не живёт одно: рядом есть заголовок, кнопка, меню, цена или описание.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C0DA4212-548B-4A90-97B7-20429365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448695eac447a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Hero-блок">
            <a:extLst xmlns:a="http://schemas.openxmlformats.org/drawingml/2006/main">
              <a:ext uri="{FF2B5EF4-FFF2-40B4-BE49-F238E27FC236}">
                <a16:creationId xmlns:a16="http://schemas.microsoft.com/office/drawing/2014/main" id="{52C4ABEF-7478-475C-919D-5EB4F6CE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Hero-блок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39E6906-D251-4DC8-97F9-02D1F2B8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233d696694b30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Карточка">
            <a:extLst xmlns:a="http://schemas.openxmlformats.org/drawingml/2006/main">
              <a:ext uri="{FF2B5EF4-FFF2-40B4-BE49-F238E27FC236}">
                <a16:creationId xmlns:a16="http://schemas.microsoft.com/office/drawing/2014/main" id="{B96C4605-3C4B-4ACA-9D8E-3DA5EA8B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Карточка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E86149CC-13BE-4A2C-81C4-09DB012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838466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D2B3B7C8-1319-469A-8CD8-349D3F7B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9210883-D9E3-4FFD-AE49-DAA41F0C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F125F24-2D42-4AC9-A53E-CF9FF9A9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Кейс: один исходник — три задачи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10B56D9E-A1A5-430C-B21A-48221F17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2D592-980C-40E2-9548-2CB4ABE4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080A4-BDF5-48D6-9BB3-213FEEC4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13DD511-79EA-45E1-B149-8303524F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Мастер один, но подготовленных выводов может быть несколько.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D724E0D-4349-4D7F-A017-45EBF09F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04afa8b254bc9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4920B4DE-950C-43CE-A62E-FC5ADB67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A317D006-FDBD-456E-AFA2-CBAD8ED9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2be6b905a4ef0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Для разных каналов нужен не один…">
            <a:extLst xmlns:a="http://schemas.openxmlformats.org/drawingml/2006/main">
              <a:ext uri="{FF2B5EF4-FFF2-40B4-BE49-F238E27FC236}">
                <a16:creationId xmlns:a16="http://schemas.microsoft.com/office/drawing/2014/main" id="{F3FF3803-F8DF-42B8-B54A-4BB23D8A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Для разных каналов нужен не один универсальный файл, а несколько осмысленных версий.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51C7A3A8-591F-4243-9090-8726ECA3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348253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DB0164BC-B7F7-44B2-81E6-50A66BC8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06E6B40-0404-46C9-AE87-60D93CB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F9BAEDD-3CD7-4578-BF1D-1D8AF067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Типичная ошибка: «просто приблизить»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C8998234-BD90-452C-B5E5-47C89111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9D7F6-4FB1-4759-8AB2-9BD7B660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58303-865B-46C0-A016-3FAB13B0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5F772EB-60BB-4E36-8191-A5CA56F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Масштаб должен усиливать сообщение, а не просто делать картинку «больше».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49AEA15-789C-4E46-8E10-709F013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cb44635e84a12"/>
          <a:srcRect xmlns:a="http://schemas.openxmlformats.org/drawingml/2006/main" l="7364" t="0" r="7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6DFFA-94CE-4C88-86BA-46E5E5AB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7C88B-4D5C-4AFC-8882-1B574699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5C3A904B-4D14-4A9B-BC28-6614AD40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1B1266F4-69D4-433E-86F5-F6B49BA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DC7CB-183F-4858-98C6-12F02544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1145A-E403-4F86-A6B0-0EA300C7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89B0FADB-A4F7-481F-8B6F-C7E1C05F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Увеличение масштаба без задачи…">
            <a:extLst xmlns:a="http://schemas.openxmlformats.org/drawingml/2006/main">
              <a:ext uri="{FF2B5EF4-FFF2-40B4-BE49-F238E27FC236}">
                <a16:creationId xmlns:a16="http://schemas.microsoft.com/office/drawing/2014/main" id="{D2A62F4C-B081-4252-BB77-32839FE0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Увеличение масштаба без задачи часто делает изображение эффектнее, но беднее по смыслу.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DCC1A-CDD3-42CE-B2AB-FE0B5954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4C1B6-7EEB-4F05-BE08-C4FEECF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EC277131-65BF-4676-B97D-CE065D6F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Было">
            <a:extLst xmlns:a="http://schemas.openxmlformats.org/drawingml/2006/main">
              <a:ext uri="{FF2B5EF4-FFF2-40B4-BE49-F238E27FC236}">
                <a16:creationId xmlns:a16="http://schemas.microsoft.com/office/drawing/2014/main" id="{4AFA0DF0-0348-4E4E-8DD0-C10EC237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Было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35CE1-4BB5-4D4E-9E9E-84F81601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D362F-7E76-40F8-BD6F-588DF3BB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03F92CD2-C85B-4B15-BA14-E9491B7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Стало">
            <a:extLst xmlns:a="http://schemas.openxmlformats.org/drawingml/2006/main">
              <a:ext uri="{FF2B5EF4-FFF2-40B4-BE49-F238E27FC236}">
                <a16:creationId xmlns:a16="http://schemas.microsoft.com/office/drawing/2014/main" id="{264BF843-4743-4B91-84CA-5BF7FD09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Стало</a:t>
            </a:r>
          </a:p>
        </p:txBody>
      </p:sp>
    </p:spTree>
    <p:extLst>
      <p:ext uri="{BB962C8B-B14F-4D97-AF65-F5344CB8AC3E}">
        <p14:creationId xmlns:p14="http://schemas.microsoft.com/office/powerpoint/2010/main" val="484254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3B1BEA6C-6B7F-4ABE-B4ED-74474D9E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C76B9C6-1552-4E97-97C0-F15A86CF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6EBF437-9ACE-441C-A095-0420FF68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Не растягивать: пропорции тоже часть сообщения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1E0805E8-CDFB-4143-9B60-46AFAD7A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F9C50-DAA7-42CF-97E9-CAAF0848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6FA00-F699-4804-97CD-6AF0DFFB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D4C5ABF-5EE0-42C8-A9BB-44906713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В web-интерфейсах изображение часто адаптируется автоматически — пропорции нужно защищать.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0294586E-A929-45E0-977D-14269869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8b08aa92f4198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6FAE0B7A-4E96-49B4-BD9E-C6281285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9783A609-38D9-4AB9-879B-18C0739F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60c66f563489a"/>
          <a:srcRect xmlns:a="http://schemas.openxmlformats.org/drawingml/2006/main" l="8966" t="0" r="8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Искажение пропорций разрушает…">
            <a:extLst xmlns:a="http://schemas.openxmlformats.org/drawingml/2006/main">
              <a:ext uri="{FF2B5EF4-FFF2-40B4-BE49-F238E27FC236}">
                <a16:creationId xmlns:a16="http://schemas.microsoft.com/office/drawing/2014/main" id="{DDE2AC95-FDB3-4CBC-ACF3-1702061B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Искажение пропорций разрушает доверие к изображению.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79424A7-1320-4CD8-A37C-ECF300C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0081beec0444f"/>
          <a:srcRect xmlns:a="http://schemas.openxmlformats.org/drawingml/2006/main" l="8983" t="0" r="89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Корректно пропорции сохранены">
            <a:extLst xmlns:a="http://schemas.openxmlformats.org/drawingml/2006/main">
              <a:ext uri="{FF2B5EF4-FFF2-40B4-BE49-F238E27FC236}">
                <a16:creationId xmlns:a16="http://schemas.microsoft.com/office/drawing/2014/main" id="{16886E71-8122-4EB7-8907-8A42544D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Корректно пропорции сохранены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285CD91-7A9F-4A4D-BDB5-F587A09C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d7ca30c994b6a"/>
          <a:srcRect xmlns:a="http://schemas.openxmlformats.org/drawingml/2006/main" l="8994" t="0" r="89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Обрезано форма не искажена">
            <a:extLst xmlns:a="http://schemas.openxmlformats.org/drawingml/2006/main">
              <a:ext uri="{FF2B5EF4-FFF2-40B4-BE49-F238E27FC236}">
                <a16:creationId xmlns:a16="http://schemas.microsoft.com/office/drawing/2014/main" id="{D24829ED-DC51-457E-A800-20D60171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Обрезано форма не искажена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0A16BE06-09B5-4BFF-95E2-5B570611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3231401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FE1D48EA-347D-42D0-A2EE-211A01D6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A8E4FD3-A75E-440F-B1B4-E299EC2B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05945AE-1CB4-4E85-986F-58DECA6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Кадрирование связано с пикселями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8EA539B9-C823-4588-9AF6-3FA46C5E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B068E-D720-4439-B011-119A9547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F18B7-8BDF-4FF5-BB50-8A8B806A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74CE08F-359D-4EE1-9BB8-F833FFFD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Кадрирование — одновременно смысловое и техническое решение.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1BB96CFC-B243-4AF8-88DE-CF27B81F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4dbbe0b90463a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1EB9272C-B792-4140-BCE3-323119BD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9A521BC4-1E9D-44B5-8B5C-43578C3A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6ff0b60014318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После сильной обрезки остаётся…">
            <a:extLst xmlns:a="http://schemas.openxmlformats.org/drawingml/2006/main">
              <a:ext uri="{FF2B5EF4-FFF2-40B4-BE49-F238E27FC236}">
                <a16:creationId xmlns:a16="http://schemas.microsoft.com/office/drawing/2014/main" id="{D7C51398-3EA2-4D35-AB2E-FC97B8E1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После сильной обрезки остаётся меньше данных: изображение может стать слабее технически.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D17E4668-E543-45F9-AB0A-C42CD68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043897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07B119AD-2EE9-4FDF-ABF0-BAF5232B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241B8903-55CF-4100-87D2-1903003D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1BB8444-7B1C-459F-B7B2-EF7F89EA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Алгоритм подготовки изображения для web-блока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C8ACED4A-5960-42CD-A907-DF6F35A0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04C14-5A86-4930-82A2-8B0995B3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BFB20-4C61-4DD6-8914-32E781C5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CBB7A2E-AA48-460C-BF6B-934BA35D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Изображение готовится под конкретное место размещения, а не «на всякий случай».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68E5CBE-EBCD-4C6D-8D18-8846B70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a2df2f74e4468"/>
          <a:srcRect xmlns:a="http://schemas.openxmlformats.org/drawingml/2006/main" l="7409" t="0" r="74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9C553-CDFE-4F54-82C9-F111690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7AA5F-ED56-42B6-9485-90C7084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F69FE61E-DFF1-4535-9582-F1D44126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4BE95C4E-4579-4D16-B614-CDCFA5DA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F4CAF-0BC9-493E-AFAF-3E587BE9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C328E-FE94-44C3-96E4-F769D257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138215A2-ADBA-4770-9A0C-6D4C8330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начала задача, потом кадр, потом…">
            <a:extLst xmlns:a="http://schemas.openxmlformats.org/drawingml/2006/main">
              <a:ext uri="{FF2B5EF4-FFF2-40B4-BE49-F238E27FC236}">
                <a16:creationId xmlns:a16="http://schemas.microsoft.com/office/drawing/2014/main" id="{ACA8D0C5-D38F-41DF-92F5-147541ED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Сначала задача, потом кадр, потом экспорт.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E9C64-85CE-4CEE-9CA4-2F0FD339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1EFA9-2E2E-4C91-BB81-3EECC37D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1B0E1037-3A0F-450C-B492-A30570EB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Назначение">
            <a:extLst xmlns:a="http://schemas.openxmlformats.org/drawingml/2006/main">
              <a:ext uri="{FF2B5EF4-FFF2-40B4-BE49-F238E27FC236}">
                <a16:creationId xmlns:a16="http://schemas.microsoft.com/office/drawing/2014/main" id="{8ED0E8D2-2E26-45AA-96C1-0ACB79EB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BF7B2-0E3A-4408-8390-1FB87729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79DC4-87D1-4499-8F71-8B981A38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D5EB7E50-69F9-465B-B81F-2B8FCE6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Главный объект">
            <a:extLst xmlns:a="http://schemas.openxmlformats.org/drawingml/2006/main">
              <a:ext uri="{FF2B5EF4-FFF2-40B4-BE49-F238E27FC236}">
                <a16:creationId xmlns:a16="http://schemas.microsoft.com/office/drawing/2014/main" id="{8ABA1E94-92A0-48F6-A204-1CFDACB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Главный объект</a:t>
            </a:r>
          </a:p>
        </p:txBody>
      </p:sp>
    </p:spTree>
    <p:extLst>
      <p:ext uri="{BB962C8B-B14F-4D97-AF65-F5344CB8AC3E}">
        <p14:creationId xmlns:p14="http://schemas.microsoft.com/office/powerpoint/2010/main" val="13270570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29F6F89E-001C-4C30-BFF0-23EC1C9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597396D-31A1-4725-B658-E1B6BA59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94BA360-437B-4FBB-9AC6-8EADF7E2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Мини-кейс: портфолио web-дизайнера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2A13756E-F5BC-449F-A9A0-56595C00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25B93-847A-4D38-B226-4622DA33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8A05D-7508-41F6-A653-8FD942FC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3C3C1A7-2850-4F99-A3E7-319947FE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Web-дизайнер мыслит системой экранов и сценариев просмотра.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A490EBB-2577-4B7A-A95D-E06B269A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df84288ce4e6d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24D57A13-1A83-49BE-A509-9499F3B9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1EC97B0-36AF-4399-B562-6EABBC3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64f9789444fd7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Одно изображение должно выдержать…">
            <a:extLst xmlns:a="http://schemas.openxmlformats.org/drawingml/2006/main">
              <a:ext uri="{FF2B5EF4-FFF2-40B4-BE49-F238E27FC236}">
                <a16:creationId xmlns:a16="http://schemas.microsoft.com/office/drawing/2014/main" id="{7F466BE1-E0DD-404C-BE91-56C9467D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Одно изображение должно выдержать несколько точек контакта со зрителем.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EC7B5A57-B697-41D8-947F-2F39A04D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3672c348240be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Главная страница">
            <a:extLst xmlns:a="http://schemas.openxmlformats.org/drawingml/2006/main">
              <a:ext uri="{FF2B5EF4-FFF2-40B4-BE49-F238E27FC236}">
                <a16:creationId xmlns:a16="http://schemas.microsoft.com/office/drawing/2014/main" id="{EE00D43C-6327-4DA9-A422-50A97629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Главная страница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F152C14-CFE6-4906-9EB7-38304B9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fc59b30ec481b"/>
          <a:srcRect xmlns:a="http://schemas.openxmlformats.org/drawingml/2006/main" l="8966" t="0" r="8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Страница проекта">
            <a:extLst xmlns:a="http://schemas.openxmlformats.org/drawingml/2006/main">
              <a:ext uri="{FF2B5EF4-FFF2-40B4-BE49-F238E27FC236}">
                <a16:creationId xmlns:a16="http://schemas.microsoft.com/office/drawing/2014/main" id="{C4CC7CFF-E7C6-408A-8501-E0BDF22C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Страница проекта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00E9DABD-E0F0-4326-8C1B-28A7350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5278248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CD9154BC-6A32-4BDD-80AC-0B14FCC0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19B83FE-E6C7-4D0E-980F-3EF92BF6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ED1C5D4-B601-4BA2-B55A-7FDA9725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Практика: три кадра из одного исходника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1788577A-51B3-4506-B3A1-C222C6AC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181A5-D7A6-4A48-A025-84AE41A6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08A99-E32D-4529-A00B-056254A7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DE3C969-D586-4CA1-8E33-2E34C557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Практика обязательна: студент тренирует инструмент и аргументацию дизайнерского решения.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E0DB111-39EC-4292-AD43-9BE599CB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250c6d01841cc"/>
          <a:srcRect xmlns:a="http://schemas.openxmlformats.org/drawingml/2006/main" l="0" t="12558" r="0" b="12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D24C09CF-C20E-4968-9BB4-495915A6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758FC357-C4B8-4266-BB97-35DA5E5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cd6aa79924a3f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туденты делают не «красивее», а…">
            <a:extLst xmlns:a="http://schemas.openxmlformats.org/drawingml/2006/main">
              <a:ext uri="{FF2B5EF4-FFF2-40B4-BE49-F238E27FC236}">
                <a16:creationId xmlns:a16="http://schemas.microsoft.com/office/drawing/2014/main" id="{793738D3-D5E1-4CC4-BD65-3562CDCE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делают не «красивее», а осмысленнее.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47D348BA-E84C-46CF-AECC-87E24292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8039850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E4CF9755-FEB1-4644-9FC1-25991AB3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C4311FF5-48C3-4947-BD00-3A3D9299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9448FCA-5EE5-4C4D-9530-E6F54360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Чек-лист перед сохранением файла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98B8F97D-1B60-402D-9C61-F98D29EF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746FC-36E1-491B-8484-B48318AB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492B3-EAE4-4386-AAA7-6D7867D1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EEA59DB-E95F-4017-B27D-D94E6086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Формула: задача → главный объект → формат → кадр → проверка на экранах → экспорт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FAC53693-0162-41DE-9BF1-AD37256D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15ef481734eea"/>
          <a:srcRect xmlns:a="http://schemas.openxmlformats.org/drawingml/2006/main" l="7409" t="0" r="74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2C41A-82D6-4726-9BFE-4BDE49C3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5DC4B-2290-47A5-994D-879F0F8E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20BCE0F2-E94E-4C8A-B424-DE5B7A89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CBC17AF9-5F3A-4097-AFF3-DE82B3D4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A5198-2F97-42AC-B43D-1FC5DFFE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0EA2D-4D22-4AA8-8AD4-8C9A6D17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88FCEC52-2B15-4C47-985B-CCF71B51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Пять вопросов, которые защищают…">
            <a:extLst xmlns:a="http://schemas.openxmlformats.org/drawingml/2006/main">
              <a:ext uri="{FF2B5EF4-FFF2-40B4-BE49-F238E27FC236}">
                <a16:creationId xmlns:a16="http://schemas.microsoft.com/office/drawing/2014/main" id="{075A33F1-7EFC-4687-AF7E-D6B4A9D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Пять вопросов, которые защищают изображение от случайного кропа.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02F68-3DB4-4AA4-9985-ECF3C3C2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76607-74E9-4DBC-9472-6F220C3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58EA34DE-E895-44BC-8CBB-EABD6E62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Что главное?">
            <a:extLst xmlns:a="http://schemas.openxmlformats.org/drawingml/2006/main">
              <a:ext uri="{FF2B5EF4-FFF2-40B4-BE49-F238E27FC236}">
                <a16:creationId xmlns:a16="http://schemas.microsoft.com/office/drawing/2014/main" id="{8212E372-129E-4821-BA3F-BF643F68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главное?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5664F-0F41-4438-88B6-F15A93F9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94382-97DB-4548-8FE1-82542C10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ED6EFACB-21E9-49A3-AA6F-78802AAE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Важно">
            <a:extLst xmlns:a="http://schemas.openxmlformats.org/drawingml/2006/main">
              <a:ext uri="{FF2B5EF4-FFF2-40B4-BE49-F238E27FC236}">
                <a16:creationId xmlns:a16="http://schemas.microsoft.com/office/drawing/2014/main" id="{E9846FAA-8C1E-4279-93E5-38184221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</p:spTree>
    <p:extLst>
      <p:ext uri="{BB962C8B-B14F-4D97-AF65-F5344CB8AC3E}">
        <p14:creationId xmlns:p14="http://schemas.microsoft.com/office/powerpoint/2010/main" val="11056840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8BD2840F-BA7D-47AB-BEFB-DD1AF223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 кадр и масштаб меняют сообщение.pptx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B6534318-A2EF-4730-B1AA-B6C6FA60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7C6F15D-3199-48A5-AD0E-49F8A9D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Итоги занятия</a:t>
            </a:r>
          </a:p>
        </p:txBody>
      </p:sp>
      <p:sp>
        <p:nvSpPr>
          <p:cNvPr id="4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39A19777-9088-428A-A090-2895D3A7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88826-BF03-4BD9-A094-CD912249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7FD5F-DAC4-4A30-BC16-F4AF4DE2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72426FB-B25F-42A7-AF9F-4DF1FFBA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Кадрирование и масштаб — профессиональный способ управлять смыслом изображения в web-дизайне.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557DE03-706D-4E91-8EBC-79963AB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50b6022164d51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Визуальная коммуникация и…">
            <a:extLst xmlns:a="http://schemas.openxmlformats.org/drawingml/2006/main">
              <a:ext uri="{FF2B5EF4-FFF2-40B4-BE49-F238E27FC236}">
                <a16:creationId xmlns:a16="http://schemas.microsoft.com/office/drawing/2014/main" id="{7EBC9D64-FF43-44D5-BC3E-756A2823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коммуникация и подготовка графики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8EE4259-E841-4019-83CC-66E42502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27373b1e6400c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Что важно запомнить после занятия…">
            <a:extLst xmlns:a="http://schemas.openxmlformats.org/drawingml/2006/main">
              <a:ext uri="{FF2B5EF4-FFF2-40B4-BE49-F238E27FC236}">
                <a16:creationId xmlns:a16="http://schemas.microsoft.com/office/drawing/2014/main" id="{16E481D9-A273-449F-B032-4917A6E6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важно запомнить после занятия 10.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94176EA-BD5B-49E1-B0FA-D4FD6A20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ecb8e0a7649e2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Кадр задаёт границу сообщения.">
            <a:extLst xmlns:a="http://schemas.openxmlformats.org/drawingml/2006/main">
              <a:ext uri="{FF2B5EF4-FFF2-40B4-BE49-F238E27FC236}">
                <a16:creationId xmlns:a16="http://schemas.microsoft.com/office/drawing/2014/main" id="{CC6E2188-F80D-4CBC-BC5B-B13DB775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 задаёт границу сообщения.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00C5B260-A2C0-4944-8D6B-AB045722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c3cf0ecad4e32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Масштаб управляет визуальным весом.">
            <a:extLst xmlns:a="http://schemas.openxmlformats.org/drawingml/2006/main">
              <a:ext uri="{FF2B5EF4-FFF2-40B4-BE49-F238E27FC236}">
                <a16:creationId xmlns:a16="http://schemas.microsoft.com/office/drawing/2014/main" id="{4FE8D727-D344-48E7-8614-5709782D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Масштаб управляет визуальным весом.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FA3F13D-3E9E-4661-AE55-94277CBB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31796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2026-09-13T13:17:36.1850000Z</dcterms:created>
  <dcterms:modified xsi:type="dcterms:W3CDTF">2026-09-13T13:17:36.1850000Z</dcterms:modified>
</coreProperties>
</file>