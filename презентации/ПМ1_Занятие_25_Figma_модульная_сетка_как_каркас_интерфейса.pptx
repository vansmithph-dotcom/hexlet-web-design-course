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ec89a41a324f05" /><Relationship Type="http://schemas.openxmlformats.org/officeDocument/2006/relationships/extended-properties" Target="/docProps/app.xml" Id="Re7d37b02913f42b1" /><Relationship Type="http://schemas.openxmlformats.org/officeDocument/2006/relationships/officeDocument" Target="/ppt/presentation.xml" Id="R4bcaaad11faf4d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bdd122fd284a1f"/>
  </p:sldMasterIdLst>
  <p:notesMasterIdLst>
    <p:notesMasterId xmlns:r="http://schemas.openxmlformats.org/officeDocument/2006/relationships" r:id="Rb921524243604310"/>
  </p:notesMasterIdLst>
  <p:sldIdLst>
    <p:sldId xmlns:r="http://schemas.openxmlformats.org/officeDocument/2006/relationships" id="256" r:id="Rc32e5dc1f5344a3b"/>
    <p:sldId xmlns:r="http://schemas.openxmlformats.org/officeDocument/2006/relationships" id="257" r:id="R70f22836834640c7"/>
    <p:sldId xmlns:r="http://schemas.openxmlformats.org/officeDocument/2006/relationships" id="258" r:id="R280f5df1974b4dac"/>
    <p:sldId xmlns:r="http://schemas.openxmlformats.org/officeDocument/2006/relationships" id="259" r:id="Rd0cee38a2ce14883"/>
    <p:sldId xmlns:r="http://schemas.openxmlformats.org/officeDocument/2006/relationships" id="260" r:id="R4c3716d8b0904c2f"/>
    <p:sldId xmlns:r="http://schemas.openxmlformats.org/officeDocument/2006/relationships" id="261" r:id="Ra1b8ea41873a45cf"/>
    <p:sldId xmlns:r="http://schemas.openxmlformats.org/officeDocument/2006/relationships" id="262" r:id="R90c0704023594f02"/>
    <p:sldId xmlns:r="http://schemas.openxmlformats.org/officeDocument/2006/relationships" id="263" r:id="R51359a945db448d6"/>
    <p:sldId xmlns:r="http://schemas.openxmlformats.org/officeDocument/2006/relationships" id="264" r:id="R861262fbac2a4063"/>
    <p:sldId xmlns:r="http://schemas.openxmlformats.org/officeDocument/2006/relationships" id="265" r:id="R0bf304537f46441d"/>
    <p:sldId xmlns:r="http://schemas.openxmlformats.org/officeDocument/2006/relationships" id="266" r:id="R017f1cd5522740cf"/>
    <p:sldId xmlns:r="http://schemas.openxmlformats.org/officeDocument/2006/relationships" id="267" r:id="Rc88165ef83a94ae7"/>
    <p:sldId xmlns:r="http://schemas.openxmlformats.org/officeDocument/2006/relationships" id="268" r:id="Rdf73e53c357f44c7"/>
    <p:sldId xmlns:r="http://schemas.openxmlformats.org/officeDocument/2006/relationships" id="269" r:id="R487252b225144723"/>
    <p:sldId xmlns:r="http://schemas.openxmlformats.org/officeDocument/2006/relationships" id="270" r:id="R173ab2799dec46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ed3642dbc44dae" /><Relationship Type="http://schemas.openxmlformats.org/officeDocument/2006/relationships/slideMaster" Target="/ppt/slideMasters/slideMaster1.xml" Id="R48bdd122fd284a1f" /><Relationship Type="http://schemas.openxmlformats.org/officeDocument/2006/relationships/notesMaster" Target="/ppt/notesMasters/notesMaster1.xml" Id="Rb921524243604310" /><Relationship Type="http://schemas.openxmlformats.org/officeDocument/2006/relationships/presProps" Target="/ppt/presProps.xml" Id="Rbf6df9076a124724" /><Relationship Type="http://schemas.openxmlformats.org/officeDocument/2006/relationships/tableStyles" Target="/ppt/tableStyles.xml" Id="R86d684f991ed4d49" /><Relationship Type="http://schemas.openxmlformats.org/officeDocument/2006/relationships/slide" Target="/ppt/slides/slide1.xml" Id="Rc32e5dc1f5344a3b" /><Relationship Type="http://schemas.openxmlformats.org/officeDocument/2006/relationships/slide" Target="/ppt/slides/slide2.xml" Id="R70f22836834640c7" /><Relationship Type="http://schemas.openxmlformats.org/officeDocument/2006/relationships/slide" Target="/ppt/slides/slide3.xml" Id="R280f5df1974b4dac" /><Relationship Type="http://schemas.openxmlformats.org/officeDocument/2006/relationships/slide" Target="/ppt/slides/slide4.xml" Id="Rd0cee38a2ce14883" /><Relationship Type="http://schemas.openxmlformats.org/officeDocument/2006/relationships/slide" Target="/ppt/slides/slide5.xml" Id="R4c3716d8b0904c2f" /><Relationship Type="http://schemas.openxmlformats.org/officeDocument/2006/relationships/slide" Target="/ppt/slides/slide6.xml" Id="Ra1b8ea41873a45cf" /><Relationship Type="http://schemas.openxmlformats.org/officeDocument/2006/relationships/slide" Target="/ppt/slides/slide7.xml" Id="R90c0704023594f02" /><Relationship Type="http://schemas.openxmlformats.org/officeDocument/2006/relationships/slide" Target="/ppt/slides/slide8.xml" Id="R51359a945db448d6" /><Relationship Type="http://schemas.openxmlformats.org/officeDocument/2006/relationships/slide" Target="/ppt/slides/slide9.xml" Id="R861262fbac2a4063" /><Relationship Type="http://schemas.openxmlformats.org/officeDocument/2006/relationships/slide" Target="/ppt/slides/slide10.xml" Id="R0bf304537f46441d" /><Relationship Type="http://schemas.openxmlformats.org/officeDocument/2006/relationships/slide" Target="/ppt/slides/slide11.xml" Id="R017f1cd5522740cf" /><Relationship Type="http://schemas.openxmlformats.org/officeDocument/2006/relationships/slide" Target="/ppt/slides/slide12.xml" Id="Rc88165ef83a94ae7" /><Relationship Type="http://schemas.openxmlformats.org/officeDocument/2006/relationships/slide" Target="/ppt/slides/slide13.xml" Id="Rdf73e53c357f44c7" /><Relationship Type="http://schemas.openxmlformats.org/officeDocument/2006/relationships/slide" Target="/ppt/slides/slide14.xml" Id="R487252b225144723" /><Relationship Type="http://schemas.openxmlformats.org/officeDocument/2006/relationships/slide" Target="/ppt/slides/slide15.xml" Id="R173ab2799dec46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f8d7f9d4cf4e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d467050be74192" /><Relationship Type="http://schemas.openxmlformats.org/officeDocument/2006/relationships/notesMaster" Target="/ppt/notesMasters/notesMaster1.xml" Id="R27f8bf6542f447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5fa57793ae4bfa" /><Relationship Type="http://schemas.openxmlformats.org/officeDocument/2006/relationships/notesMaster" Target="/ppt/notesMasters/notesMaster1.xml" Id="Raac7f12a11bb43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8e20c5e818489a" /><Relationship Type="http://schemas.openxmlformats.org/officeDocument/2006/relationships/notesMaster" Target="/ppt/notesMasters/notesMaster1.xml" Id="R6d9bc0b80e024d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8aaa8ac8b9400d" /><Relationship Type="http://schemas.openxmlformats.org/officeDocument/2006/relationships/notesMaster" Target="/ppt/notesMasters/notesMaster1.xml" Id="Rb77b8c9522c64b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41d5c716134757" /><Relationship Type="http://schemas.openxmlformats.org/officeDocument/2006/relationships/notesMaster" Target="/ppt/notesMasters/notesMaster1.xml" Id="R6a28fef199ed43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b7218336a1438e" /><Relationship Type="http://schemas.openxmlformats.org/officeDocument/2006/relationships/notesMaster" Target="/ppt/notesMasters/notesMaster1.xml" Id="R81cb1da15fb648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b84db4bfae4a37" /><Relationship Type="http://schemas.openxmlformats.org/officeDocument/2006/relationships/notesMaster" Target="/ppt/notesMasters/notesMaster1.xml" Id="R9e6ed339ef1c40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53bdd4508d4e36" /><Relationship Type="http://schemas.openxmlformats.org/officeDocument/2006/relationships/notesMaster" Target="/ppt/notesMasters/notesMaster1.xml" Id="Rb0e7a65d9a4542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c0037409b94536" /><Relationship Type="http://schemas.openxmlformats.org/officeDocument/2006/relationships/notesMaster" Target="/ppt/notesMasters/notesMaster1.xml" Id="Rba9d400c683a47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d3347aa3c94a25" /><Relationship Type="http://schemas.openxmlformats.org/officeDocument/2006/relationships/notesMaster" Target="/ppt/notesMasters/notesMaster1.xml" Id="Ra908a3988ecc4d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d7a64854c64fb3" /><Relationship Type="http://schemas.openxmlformats.org/officeDocument/2006/relationships/notesMaster" Target="/ppt/notesMasters/notesMaster1.xml" Id="R16c75c01795247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61f29015304b3b" /><Relationship Type="http://schemas.openxmlformats.org/officeDocument/2006/relationships/notesMaster" Target="/ppt/notesMasters/notesMaster1.xml" Id="R6048bb11dd6a4b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a61ccaa6da476d" /><Relationship Type="http://schemas.openxmlformats.org/officeDocument/2006/relationships/notesMaster" Target="/ppt/notesMasters/notesMaster1.xml" Id="Rf427db55551846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1b0b6e738c4017" /><Relationship Type="http://schemas.openxmlformats.org/officeDocument/2006/relationships/notesMaster" Target="/ppt/notesMasters/notesMaster1.xml" Id="Reab15cb1effc40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20d8f62efb34d6c" /><Relationship Type="http://schemas.openxmlformats.org/officeDocument/2006/relationships/notesMaster" Target="/ppt/notesMasters/notesMaster1.xml" Id="Rfc65ca2e1f3743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Обложка. Обязательное hero-изображение РО 1.1. Тема: Figma модульная сетка как каркас интерфейса.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Зачем это занятие.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Проблема, которую решает занятие.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Ключевые понятия.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Рабочий алгоритм.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Показ преподавателя: действие, объяснение, повтор первого шага, самостоятельное усложнение.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Показ преподавателя: действие и объяснение.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Зачем нужен этот приём.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Пары: сравнение по одному критерию.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Пять вопросов к работе.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Разбор ответов студентов.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Интерактив: найдите пять признаков.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Практика: от повтора к самостоятельному решению.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Как звучит сильный вывод.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Проверка результата.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Итоги занятия.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П025;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0014b460d47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dbdf42b974aed" /><Relationship Type="http://schemas.openxmlformats.org/officeDocument/2006/relationships/slideLayout" Target="/ppt/slideLayouts/slideLayout1.xml" Id="R1327d80bb29443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7d80bb29443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f0564daf04136" /><Relationship Type="http://schemas.openxmlformats.org/officeDocument/2006/relationships/image" Target="/ppt/media/image.png" Id="Rf14dca4e88344a5a" /><Relationship Type="http://schemas.openxmlformats.org/officeDocument/2006/relationships/notesSlide" Target="/ppt/notesSlides/notesSlide1.xml" Id="Recad903667db40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bbd154efe4422" /><Relationship Type="http://schemas.openxmlformats.org/officeDocument/2006/relationships/image" Target="/ppt/media/image.jpeg" Id="Ra2b1aaf4437f470d" /><Relationship Type="http://schemas.openxmlformats.org/officeDocument/2006/relationships/image" Target="/ppt/media/image2.jpeg" Id="Rdac0ff8717a148e9" /><Relationship Type="http://schemas.openxmlformats.org/officeDocument/2006/relationships/image" Target="/ppt/media/image3.jpeg" Id="Ra4ce607618614659" /><Relationship Type="http://schemas.openxmlformats.org/officeDocument/2006/relationships/image" Target="/ppt/media/image4.jpeg" Id="Rf7d29d2418f34bd8" /><Relationship Type="http://schemas.openxmlformats.org/officeDocument/2006/relationships/notesSlide" Target="/ppt/notesSlides/notesSlide2.xml" Id="R84af1da358eb4c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60792cc9a43bd" /><Relationship Type="http://schemas.openxmlformats.org/officeDocument/2006/relationships/image" Target="/ppt/media/image5.jpeg" Id="Rec65c28f1e594aed" /><Relationship Type="http://schemas.openxmlformats.org/officeDocument/2006/relationships/image" Target="/ppt/media/image6.jpeg" Id="R1a65c000005e4e4f" /><Relationship Type="http://schemas.openxmlformats.org/officeDocument/2006/relationships/notesSlide" Target="/ppt/notesSlides/notesSlide3.xml" Id="Rf7b2c292d20146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0f1758996461f" /><Relationship Type="http://schemas.openxmlformats.org/officeDocument/2006/relationships/image" Target="/ppt/media/image7.jpeg" Id="Rb07b5665f16b4f1b" /><Relationship Type="http://schemas.openxmlformats.org/officeDocument/2006/relationships/notesSlide" Target="/ppt/notesSlides/notesSlide4.xml" Id="Readcc8f5d7c749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7eb742b7c4e7c" /><Relationship Type="http://schemas.openxmlformats.org/officeDocument/2006/relationships/image" Target="/ppt/media/image8.jpeg" Id="Rcea0f8443c6f4283" /><Relationship Type="http://schemas.openxmlformats.org/officeDocument/2006/relationships/image" Target="/ppt/media/image9.jpeg" Id="R9b4009b3d6cd4e68" /><Relationship Type="http://schemas.openxmlformats.org/officeDocument/2006/relationships/image" Target="/ppt/media/image10.jpeg" Id="Ra69842e50c4e45e7" /><Relationship Type="http://schemas.openxmlformats.org/officeDocument/2006/relationships/image" Target="/ppt/media/image11.jpeg" Id="R46f461d8e2d1488f" /><Relationship Type="http://schemas.openxmlformats.org/officeDocument/2006/relationships/notesSlide" Target="/ppt/notesSlides/notesSlide5.xml" Id="Rdff38e1fe11b40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fd0df2fc14581" /><Relationship Type="http://schemas.openxmlformats.org/officeDocument/2006/relationships/image" Target="/ppt/media/image12.jpeg" Id="Rf467b2a271b646bc" /><Relationship Type="http://schemas.openxmlformats.org/officeDocument/2006/relationships/image" Target="/ppt/media/image13.jpeg" Id="R3cfb9480f3984c03" /><Relationship Type="http://schemas.openxmlformats.org/officeDocument/2006/relationships/notesSlide" Target="/ppt/notesSlides/notesSlide6.xml" Id="Rc9383144ac5849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ecb68ca2c4f51" /><Relationship Type="http://schemas.openxmlformats.org/officeDocument/2006/relationships/image" Target="/ppt/media/image14.jpeg" Id="R28f96c78a6f8470e" /><Relationship Type="http://schemas.openxmlformats.org/officeDocument/2006/relationships/notesSlide" Target="/ppt/notesSlides/notesSlide7.xml" Id="R8d2f7d044c1b49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d72392bfb419e" /><Relationship Type="http://schemas.openxmlformats.org/officeDocument/2006/relationships/image" Target="/ppt/media/image15.jpeg" Id="R689b3929fb7c4519" /><Relationship Type="http://schemas.openxmlformats.org/officeDocument/2006/relationships/image" Target="/ppt/media/image16.jpeg" Id="R2de3a11748034ffd" /><Relationship Type="http://schemas.openxmlformats.org/officeDocument/2006/relationships/image" Target="/ppt/media/image17.jpeg" Id="R5a725012e9ba4769" /><Relationship Type="http://schemas.openxmlformats.org/officeDocument/2006/relationships/image" Target="/ppt/media/image18.jpeg" Id="R540f92ffc841498e" /><Relationship Type="http://schemas.openxmlformats.org/officeDocument/2006/relationships/notesSlide" Target="/ppt/notesSlides/notesSlide8.xml" Id="R12f8fbeb932c4e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b6d05f7274e42" /><Relationship Type="http://schemas.openxmlformats.org/officeDocument/2006/relationships/image" Target="/ppt/media/image19.jpeg" Id="Rad8a45cd7ef64be9" /><Relationship Type="http://schemas.openxmlformats.org/officeDocument/2006/relationships/image" Target="/ppt/media/image20.jpeg" Id="R2a0809c81adb42ce" /><Relationship Type="http://schemas.openxmlformats.org/officeDocument/2006/relationships/notesSlide" Target="/ppt/notesSlides/notesSlide9.xml" Id="R270ade50019c46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042bc8f49424d" /><Relationship Type="http://schemas.openxmlformats.org/officeDocument/2006/relationships/image" Target="/ppt/media/image21.jpeg" Id="Rc30d1f1bd4244721" /><Relationship Type="http://schemas.openxmlformats.org/officeDocument/2006/relationships/notesSlide" Target="/ppt/notesSlides/notesSlide10.xml" Id="R331e23109e8242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0ce87040f4256" /><Relationship Type="http://schemas.openxmlformats.org/officeDocument/2006/relationships/image" Target="/ppt/media/image22.jpeg" Id="R3ffb968d71e849cc" /><Relationship Type="http://schemas.openxmlformats.org/officeDocument/2006/relationships/image" Target="/ppt/media/image23.jpeg" Id="Rfbb31286221045af" /><Relationship Type="http://schemas.openxmlformats.org/officeDocument/2006/relationships/image" Target="/ppt/media/image24.jpeg" Id="R72705808bc714df5" /><Relationship Type="http://schemas.openxmlformats.org/officeDocument/2006/relationships/image" Target="/ppt/media/image25.jpeg" Id="R416a4b7cf1af4b07" /><Relationship Type="http://schemas.openxmlformats.org/officeDocument/2006/relationships/notesSlide" Target="/ppt/notesSlides/notesSlide11.xml" Id="Rfeec5ddeb5374b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f6e0693284913" /><Relationship Type="http://schemas.openxmlformats.org/officeDocument/2006/relationships/image" Target="/ppt/media/image26.jpeg" Id="R760cfa2a513e4df3" /><Relationship Type="http://schemas.openxmlformats.org/officeDocument/2006/relationships/image" Target="/ppt/media/image27.jpeg" Id="Rc3495ffff9044a4b" /><Relationship Type="http://schemas.openxmlformats.org/officeDocument/2006/relationships/notesSlide" Target="/ppt/notesSlides/notesSlide12.xml" Id="R448e7276428645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1f2efaaad4c21" /><Relationship Type="http://schemas.openxmlformats.org/officeDocument/2006/relationships/image" Target="/ppt/media/image28.jpeg" Id="R89b6d99dac464497" /><Relationship Type="http://schemas.openxmlformats.org/officeDocument/2006/relationships/notesSlide" Target="/ppt/notesSlides/notesSlide13.xml" Id="R2506fcc0bd3e48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d842682444173" /><Relationship Type="http://schemas.openxmlformats.org/officeDocument/2006/relationships/image" Target="/ppt/media/image29.jpeg" Id="R1a514dfa0be64df5" /><Relationship Type="http://schemas.openxmlformats.org/officeDocument/2006/relationships/image" Target="/ppt/media/image30.jpeg" Id="R37a8bdcf8b1b4249" /><Relationship Type="http://schemas.openxmlformats.org/officeDocument/2006/relationships/image" Target="/ppt/media/image31.jpeg" Id="R56b7adda9cef4103" /><Relationship Type="http://schemas.openxmlformats.org/officeDocument/2006/relationships/image" Target="/ppt/media/image32.jpeg" Id="R19e93a253f834b7a" /><Relationship Type="http://schemas.openxmlformats.org/officeDocument/2006/relationships/notesSlide" Target="/ppt/notesSlides/notesSlide14.xml" Id="R91024076891d40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3b1d7d327464a" /><Relationship Type="http://schemas.openxmlformats.org/officeDocument/2006/relationships/image" Target="/ppt/media/image33.jpeg" Id="R0efa87b49ad54482" /><Relationship Type="http://schemas.openxmlformats.org/officeDocument/2006/relationships/image" Target="/ppt/media/image34.jpeg" Id="R4763c24aaa2548ab" /><Relationship Type="http://schemas.openxmlformats.org/officeDocument/2006/relationships/notesSlide" Target="/ppt/notesSlides/notesSlide15.xml" Id="R2466d081165f4c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dca4e88344a5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CF625-5B28-4F01-BE63-4C9CF49E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Хекслет Колледж">
            <a:extLst xmlns:a="http://schemas.openxmlformats.org/drawingml/2006/main">
              <a:ext uri="{FF2B5EF4-FFF2-40B4-BE49-F238E27FC236}">
                <a16:creationId xmlns:a16="http://schemas.microsoft.com/office/drawing/2014/main" id="{C9B25F01-CE31-4920-9540-772E5E71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4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ПМ1 · Сканирование и обработка…">
            <a:extLst xmlns:a="http://schemas.openxmlformats.org/drawingml/2006/main">
              <a:ext uri="{FF2B5EF4-FFF2-40B4-BE49-F238E27FC236}">
                <a16:creationId xmlns:a16="http://schemas.microsoft.com/office/drawing/2014/main" id="{295E9E21-F8B2-4843-BDBE-760AB2FA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66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Занятие 25">
            <a:extLst xmlns:a="http://schemas.openxmlformats.org/drawingml/2006/main">
              <a:ext uri="{FF2B5EF4-FFF2-40B4-BE49-F238E27FC236}">
                <a16:creationId xmlns:a16="http://schemas.microsoft.com/office/drawing/2014/main" id="{D9F4BEEA-63A0-4FE9-BCDB-6396B7FF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620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25</a:t>
            </a:r>
          </a:p>
        </p:txBody>
      </p:sp>
      <p:sp>
        <p:nvSpPr>
          <p:cNvPr id="6" name="Figma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5E16AF53-A4C9-433C-9433-C44160F8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38350"/>
            <a:ext cx="3143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7" name="От инструмента к обоснованному…">
            <a:extLst xmlns:a="http://schemas.openxmlformats.org/drawingml/2006/main">
              <a:ext uri="{FF2B5EF4-FFF2-40B4-BE49-F238E27FC236}">
                <a16:creationId xmlns:a16="http://schemas.microsoft.com/office/drawing/2014/main" id="{EB2B0CC9-1FCF-477E-A9E6-AC8E64C8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481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инструмента к обоснованному</a:t>
            </a:r>
          </a:p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визуальному решению</a:t>
            </a:r>
          </a:p>
        </p:txBody>
      </p:sp>
      <p:sp>
        <p:nvSpPr>
          <p:cNvPr id="8" name="люди · идеи · инструменты ·…">
            <a:extLst xmlns:a="http://schemas.openxmlformats.org/drawingml/2006/main">
              <a:ext uri="{FF2B5EF4-FFF2-40B4-BE49-F238E27FC236}">
                <a16:creationId xmlns:a16="http://schemas.microsoft.com/office/drawing/2014/main" id="{9EA69B72-F982-43B3-974C-5A7707BF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334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E8587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1611852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64739EF5-8516-4E34-894B-924AE7DB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131097F6-D0CA-4E84-B4DB-6FBD201B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D08416E-E87D-4FC8-B723-A8500D6C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это занятие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2130C832-F19D-41EC-AD16-C9554442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A8D6F-164E-409D-8B4C-13700577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77F41-481A-4F19-8602-49B8437E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E313BBE2-D457-48DD-A734-EC0A5808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Настроить модульную сетку и собрать по ней первый экран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DAE89BA2-C242-4FF6-A675-147B5C05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1aaf4437f470d"/>
          <a:srcRect xmlns:a="http://schemas.openxmlformats.org/drawingml/2006/main" l="8919" t="0" r="89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E1E7D419-753A-444B-8502-CAD3422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0D9E8CF-3171-4EF3-8FEB-6C909331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0ff8717a148e9"/>
          <a:srcRect xmlns:a="http://schemas.openxmlformats.org/drawingml/2006/main" l="6844" t="0" r="68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Настроить модульную сетку и…">
            <a:extLst xmlns:a="http://schemas.openxmlformats.org/drawingml/2006/main">
              <a:ext uri="{FF2B5EF4-FFF2-40B4-BE49-F238E27FC236}">
                <a16:creationId xmlns:a16="http://schemas.microsoft.com/office/drawing/2014/main" id="{17B00E6B-271F-476F-9F93-A7F4C9A6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Настроить модульную сетку и собрать по ней первый экран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D616B704-CE64-40E9-AA38-E38D0853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e607618614659"/>
          <a:srcRect xmlns:a="http://schemas.openxmlformats.org/drawingml/2006/main" l="4275" t="0" r="42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объяснение и разбор примера">
            <a:extLst xmlns:a="http://schemas.openxmlformats.org/drawingml/2006/main">
              <a:ext uri="{FF2B5EF4-FFF2-40B4-BE49-F238E27FC236}">
                <a16:creationId xmlns:a16="http://schemas.microsoft.com/office/drawing/2014/main" id="{49E2569E-D16A-4507-B940-D194A1D0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объяснение и разбор примера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6981D7C-D821-4333-B34F-827E32A7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29d2418f34bd8"/>
          <a:srcRect xmlns:a="http://schemas.openxmlformats.org/drawingml/2006/main" l="6844" t="0" r="68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15 мин">
            <a:extLst xmlns:a="http://schemas.openxmlformats.org/drawingml/2006/main">
              <a:ext uri="{FF2B5EF4-FFF2-40B4-BE49-F238E27FC236}">
                <a16:creationId xmlns:a16="http://schemas.microsoft.com/office/drawing/2014/main" id="{4B3F1B68-9E0D-4E00-94FE-36B01A95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15 мин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7048D1C0-FB43-421B-820A-EC0AC41C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442020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2F6A31A2-6A68-4E80-B628-4F408ACD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21FA407B-C31B-4F45-96E6-468B7A49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8172157-D621-4766-9773-CBE481A9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Проблема, которую решает занятие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84DEDDF5-45E6-46AE-9884-84709F05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2CDA3-0CBB-476F-B983-B3ABB24A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0DF58-9E35-4588-89AB-C04E6EB4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D7CC6730-4372-414E-AEC3-54E0A2FF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задача задаёт критерий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105A2F0A-99E0-490E-96FB-E3C0E9F6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5c28f1e594aed"/>
          <a:srcRect xmlns:a="http://schemas.openxmlformats.org/drawingml/2006/main" l="0" t="14388" r="0" b="143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7ED7CC3A-EE0F-4886-AC67-B476D92A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DF243820-2304-4BC4-A942-7F5CFDDB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5c000005e4e4f"/>
          <a:srcRect xmlns:a="http://schemas.openxmlformats.org/drawingml/2006/main" l="0" t="14414" r="0" b="14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ПРОБЛЕМА">
            <a:extLst xmlns:a="http://schemas.openxmlformats.org/drawingml/2006/main">
              <a:ext uri="{FF2B5EF4-FFF2-40B4-BE49-F238E27FC236}">
                <a16:creationId xmlns:a16="http://schemas.microsoft.com/office/drawing/2014/main" id="{11331639-AA93-49A7-990A-61EFD592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A24928B4-59D0-4056-8404-C4D01E80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270286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5B767AFE-B470-4064-A7CB-0AA014C7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AB90B714-01A9-406B-9125-7F7A6E23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8836927-8896-4FC9-B93C-F9277F71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Ключевые понятия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49BC272D-778D-418B-89CA-5C0D74B5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614E1-AAE2-4865-853A-C4DF8886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B3D12-8133-418B-A3E1-6DAAF524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433FBFE6-C9C8-4621-B382-67EC3F64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понятия связывают действие и результат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3EA5F2AA-D96C-419F-9082-75CD813B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b5665f16b4f1b"/>
          <a:srcRect xmlns:a="http://schemas.openxmlformats.org/drawingml/2006/main" l="5234" t="0" r="52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BC10D-CE90-475E-B436-F23A0700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109AF-9E2B-4BEB-9F26-60F82E71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8D26EAE3-6B41-4E49-A704-3B159F35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98CC108D-225C-41C6-855B-92F715E3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6C722-7509-44F3-AD47-98406069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C24C2-9C11-47EC-B4AE-2A32BDB4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951ACD53-1BBE-4E00-9493-1390E210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Термины нужны для точного…">
            <a:extLst xmlns:a="http://schemas.openxmlformats.org/drawingml/2006/main">
              <a:ext uri="{FF2B5EF4-FFF2-40B4-BE49-F238E27FC236}">
                <a16:creationId xmlns:a16="http://schemas.microsoft.com/office/drawing/2014/main" id="{2BFBA2CF-76F3-423E-A851-5682F930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Термины нужны для точного объяснения решения.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FCBE2-3E4B-47B7-BE74-B085E3B5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22124-593F-4385-A520-237F1749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D448CD24-246D-420B-A71E-30B5B129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Колонка">
            <a:extLst xmlns:a="http://schemas.openxmlformats.org/drawingml/2006/main">
              <a:ext uri="{FF2B5EF4-FFF2-40B4-BE49-F238E27FC236}">
                <a16:creationId xmlns:a16="http://schemas.microsoft.com/office/drawing/2014/main" id="{0ABF3DA2-5B0C-4369-B838-9B6A5553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Колонка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107EC-9954-4345-99CB-E6D20C7F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57DBF-AEDF-473D-8DC7-3D76D4D7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EE28EACA-27A1-4FCE-9A20-F302FC49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вертикальный модуль сетки">
            <a:extLst xmlns:a="http://schemas.openxmlformats.org/drawingml/2006/main">
              <a:ext uri="{FF2B5EF4-FFF2-40B4-BE49-F238E27FC236}">
                <a16:creationId xmlns:a16="http://schemas.microsoft.com/office/drawing/2014/main" id="{384CB619-8C0C-4FAE-A419-43074AAB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вертикальный модуль сетки</a:t>
            </a:r>
          </a:p>
        </p:txBody>
      </p:sp>
    </p:spTree>
    <p:extLst>
      <p:ext uri="{BB962C8B-B14F-4D97-AF65-F5344CB8AC3E}">
        <p14:creationId xmlns:p14="http://schemas.microsoft.com/office/powerpoint/2010/main" val="2068750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Тема">
            <a:extLst xmlns:a="http://schemas.openxmlformats.org/drawingml/2006/main">
              <a:ext uri="{FF2B5EF4-FFF2-40B4-BE49-F238E27FC236}">
                <a16:creationId xmlns:a16="http://schemas.microsoft.com/office/drawing/2014/main" id="{44E5FD22-B4F7-4F7B-A7B6-C78B3814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0F557393-4279-4D9B-9BE6-A60F08AD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3907070-F339-404A-8CDD-18F91D02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→ объяснение → повтор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3AF13C6D-ACD7-4A2A-90C9-A8CA257F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9D91E-F937-4A95-8374-9913E22D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7B8E6-4CC1-46A3-9A38-EC1FAA15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5D73CA8C-0AF1-4041-9787-DA7D5DE5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один шаг — один проверяемый результат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AD63F024-58B2-4DDA-896D-EE27F6F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0A159-7892-4679-82C3-E68FF9BC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C5F56-53DC-48D3-9102-63AB1853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A8AE37E3-BB6E-4F1C-AD3A-97F84CDD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0f8443c6f4283"/>
          <a:srcRect xmlns:a="http://schemas.openxmlformats.org/drawingml/2006/main" l="0" t="4637" r="0" b="4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3" name="Преподаватель показывает действие…">
            <a:extLst xmlns:a="http://schemas.openxmlformats.org/drawingml/2006/main">
              <a:ext uri="{FF2B5EF4-FFF2-40B4-BE49-F238E27FC236}">
                <a16:creationId xmlns:a16="http://schemas.microsoft.com/office/drawing/2014/main" id="{F04292A5-48D5-481D-A416-615E2211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показывает действие в рабочем файле.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6C48E-5316-4F7C-AB1F-76A9F427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19528-AE15-436F-8A98-E8C5678F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E08BAE2A-1D3A-490F-BE6D-D1901243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009b3d6cd4e68"/>
          <a:srcRect xmlns:a="http://schemas.openxmlformats.org/drawingml/2006/main" l="0" t="2381" r="0" b="2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47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Вслух объясняет выбор инструмента…">
            <a:extLst xmlns:a="http://schemas.openxmlformats.org/drawingml/2006/main">
              <a:ext uri="{FF2B5EF4-FFF2-40B4-BE49-F238E27FC236}">
                <a16:creationId xmlns:a16="http://schemas.microsoft.com/office/drawing/2014/main" id="{18DC337B-0BDB-4BE3-B528-823F69D4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Вслух объясняет выбор инструмента и критерия.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830CF-D370-4A40-9957-B7EA22AC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71D55-5779-431D-AA04-9C7DECC7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3">
            <a:extLst xmlns:a="http://schemas.openxmlformats.org/drawingml/2006/main">
              <a:ext uri="{FF2B5EF4-FFF2-40B4-BE49-F238E27FC236}">
                <a16:creationId xmlns:a16="http://schemas.microsoft.com/office/drawing/2014/main" id="{36320B8A-0691-48E3-947F-A42A9653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842e50c4e45e7"/>
          <a:srcRect xmlns:a="http://schemas.openxmlformats.org/drawingml/2006/main" l="0" t="4670" r="0" b="46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3" name="Студенты повторяют первый шаг.">
            <a:extLst xmlns:a="http://schemas.openxmlformats.org/drawingml/2006/main">
              <a:ext uri="{FF2B5EF4-FFF2-40B4-BE49-F238E27FC236}">
                <a16:creationId xmlns:a16="http://schemas.microsoft.com/office/drawing/2014/main" id="{2085F676-1027-4FC1-983F-4BB029EC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Студенты повторяют первый шаг.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3546B-0FE9-4C93-97FD-9B976517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A8B0A-8583-4C32-A825-AE62583E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4">
            <a:extLst xmlns:a="http://schemas.openxmlformats.org/drawingml/2006/main">
              <a:ext uri="{FF2B5EF4-FFF2-40B4-BE49-F238E27FC236}">
                <a16:creationId xmlns:a16="http://schemas.microsoft.com/office/drawing/2014/main" id="{76F7FF65-DEE9-4115-BA0A-ED619268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461d8e2d1488f"/>
          <a:srcRect xmlns:a="http://schemas.openxmlformats.org/drawingml/2006/main" l="0" t="7217" r="0" b="72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30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8" name="Самостоятельно усложняют…">
            <a:extLst xmlns:a="http://schemas.openxmlformats.org/drawingml/2006/main">
              <a:ext uri="{FF2B5EF4-FFF2-40B4-BE49-F238E27FC236}">
                <a16:creationId xmlns:a16="http://schemas.microsoft.com/office/drawing/2014/main" id="{FEA9959E-E775-441E-A4CA-85682E0B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Самостоятельно усложняют результат и проверяют его.</a:t>
            </a:r>
          </a:p>
        </p:txBody>
      </p:sp>
    </p:spTree>
    <p:extLst>
      <p:ext uri="{BB962C8B-B14F-4D97-AF65-F5344CB8AC3E}">
        <p14:creationId xmlns:p14="http://schemas.microsoft.com/office/powerpoint/2010/main" val="2604284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5AA43839-E299-4993-8CF5-4CE0DC4E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B6D1AB24-C1AF-4229-93B8-F88A7B1C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2235F78-B7C6-48FA-A19E-CD6D2522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и объяснение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F44458B5-ED72-425A-8D68-D225EDCC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D0776-B47D-4569-B901-C698DEBB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45060-5BAD-49D7-93CC-8FD0F37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F2A8A3B-07AF-4FC7-93B9-104A5B6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преподаватель показывает, объясняет и передаёт первый шаг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702B022E-98BC-4E3D-BC6A-68B9F596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7b2a271b646bc"/>
          <a:srcRect xmlns:a="http://schemas.openxmlformats.org/drawingml/2006/main" l="0" t="14414" r="0" b="14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44A6CF16-9C21-441E-9ED7-BDB95714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FBB1A3E9-78B8-4F0A-BB58-D96C0E6D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b9480f3984c03"/>
          <a:srcRect xmlns:a="http://schemas.openxmlformats.org/drawingml/2006/main" l="0" t="14388" r="0" b="143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Преподаватель выполняет короткую…">
            <a:extLst xmlns:a="http://schemas.openxmlformats.org/drawingml/2006/main">
              <a:ext uri="{FF2B5EF4-FFF2-40B4-BE49-F238E27FC236}">
                <a16:creationId xmlns:a16="http://schemas.microsoft.com/office/drawing/2014/main" id="{15844DD6-42CF-4FF8-B2A9-27E9366F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выполняет короткую последовательность, вслух объясняет выбор, затем передаёт студентам первый шаг.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2119C11E-7C47-4622-A3EC-D9D493F3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37781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BDA12A31-5E51-429B-A78C-85122D1C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D5E3E2FA-EC2C-4275-9CE1-434CBA08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9863658D-ADB7-4A40-812C-19ABCF81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нужен этот приём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4894844A-97AD-45C5-A401-389E1349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57B71-989E-46B9-9B1A-11F1E7B4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B8CC2-A177-47C5-8491-6A7EF3F9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A1848C81-41C6-4608-8774-F92BA453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решение связано с назначением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405E234A-6677-4EDB-83E0-5010F158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96c78a6f8470e"/>
          <a:srcRect xmlns:a="http://schemas.openxmlformats.org/drawingml/2006/main" l="5234" t="0" r="52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76A60-5F49-43C3-A965-7903C81A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AECFE-4348-4B01-AB11-35FF523A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EB6ECE85-BE65-461D-B933-B16067CF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76C28539-43B3-47B4-87D2-56F92869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DCE1C-3F6D-4CBD-B6F8-976FDC4F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A9B82-0090-4111-8340-2DB00250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8888EF48-9190-4FD9-BF39-ED9599C1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ЗАЧЕМ?">
            <a:extLst xmlns:a="http://schemas.openxmlformats.org/drawingml/2006/main">
              <a:ext uri="{FF2B5EF4-FFF2-40B4-BE49-F238E27FC236}">
                <a16:creationId xmlns:a16="http://schemas.microsoft.com/office/drawing/2014/main" id="{FEC152FB-B5A1-4A3D-81E6-F2745403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5F7A8-5C31-4DEE-9A38-5EB1BB47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11B22-C0BC-4566-B176-A41950CB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042613AC-5953-4132-992B-E598874C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ПОЧЕМУ?">
            <a:extLst xmlns:a="http://schemas.openxmlformats.org/drawingml/2006/main">
              <a:ext uri="{FF2B5EF4-FFF2-40B4-BE49-F238E27FC236}">
                <a16:creationId xmlns:a16="http://schemas.microsoft.com/office/drawing/2014/main" id="{D7C42179-246B-4871-9CC9-B7948DC7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ПОЧЕМУ?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03330-F78C-45BF-9BB6-5B1EC950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816542-14B6-4D96-A652-076B5D00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29307A3A-46A9-4083-9129-B4D50C77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Чтобы решения по ширине и…">
            <a:extLst xmlns:a="http://schemas.openxmlformats.org/drawingml/2006/main">
              <a:ext uri="{FF2B5EF4-FFF2-40B4-BE49-F238E27FC236}">
                <a16:creationId xmlns:a16="http://schemas.microsoft.com/office/drawing/2014/main" id="{40656B4D-A7CB-4BF0-980D-58EB7239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Чтобы решения по ширине и отступам повторялись.</a:t>
            </a:r>
          </a:p>
        </p:txBody>
      </p:sp>
    </p:spTree>
    <p:extLst>
      <p:ext uri="{BB962C8B-B14F-4D97-AF65-F5344CB8AC3E}">
        <p14:creationId xmlns:p14="http://schemas.microsoft.com/office/powerpoint/2010/main" val="19874201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247183C9-E079-4B3C-8F88-EE896528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CC9EBCD1-C84D-40CC-A6C4-775201D0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288ACCE-762E-4AB8-909C-CD3F5692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Пары: сравнение по одному критерию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A2C065FC-7C9E-40B1-AC99-D7119829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BFB3D-A7F4-4399-A8EC-F0E483D5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4EDBE-5DB9-41D8-83CF-BC2A3B63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DD9CEB62-A6C3-4E0A-B2B2-E0D60A40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сравниваем один критерий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E7E6DD05-B850-4290-B72A-BC37DBE5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b3929fb7c4519"/>
          <a:srcRect xmlns:a="http://schemas.openxmlformats.org/drawingml/2006/main" l="6844" t="0" r="68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F05F6FA0-7014-48BC-9279-24C88532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07A8C73-2BCF-474E-BDE0-1DFF7603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3a11748034ffd"/>
          <a:srcRect xmlns:a="http://schemas.openxmlformats.org/drawingml/2006/main" l="6875" t="0" r="6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Сначала называем общий критерий,…">
            <a:extLst xmlns:a="http://schemas.openxmlformats.org/drawingml/2006/main">
              <a:ext uri="{FF2B5EF4-FFF2-40B4-BE49-F238E27FC236}">
                <a16:creationId xmlns:a16="http://schemas.microsoft.com/office/drawing/2014/main" id="{B7F11F79-9245-4AB3-8B52-5CFF9403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Сначала называем общий критерий, затем сравниваем решения.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42222ECF-737F-46FA-BA1C-DBF95797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25012e9ba4769"/>
          <a:srcRect xmlns:a="http://schemas.openxmlformats.org/drawingml/2006/main" l="8919" t="0" r="89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Без сетки">
            <a:extLst xmlns:a="http://schemas.openxmlformats.org/drawingml/2006/main">
              <a:ext uri="{FF2B5EF4-FFF2-40B4-BE49-F238E27FC236}">
                <a16:creationId xmlns:a16="http://schemas.microsoft.com/office/drawing/2014/main" id="{2E7C7C2C-A493-4E73-825D-ACF7B935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 сетки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42BAF320-546F-4B18-8C2F-CD5FF6CB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f92ffc841498e"/>
          <a:srcRect xmlns:a="http://schemas.openxmlformats.org/drawingml/2006/main" l="6844" t="0" r="68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блоки почти совпадают, но ритм…">
            <a:extLst xmlns:a="http://schemas.openxmlformats.org/drawingml/2006/main">
              <a:ext uri="{FF2B5EF4-FFF2-40B4-BE49-F238E27FC236}">
                <a16:creationId xmlns:a16="http://schemas.microsoft.com/office/drawing/2014/main" id="{8A811098-1783-4ED5-A9C9-9E87FE83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блоки почти совпадают, но ритм распадается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8F475AAF-7A68-42D1-B03B-F1459669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043491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D2FE6188-A8E3-4E81-9173-F121DF83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00DD72B5-0A3C-4CA2-B45A-B3C7B184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EE8BE4D-75D0-4DE9-8EC0-9512C4F9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Пять вопросов к работе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9E457F4C-A577-4819-AA32-8FF7370C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68248-59A2-4C19-A64E-AE1FAA0A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34B6C-F13C-492C-9B8F-95042491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FC2F6147-66C6-40BF-81DA-E178951F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вопросы направляют проверку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4D3CCA95-63AB-4C14-8AD1-2232CEFF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a45cd7ef64be9"/>
          <a:srcRect xmlns:a="http://schemas.openxmlformats.org/drawingml/2006/main" l="0" t="16414" r="0" b="16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6EB73E71-80A9-4CA7-BA5D-EB2EEFFD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707C9DEC-D52C-4A6D-99B1-5A685B88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809c81adb42ce"/>
          <a:srcRect xmlns:a="http://schemas.openxmlformats.org/drawingml/2006/main" l="0" t="14414" r="0" b="14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Какова ширина frame?">
            <a:extLst xmlns:a="http://schemas.openxmlformats.org/drawingml/2006/main">
              <a:ext uri="{FF2B5EF4-FFF2-40B4-BE49-F238E27FC236}">
                <a16:creationId xmlns:a16="http://schemas.microsoft.com/office/drawing/2014/main" id="{055E6067-5BB3-4FB0-99D1-214448D1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Какова ширина frame?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5C4A59DF-FBC5-4529-8F37-514021E2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4399742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AEB6C757-361D-4789-87A1-E7BE61BD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71BF5BC9-C6E9-4FDC-963F-FBB719B8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B4A0A436-A2D8-41B8-ABD4-9FA5E1B5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Разбор ответов студентов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0C7A0AF9-5838-4835-802E-C3409797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B6BBA-8B49-481B-8C91-85D31321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99DB7-99BF-41A1-9273-9FDDAE25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4D429541-C139-447D-9E82-45ABE7D5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переводим впечатление в признак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5DE6A377-6D0B-4A49-AA1C-93A6999E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d1f1bd4244721"/>
          <a:srcRect xmlns:a="http://schemas.openxmlformats.org/drawingml/2006/main" l="5267" t="0" r="52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71464-5AE7-406C-B5FF-DEB25D25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9FADC-68D5-4594-9BB9-F46D4FA3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3E18C867-E198-4272-BE69-DFD465CF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48CA7215-6F83-40B2-8E0A-F8C049E5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5F234-1906-41CA-B533-548F1061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8CE4B-46D4-475B-9CBE-DBC61E49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FC92576D-60D2-48E5-A654-B6DB3306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Преподаватель переводит…">
            <a:extLst xmlns:a="http://schemas.openxmlformats.org/drawingml/2006/main">
              <a:ext uri="{FF2B5EF4-FFF2-40B4-BE49-F238E27FC236}">
                <a16:creationId xmlns:a16="http://schemas.microsoft.com/office/drawing/2014/main" id="{E9D2075A-DFED-4C35-B8CE-80FBF7EC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переводит впечатления в проверяемые формулировки.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DA412-C018-4921-8F06-42D33BE2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E5494-B9C1-42A0-A963-11EA980D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30EA224D-D49B-4666-93A0-2E867B35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«Просто выглядит лучше».">
            <a:extLst xmlns:a="http://schemas.openxmlformats.org/drawingml/2006/main">
              <a:ext uri="{FF2B5EF4-FFF2-40B4-BE49-F238E27FC236}">
                <a16:creationId xmlns:a16="http://schemas.microsoft.com/office/drawing/2014/main" id="{2045CBB9-2F7E-4DB0-8B29-2EBB33D2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«Просто выглядит лучше».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712DF-6C43-4520-A635-35630849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97B6F9-41BA-467A-BBC9-4CB8B336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7197BDD3-8544-4E3D-BC11-93D28FF2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«Решение помогает конкретной…">
            <a:extLst xmlns:a="http://schemas.openxmlformats.org/drawingml/2006/main">
              <a:ext uri="{FF2B5EF4-FFF2-40B4-BE49-F238E27FC236}">
                <a16:creationId xmlns:a16="http://schemas.microsoft.com/office/drawing/2014/main" id="{1AADDAAB-B58F-450C-BB5F-48B01F41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«Решение помогает конкретной задаче».</a:t>
            </a:r>
          </a:p>
        </p:txBody>
      </p:sp>
    </p:spTree>
    <p:extLst>
      <p:ext uri="{BB962C8B-B14F-4D97-AF65-F5344CB8AC3E}">
        <p14:creationId xmlns:p14="http://schemas.microsoft.com/office/powerpoint/2010/main" val="2132832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70868675-763A-434F-9827-95F2DBE3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6F08A196-9728-4154-A65B-07914BDF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E70BC03-6D18-4EEE-A9DA-A056CBA3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Интерактив: найдите пять признаков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814F7A15-D8BA-4819-B2EB-851EDAE1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DA607-5342-47C7-AD14-0CF79C57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4090E-2A9E-4916-B55C-62725A32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4153BB03-2FEB-4FC5-98A9-4E6BB16D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новый ответ добавляет наблюдение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589DC89C-635F-42B8-B883-0FC43130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fb968d71e849cc"/>
          <a:srcRect xmlns:a="http://schemas.openxmlformats.org/drawingml/2006/main" l="6844" t="0" r="68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8DF68FF4-74E0-4601-A53A-67705905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C008A38D-3E97-49E5-B338-A293361A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b31286221045af"/>
          <a:srcRect xmlns:a="http://schemas.openxmlformats.org/drawingml/2006/main" l="6844" t="0" r="68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Каждый студент называет новое…">
            <a:extLst xmlns:a="http://schemas.openxmlformats.org/drawingml/2006/main">
              <a:ext uri="{FF2B5EF4-FFF2-40B4-BE49-F238E27FC236}">
                <a16:creationId xmlns:a16="http://schemas.microsoft.com/office/drawing/2014/main" id="{7293DF58-8900-4675-9B6F-034BD81D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Каждый студент называет новое наблюдение и связывает его с задачей.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DDA33AA2-BE87-499A-8957-6874D2D5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05808bc714df5"/>
          <a:srcRect xmlns:a="http://schemas.openxmlformats.org/drawingml/2006/main" l="6875" t="0" r="6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Какова ширина frame?">
            <a:extLst xmlns:a="http://schemas.openxmlformats.org/drawingml/2006/main">
              <a:ext uri="{FF2B5EF4-FFF2-40B4-BE49-F238E27FC236}">
                <a16:creationId xmlns:a16="http://schemas.microsoft.com/office/drawing/2014/main" id="{C9A393DD-22CA-4C3F-9253-53C92288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Какова ширина frame?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3B236DB-C0B8-4B9C-90BE-42A92C3F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a4b7cf1af4b07"/>
          <a:srcRect xmlns:a="http://schemas.openxmlformats.org/drawingml/2006/main" l="8919" t="0" r="89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Сколько колонок нужно?">
            <a:extLst xmlns:a="http://schemas.openxmlformats.org/drawingml/2006/main">
              <a:ext uri="{FF2B5EF4-FFF2-40B4-BE49-F238E27FC236}">
                <a16:creationId xmlns:a16="http://schemas.microsoft.com/office/drawing/2014/main" id="{A91E74B7-C974-42B7-A96F-D256A696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Сколько колонок нужно?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DABE0987-9C4F-4064-8D2D-FD0590E2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3677030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D15B1F76-2862-4806-BF7C-114B6C36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279C9285-FF9C-48E7-951B-04B17944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643BEFCF-EA5F-4160-BF1B-1400BC13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Практика: от повтора к самостоятельному решению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27479958-5195-4DBA-8B8D-00D00E2A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F3EC05-CE2A-47FD-AE16-DCB7560E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86545-DDB0-49A4-AB90-391E4CDE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A38FBCDB-39F0-4749-8E40-D40A0A8E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практика усиливается по шагам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3547F5AC-9B2C-4667-BC4D-456346AD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cfa2a513e4df3"/>
          <a:srcRect xmlns:a="http://schemas.openxmlformats.org/drawingml/2006/main" l="0" t="14414" r="0" b="14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871A1CA2-4800-46DE-AB7C-7BD27314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5F2A39A1-E5DE-43BE-A9CC-4F39CDFF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95ffff9044a4b"/>
          <a:srcRect xmlns:a="http://schemas.openxmlformats.org/drawingml/2006/main" l="0" t="16414" r="0" b="16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После показа преподавателя…">
            <a:extLst xmlns:a="http://schemas.openxmlformats.org/drawingml/2006/main">
              <a:ext uri="{FF2B5EF4-FFF2-40B4-BE49-F238E27FC236}">
                <a16:creationId xmlns:a16="http://schemas.microsoft.com/office/drawing/2014/main" id="{A8D6347C-D3D9-457E-96B1-1F0A39BD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После показа преподавателя студент повторяет первый шаг и постепенно увеличивает сложность.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F9D944DD-444A-492D-B80B-0FAA13F2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7510919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92C02050-F405-49BE-9BF4-59AFC3B0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635169CF-24E3-49FD-8E2B-22B6DA92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BB4526C2-22AC-441E-BF2E-7300BA0C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 звучит сильный вывод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FBB21E9A-0FE1-482E-BBCE-BFB657D4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B18B8-97E7-41D3-91D9-0D08B082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23615-3D8C-43B3-8A95-0DCB24E7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7BEA14D5-A034-4C27-A534-3045B26B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вывод связывает действие и результат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B7EDACB9-9B80-4DAD-B2EF-3B3E430A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6d99dac464497"/>
          <a:srcRect xmlns:a="http://schemas.openxmlformats.org/drawingml/2006/main" l="5234" t="0" r="52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F3149-19B0-4089-BE11-91BA53FB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5D29B-393F-4C07-8DC5-1A229406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73281515-2B32-4289-874D-C002300E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509D7944-1F16-4E2D-B6D2-F6D23302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D0C43-AAAA-4E81-9F87-A7DAF9B3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DBE13-ED5B-4493-9244-40D0DAA7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A0C63E7A-F21F-415F-B8C8-BDEC2739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Студент связывает условие,…">
            <a:extLst xmlns:a="http://schemas.openxmlformats.org/drawingml/2006/main">
              <a:ext uri="{FF2B5EF4-FFF2-40B4-BE49-F238E27FC236}">
                <a16:creationId xmlns:a16="http://schemas.microsoft.com/office/drawing/2014/main" id="{847CCD78-92CC-4CD7-9438-D0F1394A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 связывает условие, действие, признак и результат.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7ED67-2C46-4D65-92F7-0363B6A8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F9A2E-1F3D-49F5-B59F-480A2304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E730BBF6-7F02-46E4-8D02-EC7C4453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Условие">
            <a:extLst xmlns:a="http://schemas.openxmlformats.org/drawingml/2006/main">
              <a:ext uri="{FF2B5EF4-FFF2-40B4-BE49-F238E27FC236}">
                <a16:creationId xmlns:a16="http://schemas.microsoft.com/office/drawing/2014/main" id="{B0053030-52EC-43D9-A225-3B31B550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Условие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B20CA-872B-43A4-9A2A-2DBBD3C6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AB56EE-CCAA-42BB-8555-AE9F339D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D7D07BD4-211F-49B0-8354-F173B6FC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Действие">
            <a:extLst xmlns:a="http://schemas.openxmlformats.org/drawingml/2006/main">
              <a:ext uri="{FF2B5EF4-FFF2-40B4-BE49-F238E27FC236}">
                <a16:creationId xmlns:a16="http://schemas.microsoft.com/office/drawing/2014/main" id="{3C785BB2-F914-40CC-B692-D438F7F3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</p:spTree>
    <p:extLst>
      <p:ext uri="{BB962C8B-B14F-4D97-AF65-F5344CB8AC3E}">
        <p14:creationId xmlns:p14="http://schemas.microsoft.com/office/powerpoint/2010/main" val="7730011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33B0E1C9-309E-47FC-ADB7-33838602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04606EBB-7073-4482-AE13-69B7A305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F6883D52-85D2-4851-A06F-5CB11E97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Проверка результата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72AF72EC-3DE4-41F4-8CDC-62C6A8F2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C486C-40F2-4EBE-A57A-620F6559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14070-1AE3-41C7-8DBA-1D32FECD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AF91DB42-48D2-4FF6-BAF3-C5154EFF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чек-лист делает работу воспроизводимой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92A3C79A-43BC-4745-9E50-88511EB7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14dfa0be64df5"/>
          <a:srcRect xmlns:a="http://schemas.openxmlformats.org/drawingml/2006/main" l="6875" t="0" r="6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C7A09757-13ED-45B5-8512-90E7E609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99D545C8-4B9A-4BEF-B2EA-10732A6D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8bdcf8b1b4249"/>
          <a:srcRect xmlns:a="http://schemas.openxmlformats.org/drawingml/2006/main" l="6844" t="0" r="68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Frame">
            <a:extLst xmlns:a="http://schemas.openxmlformats.org/drawingml/2006/main">
              <a:ext uri="{FF2B5EF4-FFF2-40B4-BE49-F238E27FC236}">
                <a16:creationId xmlns:a16="http://schemas.microsoft.com/office/drawing/2014/main" id="{3CF12AA4-5FCE-40F4-8D56-4D262C1D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1DFEF614-812E-47B0-9FDB-B407757D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7adda9cef4103"/>
          <a:srcRect xmlns:a="http://schemas.openxmlformats.org/drawingml/2006/main" l="6844" t="0" r="68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размер экрана">
            <a:extLst xmlns:a="http://schemas.openxmlformats.org/drawingml/2006/main">
              <a:ext uri="{FF2B5EF4-FFF2-40B4-BE49-F238E27FC236}">
                <a16:creationId xmlns:a16="http://schemas.microsoft.com/office/drawing/2014/main" id="{2B58BA47-B83B-4560-BC6F-C2E5F5E3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размер экрана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D4198EE4-C853-428D-9A4F-8DA749A7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93a253f834b7a"/>
          <a:srcRect xmlns:a="http://schemas.openxmlformats.org/drawingml/2006/main" l="6875" t="0" r="6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Columns">
            <a:extLst xmlns:a="http://schemas.openxmlformats.org/drawingml/2006/main">
              <a:ext uri="{FF2B5EF4-FFF2-40B4-BE49-F238E27FC236}">
                <a16:creationId xmlns:a16="http://schemas.microsoft.com/office/drawing/2014/main" id="{C07F51CB-40F7-4316-9EF7-227B7253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Columns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49AE62F-360A-4E1F-A518-60B3A262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3422040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8E964B37-4D23-4449-8D14-B0342B28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 модульная сетка как каркас интерфейса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C2EE6F41-88A6-4E1A-B322-E07F9887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EFA9ABB8-E9CC-4B05-950F-EC5F2D06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Итоги занятия</a:t>
            </a:r>
          </a:p>
        </p:txBody>
      </p:sp>
      <p:sp>
        <p:nvSpPr>
          <p:cNvPr id="4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9B75BB7F-56C4-4E9E-9270-B8A4A3A6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16566-E8BE-414E-833C-F43FEB98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9563F-85FB-4A88-B265-3CF5CD4E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9D45B831-926A-4DA4-AD83-22F6D1CF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П025 · результат объяснён и проверен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D4482F04-B454-4059-B83B-472CF5E9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a87b49ad54482"/>
          <a:srcRect xmlns:a="http://schemas.openxmlformats.org/drawingml/2006/main" l="0" t="12617" r="0" b="12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Figma: модульная сетка как каркас…">
            <a:extLst xmlns:a="http://schemas.openxmlformats.org/drawingml/2006/main">
              <a:ext uri="{FF2B5EF4-FFF2-40B4-BE49-F238E27FC236}">
                <a16:creationId xmlns:a16="http://schemas.microsoft.com/office/drawing/2014/main" id="{083FC2BB-9A57-4C9B-AD40-42C1E9A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Figma: модульная сетка как каркас интерфейса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A810880D-5969-4058-82D2-BE4245BA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3c24aaa2548ab"/>
          <a:srcRect xmlns:a="http://schemas.openxmlformats.org/drawingml/2006/main" l="0" t="14414" r="0" b="14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Настроить модульную сетку и…">
            <a:extLst xmlns:a="http://schemas.openxmlformats.org/drawingml/2006/main">
              <a:ext uri="{FF2B5EF4-FFF2-40B4-BE49-F238E27FC236}">
                <a16:creationId xmlns:a16="http://schemas.microsoft.com/office/drawing/2014/main" id="{7CB34B11-7BFF-484B-9795-9CD133FD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Настроить модульную сетку и собрать по ней первый экран.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30E1FB68-B1B4-41EB-AF6E-0A1E1B67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2713097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2026-09-13T13:18:19.6020000Z</dcterms:created>
  <dcterms:modified xsi:type="dcterms:W3CDTF">2026-09-13T13:18:19.6020000Z</dcterms:modified>
</coreProperties>
</file>