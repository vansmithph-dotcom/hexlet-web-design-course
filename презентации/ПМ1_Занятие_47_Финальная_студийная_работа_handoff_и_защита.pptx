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cde4fb9e32d4fd7" /><Relationship Type="http://schemas.openxmlformats.org/officeDocument/2006/relationships/extended-properties" Target="/docProps/app.xml" Id="R3883911ef6d244d1" /><Relationship Type="http://schemas.openxmlformats.org/officeDocument/2006/relationships/officeDocument" Target="/ppt/presentation.xml" Id="R02d472191c47459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97632e2da474132"/>
  </p:sldMasterIdLst>
  <p:notesMasterIdLst>
    <p:notesMasterId xmlns:r="http://schemas.openxmlformats.org/officeDocument/2006/relationships" r:id="Rb09a334494234e66"/>
  </p:notesMasterIdLst>
  <p:sldIdLst>
    <p:sldId xmlns:r="http://schemas.openxmlformats.org/officeDocument/2006/relationships" id="256" r:id="R82038af975204a37"/>
    <p:sldId xmlns:r="http://schemas.openxmlformats.org/officeDocument/2006/relationships" id="257" r:id="Ra5dbe76bbcd84140"/>
    <p:sldId xmlns:r="http://schemas.openxmlformats.org/officeDocument/2006/relationships" id="258" r:id="R67b687dea88c4186"/>
    <p:sldId xmlns:r="http://schemas.openxmlformats.org/officeDocument/2006/relationships" id="259" r:id="R4e23ad5e409f4a75"/>
    <p:sldId xmlns:r="http://schemas.openxmlformats.org/officeDocument/2006/relationships" id="260" r:id="R8b65723d6a7149ed"/>
    <p:sldId xmlns:r="http://schemas.openxmlformats.org/officeDocument/2006/relationships" id="261" r:id="Rb0d08e68a3524f3b"/>
    <p:sldId xmlns:r="http://schemas.openxmlformats.org/officeDocument/2006/relationships" id="262" r:id="R0cc65fda751f4c9c"/>
    <p:sldId xmlns:r="http://schemas.openxmlformats.org/officeDocument/2006/relationships" id="263" r:id="Rc8280f3c1fd34c7c"/>
    <p:sldId xmlns:r="http://schemas.openxmlformats.org/officeDocument/2006/relationships" id="264" r:id="R44eaf83379e44bd3"/>
    <p:sldId xmlns:r="http://schemas.openxmlformats.org/officeDocument/2006/relationships" id="265" r:id="R9dc7ad08f3d240fb"/>
    <p:sldId xmlns:r="http://schemas.openxmlformats.org/officeDocument/2006/relationships" id="266" r:id="Rc939f32f17294644"/>
    <p:sldId xmlns:r="http://schemas.openxmlformats.org/officeDocument/2006/relationships" id="267" r:id="R37f6c3e049594472"/>
    <p:sldId xmlns:r="http://schemas.openxmlformats.org/officeDocument/2006/relationships" id="268" r:id="Re3669997dcb14b4f"/>
    <p:sldId xmlns:r="http://schemas.openxmlformats.org/officeDocument/2006/relationships" id="269" r:id="R417aaa1590a143ba"/>
    <p:sldId xmlns:r="http://schemas.openxmlformats.org/officeDocument/2006/relationships" id="270" r:id="R8fbb864141fd4e9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b54b3b207c04e63" /><Relationship Type="http://schemas.openxmlformats.org/officeDocument/2006/relationships/slideMaster" Target="/ppt/slideMasters/slideMaster1.xml" Id="Rd97632e2da474132" /><Relationship Type="http://schemas.openxmlformats.org/officeDocument/2006/relationships/notesMaster" Target="/ppt/notesMasters/notesMaster1.xml" Id="Rb09a334494234e66" /><Relationship Type="http://schemas.openxmlformats.org/officeDocument/2006/relationships/presProps" Target="/ppt/presProps.xml" Id="R86a6f4b427e94e49" /><Relationship Type="http://schemas.openxmlformats.org/officeDocument/2006/relationships/tableStyles" Target="/ppt/tableStyles.xml" Id="Rd6c7d0fd8ad34a53" /><Relationship Type="http://schemas.openxmlformats.org/officeDocument/2006/relationships/slide" Target="/ppt/slides/slide1.xml" Id="R82038af975204a37" /><Relationship Type="http://schemas.openxmlformats.org/officeDocument/2006/relationships/slide" Target="/ppt/slides/slide2.xml" Id="Ra5dbe76bbcd84140" /><Relationship Type="http://schemas.openxmlformats.org/officeDocument/2006/relationships/slide" Target="/ppt/slides/slide3.xml" Id="R67b687dea88c4186" /><Relationship Type="http://schemas.openxmlformats.org/officeDocument/2006/relationships/slide" Target="/ppt/slides/slide4.xml" Id="R4e23ad5e409f4a75" /><Relationship Type="http://schemas.openxmlformats.org/officeDocument/2006/relationships/slide" Target="/ppt/slides/slide5.xml" Id="R8b65723d6a7149ed" /><Relationship Type="http://schemas.openxmlformats.org/officeDocument/2006/relationships/slide" Target="/ppt/slides/slide6.xml" Id="Rb0d08e68a3524f3b" /><Relationship Type="http://schemas.openxmlformats.org/officeDocument/2006/relationships/slide" Target="/ppt/slides/slide7.xml" Id="R0cc65fda751f4c9c" /><Relationship Type="http://schemas.openxmlformats.org/officeDocument/2006/relationships/slide" Target="/ppt/slides/slide8.xml" Id="Rc8280f3c1fd34c7c" /><Relationship Type="http://schemas.openxmlformats.org/officeDocument/2006/relationships/slide" Target="/ppt/slides/slide9.xml" Id="R44eaf83379e44bd3" /><Relationship Type="http://schemas.openxmlformats.org/officeDocument/2006/relationships/slide" Target="/ppt/slides/slide10.xml" Id="R9dc7ad08f3d240fb" /><Relationship Type="http://schemas.openxmlformats.org/officeDocument/2006/relationships/slide" Target="/ppt/slides/slide11.xml" Id="Rc939f32f17294644" /><Relationship Type="http://schemas.openxmlformats.org/officeDocument/2006/relationships/slide" Target="/ppt/slides/slide12.xml" Id="R37f6c3e049594472" /><Relationship Type="http://schemas.openxmlformats.org/officeDocument/2006/relationships/slide" Target="/ppt/slides/slide13.xml" Id="Re3669997dcb14b4f" /><Relationship Type="http://schemas.openxmlformats.org/officeDocument/2006/relationships/slide" Target="/ppt/slides/slide14.xml" Id="R417aaa1590a143ba" /><Relationship Type="http://schemas.openxmlformats.org/officeDocument/2006/relationships/slide" Target="/ppt/slides/slide15.xml" Id="R8fbb864141fd4e9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c304ac2fb8143a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1d80c98cfa84039" /><Relationship Type="http://schemas.openxmlformats.org/officeDocument/2006/relationships/notesMaster" Target="/ppt/notesMasters/notesMaster1.xml" Id="R7762c789a84c444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ff911d887024474" /><Relationship Type="http://schemas.openxmlformats.org/officeDocument/2006/relationships/notesMaster" Target="/ppt/notesMasters/notesMaster1.xml" Id="Rd33c1e49effb4a4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a98030b33574b06" /><Relationship Type="http://schemas.openxmlformats.org/officeDocument/2006/relationships/notesMaster" Target="/ppt/notesMasters/notesMaster1.xml" Id="R4b2554699d0e4bd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f6bf4754fcc4c99" /><Relationship Type="http://schemas.openxmlformats.org/officeDocument/2006/relationships/notesMaster" Target="/ppt/notesMasters/notesMaster1.xml" Id="Rb241bb92ea4d4c7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4506ac16fdf4bfb" /><Relationship Type="http://schemas.openxmlformats.org/officeDocument/2006/relationships/notesMaster" Target="/ppt/notesMasters/notesMaster1.xml" Id="R7fe8f60568f84f0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6f23a9caf424ad6" /><Relationship Type="http://schemas.openxmlformats.org/officeDocument/2006/relationships/notesMaster" Target="/ppt/notesMasters/notesMaster1.xml" Id="Rfbb3bc42acfa4f0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d11027b10f74e41" /><Relationship Type="http://schemas.openxmlformats.org/officeDocument/2006/relationships/notesMaster" Target="/ppt/notesMasters/notesMaster1.xml" Id="R914b1270cf06424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060aadbf15c4f4c" /><Relationship Type="http://schemas.openxmlformats.org/officeDocument/2006/relationships/notesMaster" Target="/ppt/notesMasters/notesMaster1.xml" Id="R37d9b1e9b2df4bb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10f7d64b737476e" /><Relationship Type="http://schemas.openxmlformats.org/officeDocument/2006/relationships/notesMaster" Target="/ppt/notesMasters/notesMaster1.xml" Id="R1837c5548f8947b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686b471c6f041c0" /><Relationship Type="http://schemas.openxmlformats.org/officeDocument/2006/relationships/notesMaster" Target="/ppt/notesMasters/notesMaster1.xml" Id="Raac1c835feb4410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c9ad8c72d75435d" /><Relationship Type="http://schemas.openxmlformats.org/officeDocument/2006/relationships/notesMaster" Target="/ppt/notesMasters/notesMaster1.xml" Id="R07c28e8382a8431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720b33079404e80" /><Relationship Type="http://schemas.openxmlformats.org/officeDocument/2006/relationships/notesMaster" Target="/ppt/notesMasters/notesMaster1.xml" Id="Rc5b29427856a4c2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ee9477d14444301" /><Relationship Type="http://schemas.openxmlformats.org/officeDocument/2006/relationships/notesMaster" Target="/ppt/notesMasters/notesMaster1.xml" Id="R7d6d10b317c547a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3ad619e0655417d" /><Relationship Type="http://schemas.openxmlformats.org/officeDocument/2006/relationships/notesMaster" Target="/ppt/notesMasters/notesMaster1.xml" Id="Rc0adb0949130460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6411aae8bef4da8" /><Relationship Type="http://schemas.openxmlformats.org/officeDocument/2006/relationships/notesMaster" Target="/ppt/notesMasters/notesMaster1.xml" Id="Ra28c5cddf7134d9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Назначение: единая обложка серии РО 1.1.</a:t>
            </a:r>
          </a:p>
          <a:p xmlns:a="http://schemas.openxmlformats.org/drawingml/2006/main">
            <a:r>
              <a:t>Alt-текст: рабочее место дизайнера с монитором, графическими материалами и видом на город.</a:t>
            </a:r>
          </a:p>
          <a:p xmlns:a="http://schemas.openxmlformats.org/drawingml/2006/main">
            <a:r>
              <a:t>Источник: обязательный hero серии ПМ1, учебное изображение, созданное ИИ через ChatGPT.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Назначение: крупный визуальный пример для темы «Финал РО 1.1».</a:t>
            </a:r>
          </a:p>
          <a:p xmlns:a="http://schemas.openxmlformats.org/drawingml/2006/main">
            <a:r>
              <a:t>Alt-текст: новая учебная музейная сцена, созданная специально для занятия П47; визуально раскрывает тему «Финал РО 1.1».</a:t>
            </a:r>
          </a:p>
          <a:p xmlns:a="http://schemas.openxmlformats.org/drawingml/2006/main">
            <a:r>
              <a:t>Источник: учебное изображение, созданное ИИ; ChatGPT через Codex with ChatGPT; 20.09.2026.</a:t>
            </a:r>
          </a:p>
          <a:p xmlns:a="http://schemas.openxmlformats.org/drawingml/2006/main">
            <a:r>
              <a:t>Файл: 47-01.png.</a:t>
            </a:r>
          </a:p>
          <a:p xmlns:a="http://schemas.openxmlformats.org/drawingml/2006/main">
            <a:r>
              <a:t>Полный промпт: Контактный лист 2×2, созданный специально для П47. Общие ограничения: новые сюжеты, не повторяющие прежние презентации; музейная предметная фотография, архив, консервация, выставочная сценография или физические прототипы; тёмный графитовый фон; коралловый акцент #FF4158; без текста, логотипов и читаемого интерфейса; без типовой дизайн-студии, студентов у ноутбука, мудбордов и обычных рабочих столов. ## P47-A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Консервационный стол контроля качества с комплектом материалов проекта.</a:t>
            </a:r>
          </a:p>
          <a:p xmlns:a="http://schemas.openxmlformats.org/drawingml/2006/main">
            <a:r>
              <a:t>2. Четыре материала последовательно открыты и проверяются физически.</a:t>
            </a:r>
          </a:p>
          <a:p xmlns:a="http://schemas.openxmlformats.org/drawingml/2006/main">
            <a:r>
              <a:t>3. Контур вырубки рядом с чистым готовым предметом.</a:t>
            </a:r>
          </a:p>
          <a:p xmlns:a="http://schemas.openxmlformats.org/drawingml/2006/main">
            <a:r>
              <a:t>4. Прозрачные слои растровой композиции — фон, тень, объект и свет.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Назначение: крупный визуальный пример для темы «Что сдаём».</a:t>
            </a:r>
          </a:p>
          <a:p xmlns:a="http://schemas.openxmlformats.org/drawingml/2006/main">
            <a:r>
              <a:t>Alt-текст: новая учебная музейная сцена, созданная специально для занятия П47; визуально раскрывает тему «Что сдаём».</a:t>
            </a:r>
          </a:p>
          <a:p xmlns:a="http://schemas.openxmlformats.org/drawingml/2006/main">
            <a:r>
              <a:t>Источник: учебное изображение, созданное ИИ; ChatGPT через Codex with ChatGPT; 20.09.2026.</a:t>
            </a:r>
          </a:p>
          <a:p xmlns:a="http://schemas.openxmlformats.org/drawingml/2006/main">
            <a:r>
              <a:t>Файл: 47-02.png.</a:t>
            </a:r>
          </a:p>
          <a:p xmlns:a="http://schemas.openxmlformats.org/drawingml/2006/main">
            <a:r>
              <a:t>Полный промпт: Контактный лист 2×2, созданный специально для П47. Общие ограничения: новые сюжеты, не повторяющие прежние презентации; музейная предметная фотография, архив, консервация, выставочная сценография или физические прототипы; тёмный графитовый фон; коралловый акцент #FF4158; без текста, логотипов и читаемого интерфейса; без типовой дизайн-студии, студентов у ноутбука, мудбордов и обычных рабочих столов. ## P47-A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Консервационный стол контроля качества с комплектом материалов проекта.</a:t>
            </a:r>
          </a:p>
          <a:p xmlns:a="http://schemas.openxmlformats.org/drawingml/2006/main">
            <a:r>
              <a:t>2. Четыре материала последовательно открыты и проверяются физически.</a:t>
            </a:r>
          </a:p>
          <a:p xmlns:a="http://schemas.openxmlformats.org/drawingml/2006/main">
            <a:r>
              <a:t>3. Контур вырубки рядом с чистым готовым предметом.</a:t>
            </a:r>
          </a:p>
          <a:p xmlns:a="http://schemas.openxmlformats.org/drawingml/2006/main">
            <a:r>
              <a:t>4. Прозрачные слои растровой композиции — фон, тень, объект и свет.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Назначение: крупный визуальный пример для темы «Проверка файлов».</a:t>
            </a:r>
          </a:p>
          <a:p xmlns:a="http://schemas.openxmlformats.org/drawingml/2006/main">
            <a:r>
              <a:t>Alt-текст: новая учебная музейная сцена, созданная специально для занятия П47; визуально раскрывает тему «Проверка файлов».</a:t>
            </a:r>
          </a:p>
          <a:p xmlns:a="http://schemas.openxmlformats.org/drawingml/2006/main">
            <a:r>
              <a:t>Источник: учебное изображение, созданное ИИ; ChatGPT через Codex with ChatGPT; 20.09.2026.</a:t>
            </a:r>
          </a:p>
          <a:p xmlns:a="http://schemas.openxmlformats.org/drawingml/2006/main">
            <a:r>
              <a:t>Файл: 47-03.png.</a:t>
            </a:r>
          </a:p>
          <a:p xmlns:a="http://schemas.openxmlformats.org/drawingml/2006/main">
            <a:r>
              <a:t>Полный промпт: Контактный лист 2×2, созданный специально для П47. Общие ограничения: новые сюжеты, не повторяющие прежние презентации; музейная предметная фотография, архив, консервация, выставочная сценография или физические прототипы; тёмный графитовый фон; коралловый акцент #FF4158; без текста, логотипов и читаемого интерфейса; без типовой дизайн-студии, студентов у ноутбука, мудбордов и обычных рабочих столов. ## P47-A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Консервационный стол контроля качества с комплектом материалов проекта.</a:t>
            </a:r>
          </a:p>
          <a:p xmlns:a="http://schemas.openxmlformats.org/drawingml/2006/main">
            <a:r>
              <a:t>2. Четыре материала последовательно открыты и проверяются физически.</a:t>
            </a:r>
          </a:p>
          <a:p xmlns:a="http://schemas.openxmlformats.org/drawingml/2006/main">
            <a:r>
              <a:t>3. Контур вырубки рядом с чистым готовым предметом.</a:t>
            </a:r>
          </a:p>
          <a:p xmlns:a="http://schemas.openxmlformats.org/drawingml/2006/main">
            <a:r>
              <a:t>4. Прозрачные слои растровой композиции — фон, тень, объект и свет.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Назначение: крупный визуальный пример для темы «Проверка assets».</a:t>
            </a:r>
          </a:p>
          <a:p xmlns:a="http://schemas.openxmlformats.org/drawingml/2006/main">
            <a:r>
              <a:t>Alt-текст: новая учебная музейная сцена, созданная специально для занятия П47; визуально раскрывает тему «Проверка assets».</a:t>
            </a:r>
          </a:p>
          <a:p xmlns:a="http://schemas.openxmlformats.org/drawingml/2006/main">
            <a:r>
              <a:t>Источник: учебное изображение, созданное ИИ; ChatGPT через Codex with ChatGPT; 20.09.2026.</a:t>
            </a:r>
          </a:p>
          <a:p xmlns:a="http://schemas.openxmlformats.org/drawingml/2006/main">
            <a:r>
              <a:t>Файл: 47-04.png.</a:t>
            </a:r>
          </a:p>
          <a:p xmlns:a="http://schemas.openxmlformats.org/drawingml/2006/main">
            <a:r>
              <a:t>Полный промпт: Контактный лист 2×2, созданный специально для П47. Общие ограничения: новые сюжеты, не повторяющие прежние презентации; музейная предметная фотография, архив, консервация, выставочная сценография или физические прототипы; тёмный графитовый фон; коралловый акцент #FF4158; без текста, логотипов и читаемого интерфейса; без типовой дизайн-студии, студентов у ноутбука, мудбордов и обычных рабочих столов. ## P47-A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Консервационный стол контроля качества с комплектом материалов проекта.</a:t>
            </a:r>
          </a:p>
          <a:p xmlns:a="http://schemas.openxmlformats.org/drawingml/2006/main">
            <a:r>
              <a:t>2. Четыре материала последовательно открыты и проверяются физически.</a:t>
            </a:r>
          </a:p>
          <a:p xmlns:a="http://schemas.openxmlformats.org/drawingml/2006/main">
            <a:r>
              <a:t>3. Контур вырубки рядом с чистым готовым предметом.</a:t>
            </a:r>
          </a:p>
          <a:p xmlns:a="http://schemas.openxmlformats.org/drawingml/2006/main">
            <a:r>
              <a:t>4. Прозрачные слои растровой композиции — фон, тень, объект и свет.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Назначение: крупный визуальный пример для темы «Показ преподавателя».</a:t>
            </a:r>
          </a:p>
          <a:p xmlns:a="http://schemas.openxmlformats.org/drawingml/2006/main">
            <a:r>
              <a:t>Alt-текст: новая учебная музейная сцена, созданная специально для занятия П47; визуально раскрывает тему «Показ преподавателя».</a:t>
            </a:r>
          </a:p>
          <a:p xmlns:a="http://schemas.openxmlformats.org/drawingml/2006/main">
            <a:r>
              <a:t>Источник: учебное изображение, созданное ИИ; ChatGPT через Codex with ChatGPT; 20.09.2026.</a:t>
            </a:r>
          </a:p>
          <a:p xmlns:a="http://schemas.openxmlformats.org/drawingml/2006/main">
            <a:r>
              <a:t>Файл: 47-05.png.</a:t>
            </a:r>
          </a:p>
          <a:p xmlns:a="http://schemas.openxmlformats.org/drawingml/2006/main">
            <a:r>
              <a:t>Полный промпт: Контактный лист 2×2, созданный специально для П47. Общие ограничения: новые сюжеты, не повторяющие прежние презентации; музейная предметная фотография, архив, консервация, выставочная сценография или физические прототипы; тёмный графитовый фон; коралловый акцент #FF4158; без текста, логотипов и читаемого интерфейса; без типовой дизайн-студии, студентов у ноутбука, мудбордов и обычных рабочих столов. ## P47-B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Запечатанный музейный ящик проходит независимую проверку по пломбам и комплектности.</a:t>
            </a:r>
          </a:p>
          <a:p xmlns:a="http://schemas.openxmlformats.org/drawingml/2006/main">
            <a:r>
              <a:t>2. Короткая защита в небольшой галерее с проекциями и физическими экспонатами.</a:t>
            </a:r>
          </a:p>
          <a:p xmlns:a="http://schemas.openxmlformats.org/drawingml/2006/main">
            <a:r>
              <a:t>3. Выставочный коридор как цельная цепочка от исходного материала к desktop, mobile и переданному комплекту.</a:t>
            </a:r>
          </a:p>
          <a:p xmlns:a="http://schemas.openxmlformats.org/drawingml/2006/main">
            <a:r>
              <a:t>4. Пустая тёмная панель.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Назначение: крупный визуальный пример для темы «Независимый handoff test».</a:t>
            </a:r>
          </a:p>
          <a:p xmlns:a="http://schemas.openxmlformats.org/drawingml/2006/main">
            <a:r>
              <a:t>Alt-текст: новая учебная музейная сцена, созданная специально для занятия П47; визуально раскрывает тему «Независимый handoff test».</a:t>
            </a:r>
          </a:p>
          <a:p xmlns:a="http://schemas.openxmlformats.org/drawingml/2006/main">
            <a:r>
              <a:t>Источник: учебное изображение, созданное ИИ; ChatGPT через Codex with ChatGPT; 20.09.2026.</a:t>
            </a:r>
          </a:p>
          <a:p xmlns:a="http://schemas.openxmlformats.org/drawingml/2006/main">
            <a:r>
              <a:t>Файл: 47-06.png.</a:t>
            </a:r>
          </a:p>
          <a:p xmlns:a="http://schemas.openxmlformats.org/drawingml/2006/main">
            <a:r>
              <a:t>Полный промпт: Контактный лист 2×2, созданный специально для П47. Общие ограничения: новые сюжеты, не повторяющие прежние презентации; музейная предметная фотография, архив, консервация, выставочная сценография или физические прототипы; тёмный графитовый фон; коралловый акцент #FF4158; без текста, логотипов и читаемого интерфейса; без типовой дизайн-студии, студентов у ноутбука, мудбордов и обычных рабочих столов. ## P47-B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Запечатанный музейный ящик проходит независимую проверку по пломбам и комплектности.</a:t>
            </a:r>
          </a:p>
          <a:p xmlns:a="http://schemas.openxmlformats.org/drawingml/2006/main">
            <a:r>
              <a:t>2. Короткая защита в небольшой галерее с проекциями и физическими экспонатами.</a:t>
            </a:r>
          </a:p>
          <a:p xmlns:a="http://schemas.openxmlformats.org/drawingml/2006/main">
            <a:r>
              <a:t>3. Выставочный коридор как цельная цепочка от исходного материала к desktop, mobile и переданному комплекту.</a:t>
            </a:r>
          </a:p>
          <a:p xmlns:a="http://schemas.openxmlformats.org/drawingml/2006/main">
            <a:r>
              <a:t>4. Пустая тёмная панель.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Назначение: крупный визуальный пример для темы «Защита за 90 секунд».</a:t>
            </a:r>
          </a:p>
          <a:p xmlns:a="http://schemas.openxmlformats.org/drawingml/2006/main">
            <a:r>
              <a:t>Alt-текст: новая учебная музейная сцена, созданная специально для занятия П47; визуально раскрывает тему «Защита за 90 секунд».</a:t>
            </a:r>
          </a:p>
          <a:p xmlns:a="http://schemas.openxmlformats.org/drawingml/2006/main">
            <a:r>
              <a:t>Источник: учебное изображение, созданное ИИ; ChatGPT через Codex with ChatGPT; 20.09.2026.</a:t>
            </a:r>
          </a:p>
          <a:p xmlns:a="http://schemas.openxmlformats.org/drawingml/2006/main">
            <a:r>
              <a:t>Файл: 47-07.png.</a:t>
            </a:r>
          </a:p>
          <a:p xmlns:a="http://schemas.openxmlformats.org/drawingml/2006/main">
            <a:r>
              <a:t>Полный промпт: Контактный лист 2×2, созданный специально для П47. Общие ограничения: новые сюжеты, не повторяющие прежние презентации; музейная предметная фотография, архив, консервация, выставочная сценография или физические прототипы; тёмный графитовый фон; коралловый акцент #FF4158; без текста, логотипов и читаемого интерфейса; без типовой дизайн-студии, студентов у ноутбука, мудбордов и обычных рабочих столов. ## P47-B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Запечатанный музейный ящик проходит независимую проверку по пломбам и комплектности.</a:t>
            </a:r>
          </a:p>
          <a:p xmlns:a="http://schemas.openxmlformats.org/drawingml/2006/main">
            <a:r>
              <a:t>2. Короткая защита в небольшой галерее с проекциями и физическими экспонатами.</a:t>
            </a:r>
          </a:p>
          <a:p xmlns:a="http://schemas.openxmlformats.org/drawingml/2006/main">
            <a:r>
              <a:t>3. Выставочный коридор как цельная цепочка от исходного материала к desktop, mobile и переданному комплекту.</a:t>
            </a:r>
          </a:p>
          <a:p xmlns:a="http://schemas.openxmlformats.org/drawingml/2006/main">
            <a:r>
              <a:t>4. Пустая тёмная панель.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be1702d94b4f0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9bddfb336c848b7" /><Relationship Type="http://schemas.openxmlformats.org/officeDocument/2006/relationships/slideLayout" Target="/ppt/slideLayouts/slideLayout1.xml" Id="R744fdb7d5b0f4cb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44fdb7d5b0f4cb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e3143c945f4644" /><Relationship Type="http://schemas.openxmlformats.org/officeDocument/2006/relationships/image" Target="/ppt/media/image.png" Id="Re0207c978fae4b22" /><Relationship Type="http://schemas.openxmlformats.org/officeDocument/2006/relationships/notesSlide" Target="/ppt/notesSlides/notesSlide1.xml" Id="R674debb296cc417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df931a7b8b4f50" /><Relationship Type="http://schemas.openxmlformats.org/officeDocument/2006/relationships/image" Target="/ppt/media/image2.png" Id="Rd03952d4897648af" /><Relationship Type="http://schemas.openxmlformats.org/officeDocument/2006/relationships/notesSlide" Target="/ppt/notesSlides/notesSlide2.xml" Id="R24e4aba7aafa40b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40072398484323" /><Relationship Type="http://schemas.openxmlformats.org/officeDocument/2006/relationships/image" Target="/ppt/media/image3.png" Id="R405830b670be4034" /><Relationship Type="http://schemas.openxmlformats.org/officeDocument/2006/relationships/notesSlide" Target="/ppt/notesSlides/notesSlide3.xml" Id="R5724d0af887f4b7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9029351e404c8f" /><Relationship Type="http://schemas.openxmlformats.org/officeDocument/2006/relationships/notesSlide" Target="/ppt/notesSlides/notesSlide4.xml" Id="R47efc104bc55479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c63d7db0354055" /><Relationship Type="http://schemas.openxmlformats.org/officeDocument/2006/relationships/image" Target="/ppt/media/image4.png" Id="R9473ecc1d0504205" /><Relationship Type="http://schemas.openxmlformats.org/officeDocument/2006/relationships/notesSlide" Target="/ppt/notesSlides/notesSlide5.xml" Id="R2d3b761c753d4f7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a376400aa247da" /><Relationship Type="http://schemas.openxmlformats.org/officeDocument/2006/relationships/notesSlide" Target="/ppt/notesSlides/notesSlide6.xml" Id="R250f9823dc6d4ab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40690454074d94" /><Relationship Type="http://schemas.openxmlformats.org/officeDocument/2006/relationships/image" Target="/ppt/media/image5.png" Id="Rf2527a840ba0404e" /><Relationship Type="http://schemas.openxmlformats.org/officeDocument/2006/relationships/notesSlide" Target="/ppt/notesSlides/notesSlide7.xml" Id="R6584d12070a94dc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df41480a5749e4" /><Relationship Type="http://schemas.openxmlformats.org/officeDocument/2006/relationships/image" Target="/ppt/media/image6.png" Id="R4f465ae8873d4d3c" /><Relationship Type="http://schemas.openxmlformats.org/officeDocument/2006/relationships/notesSlide" Target="/ppt/notesSlides/notesSlide8.xml" Id="R482ab820519a438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9e4472baa24b04" /><Relationship Type="http://schemas.openxmlformats.org/officeDocument/2006/relationships/image" Target="/ppt/media/image7.png" Id="R9cbff78163ac4057" /><Relationship Type="http://schemas.openxmlformats.org/officeDocument/2006/relationships/notesSlide" Target="/ppt/notesSlides/notesSlide9.xml" Id="Rde3d4f90659549f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5851b4768a420e" /><Relationship Type="http://schemas.openxmlformats.org/officeDocument/2006/relationships/notesSlide" Target="/ppt/notesSlides/notesSlide10.xml" Id="R90bba27d2b374f4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4f73df61374814" /><Relationship Type="http://schemas.openxmlformats.org/officeDocument/2006/relationships/image" Target="/ppt/media/image8.png" Id="R110f5a05515b4c1b" /><Relationship Type="http://schemas.openxmlformats.org/officeDocument/2006/relationships/notesSlide" Target="/ppt/notesSlides/notesSlide11.xml" Id="Rcd972b5ce6e64d1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e10d7e81ce4d9b" /><Relationship Type="http://schemas.openxmlformats.org/officeDocument/2006/relationships/notesSlide" Target="/ppt/notesSlides/notesSlide12.xml" Id="R2161b86d9cc4413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586f18257f448c" /><Relationship Type="http://schemas.openxmlformats.org/officeDocument/2006/relationships/notesSlide" Target="/ppt/notesSlides/notesSlide13.xml" Id="Rbb31ede8d46d440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e69699448a43ac" /><Relationship Type="http://schemas.openxmlformats.org/officeDocument/2006/relationships/notesSlide" Target="/ppt/notesSlides/notesSlide14.xml" Id="Rfedb71735a4c4db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29db3f4d8a42a4" /><Relationship Type="http://schemas.openxmlformats.org/officeDocument/2006/relationships/notesSlide" Target="/ppt/notesSlides/notesSlide15.xml" Id="R2d1a4de35ed740a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207c978fae4b22"/>
          <a:srcRect xmlns:a="http://schemas.openxmlformats.org/drawingml/2006/main" l="16506" t="0" r="1650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29075" y="0"/>
            <a:ext cx="8162925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BC7B66-8F84-48A1-8E9F-11A3C0FC7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290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31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598507-79B4-4486-9571-CC172F5E2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276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Хекслет Колледж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235A09-2354-4E95-BAA3-72D8F8DDC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ПМ1 · Сканирование и обработка</a:t>
            </a:r>
          </a:p>
          <a:p xmlns:a="http://schemas.openxmlformats.org/drawingml/2006/main">
            <a:pPr>
              <a:defRPr sz="10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графической информации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55A064-54E5-4737-8C2D-1957DC0D7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Занятие 47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72D3AE-7D42-4B20-A58B-B3046F21F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2952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782"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Финальная студийная работа: handoff и защита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08A4E8-6B5B-4E76-8C1F-B62C16201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Закрываем РО 1.1 проверенным production-комплектом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D6AF7F-644B-45B5-BFC7-8B0C2C00D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F878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F878D"/>
                </a:solidFill>
                <a:latin typeface="Arial"/>
                <a:ea typeface="Arial"/>
                <a:cs typeface="Arial"/>
              </a:rPr>
              <a:t>люди · идеи · инструменты · изображения · проекты</a:t>
            </a:r>
          </a:p>
        </p:txBody>
      </p:sp>
    </p:spTree>
    <p:extLst>
      <p:ext uri="{BB962C8B-B14F-4D97-AF65-F5344CB8AC3E}">
        <p14:creationId xmlns:p14="http://schemas.microsoft.com/office/powerpoint/2010/main" val="18009881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heme">
            <a:extLst xmlns:a="http://schemas.openxmlformats.org/drawingml/2006/main">
              <a:ext uri="{FF2B5EF4-FFF2-40B4-BE49-F238E27FC236}">
                <a16:creationId xmlns:a16="http://schemas.microsoft.com/office/drawing/2014/main" id="{A777F452-27D4-413A-9560-ADEA01CA5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Финальная студийная работа: handoff и защита</a:t>
            </a:r>
          </a:p>
        </p:txBody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FC024852-31B8-4196-88CB-0668B995F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476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9CD6FA-A177-48D9-9873-B42F31D60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972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9525">
            <a:solidFill>
              <a:srgbClr val="38424D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0CBB80-519F-490A-BBC6-D67434D05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67450"/>
            <a:ext cx="38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</a:ln>
        </p:spPr>
      </p:sp>
      <p:sp>
        <p:nvSpPr>
          <p:cNvPr id="5" name="number">
            <a:extLst xmlns:a="http://schemas.openxmlformats.org/drawingml/2006/main">
              <a:ext uri="{FF2B5EF4-FFF2-40B4-BE49-F238E27FC236}">
                <a16:creationId xmlns:a16="http://schemas.microsoft.com/office/drawing/2014/main" id="{DB62976C-1F87-4F1D-805A-346075F3C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79B831EB-45F5-4BA9-BA4D-8E6BBE230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Финал РО 1.1</a:t>
            </a:r>
          </a:p>
        </p:txBody>
      </p:sp>
      <p:sp>
        <p:nvSpPr>
          <p:cNvPr id="7" name="subtitle">
            <a:extLst xmlns:a="http://schemas.openxmlformats.org/drawingml/2006/main">
              <a:ext uri="{FF2B5EF4-FFF2-40B4-BE49-F238E27FC236}">
                <a16:creationId xmlns:a16="http://schemas.microsoft.com/office/drawing/2014/main" id="{46F43B0E-5A90-4290-83BE-FA1B850B7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Один проект соединяет Illustrator, Photoshop, Figma, critique, mobile и передачу файлов.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3952d4897648af"/>
          <a:srcRect xmlns:a="http://schemas.openxmlformats.org/drawingml/2006/main" l="0" t="1047" r="0" b="10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143125"/>
            <a:ext cx="6572250" cy="3619500"/>
          </a:xfrm>
          <a:prstGeom xmlns:a="http://schemas.openxmlformats.org/drawingml/2006/main" prst="rect">
            <a:avLst/>
          </a:prstGeom>
        </p:spPr>
      </p:pic>
      <p:sp>
        <p:nvSpPr>
          <p:cNvPr id="9" name="takeaway">
            <a:extLst xmlns:a="http://schemas.openxmlformats.org/drawingml/2006/main">
              <a:ext uri="{FF2B5EF4-FFF2-40B4-BE49-F238E27FC236}">
                <a16:creationId xmlns:a16="http://schemas.microsoft.com/office/drawing/2014/main" id="{D416A517-B195-4834-8915-7A066F14E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590800"/>
            <a:ext cx="328612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Финал показывает полный рабочий процесс.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952BC4-1971-4FF4-B7E2-AEB2CC4DF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476750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694CBF-B2BD-4125-9EFB-942428B09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6863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Наблюдаем и проверяем</a:t>
            </a:r>
          </a:p>
        </p:txBody>
      </p:sp>
      <p:sp>
        <p:nvSpPr>
          <p:cNvPr id="12" name="footer">
            <a:extLst xmlns:a="http://schemas.openxmlformats.org/drawingml/2006/main">
              <a:ext uri="{FF2B5EF4-FFF2-40B4-BE49-F238E27FC236}">
                <a16:creationId xmlns:a16="http://schemas.microsoft.com/office/drawing/2014/main" id="{74EAF240-D66B-4C51-AB9C-7320DC1D7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238875"/>
            <a:ext cx="10144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Финал показывает полный рабочий процесс.</a:t>
            </a:r>
          </a:p>
        </p:txBody>
      </p:sp>
    </p:spTree>
    <p:extLst>
      <p:ext uri="{BB962C8B-B14F-4D97-AF65-F5344CB8AC3E}">
        <p14:creationId xmlns:p14="http://schemas.microsoft.com/office/powerpoint/2010/main" val="7589365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heme">
            <a:extLst xmlns:a="http://schemas.openxmlformats.org/drawingml/2006/main">
              <a:ext uri="{FF2B5EF4-FFF2-40B4-BE49-F238E27FC236}">
                <a16:creationId xmlns:a16="http://schemas.microsoft.com/office/drawing/2014/main" id="{55B4B135-8AD2-44B8-8F99-7D64682F6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Финальная студийная работа: handoff и защита</a:t>
            </a:r>
          </a:p>
        </p:txBody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712E7997-B54C-43E9-965D-56BDDBD18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476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8DE98D-F9E7-4641-9B10-21ECE78A8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972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9525">
            <a:solidFill>
              <a:srgbClr val="38424D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D629C9-5D60-4144-8DDD-05947D6CE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67450"/>
            <a:ext cx="38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</a:ln>
        </p:spPr>
      </p:sp>
      <p:sp>
        <p:nvSpPr>
          <p:cNvPr id="5" name="number">
            <a:extLst xmlns:a="http://schemas.openxmlformats.org/drawingml/2006/main">
              <a:ext uri="{FF2B5EF4-FFF2-40B4-BE49-F238E27FC236}">
                <a16:creationId xmlns:a16="http://schemas.microsoft.com/office/drawing/2014/main" id="{4DB7FD22-9390-4F67-8606-A85D08EC5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DBBB1595-3803-45CC-9968-021D106FD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Что сдаём</a:t>
            </a:r>
          </a:p>
        </p:txBody>
      </p:sp>
      <p:sp>
        <p:nvSpPr>
          <p:cNvPr id="7" name="subtitle">
            <a:extLst xmlns:a="http://schemas.openxmlformats.org/drawingml/2006/main">
              <a:ext uri="{FF2B5EF4-FFF2-40B4-BE49-F238E27FC236}">
                <a16:creationId xmlns:a16="http://schemas.microsoft.com/office/drawing/2014/main" id="{F37A558D-448A-4640-ACC9-C709A132B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Desktop, mobile, Figma source, Illustrator master, exports, preview, README и SOURCES.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5830b670be4034"/>
          <a:srcRect xmlns:a="http://schemas.openxmlformats.org/drawingml/2006/main" l="0" t="1047" r="0" b="10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143125"/>
            <a:ext cx="6572250" cy="3619500"/>
          </a:xfrm>
          <a:prstGeom xmlns:a="http://schemas.openxmlformats.org/drawingml/2006/main" prst="rect">
            <a:avLst/>
          </a:prstGeom>
        </p:spPr>
      </p:pic>
      <p:sp>
        <p:nvSpPr>
          <p:cNvPr id="9" name="takeaway">
            <a:extLst xmlns:a="http://schemas.openxmlformats.org/drawingml/2006/main">
              <a:ext uri="{FF2B5EF4-FFF2-40B4-BE49-F238E27FC236}">
                <a16:creationId xmlns:a16="http://schemas.microsoft.com/office/drawing/2014/main" id="{26D50B85-CDFF-4E33-8E51-E2BD9DCBB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590800"/>
            <a:ext cx="328612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Комплект доказывает и результат, и происхождение.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26AEFD-562A-451B-B65A-D166442DC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476750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A0D8D6-E23E-46B2-8BDD-E1F299B91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6863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Наблюдаем и проверяем</a:t>
            </a:r>
          </a:p>
        </p:txBody>
      </p:sp>
      <p:sp>
        <p:nvSpPr>
          <p:cNvPr id="12" name="footer">
            <a:extLst xmlns:a="http://schemas.openxmlformats.org/drawingml/2006/main">
              <a:ext uri="{FF2B5EF4-FFF2-40B4-BE49-F238E27FC236}">
                <a16:creationId xmlns:a16="http://schemas.microsoft.com/office/drawing/2014/main" id="{DE7B739E-F6E5-4011-BB4D-B6B3F86CA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238875"/>
            <a:ext cx="10144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Комплект доказывает и результат, и происхождение.</a:t>
            </a:r>
          </a:p>
        </p:txBody>
      </p:sp>
    </p:spTree>
    <p:extLst>
      <p:ext uri="{BB962C8B-B14F-4D97-AF65-F5344CB8AC3E}">
        <p14:creationId xmlns:p14="http://schemas.microsoft.com/office/powerpoint/2010/main" val="209404018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heme">
            <a:extLst xmlns:a="http://schemas.openxmlformats.org/drawingml/2006/main">
              <a:ext uri="{FF2B5EF4-FFF2-40B4-BE49-F238E27FC236}">
                <a16:creationId xmlns:a16="http://schemas.microsoft.com/office/drawing/2014/main" id="{8DE1DB80-F128-4136-82CA-6548A5041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Финальная студийная работа: handoff и защита</a:t>
            </a:r>
          </a:p>
        </p:txBody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5AD2AD0E-9257-4BA1-A3FB-6E66E6E58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476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A55E55-DDB9-4893-B451-0AEDBB4A2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972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9525">
            <a:solidFill>
              <a:srgbClr val="38424D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F19AA0-DE40-4B9A-9B89-236FFFEDB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67450"/>
            <a:ext cx="38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</a:ln>
        </p:spPr>
      </p:sp>
      <p:sp>
        <p:nvSpPr>
          <p:cNvPr id="5" name="number">
            <a:extLst xmlns:a="http://schemas.openxmlformats.org/drawingml/2006/main">
              <a:ext uri="{FF2B5EF4-FFF2-40B4-BE49-F238E27FC236}">
                <a16:creationId xmlns:a16="http://schemas.microsoft.com/office/drawing/2014/main" id="{EA8E8CB1-5708-46AC-9CA5-1BD4D14C8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AF703C49-83C7-483F-B885-728FA04EF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Финальный QA</a:t>
            </a:r>
          </a:p>
        </p:txBody>
      </p:sp>
      <p:sp>
        <p:nvSpPr>
          <p:cNvPr id="7" name="subtitle">
            <a:extLst xmlns:a="http://schemas.openxmlformats.org/drawingml/2006/main">
              <a:ext uri="{FF2B5EF4-FFF2-40B4-BE49-F238E27FC236}">
                <a16:creationId xmlns:a16="http://schemas.microsoft.com/office/drawing/2014/main" id="{D85CF23B-A7DC-4D3B-A393-CE2AAEC4A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Открыть, изменить, экспортировать, понять, проследить источник и объяснить решение.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547BF0-679F-4806-A9DF-D44C060EC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415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415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DFCCF5-ADA2-45C3-B628-79A0C2951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2333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Открыть, изменить, экспортировать, понять, проследить источник и объяснить решение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21DBA1-9E63-4213-9E0F-E2652732E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36220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415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415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EFA0DF-4D12-4261-9503-FAAB471AA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048000"/>
            <a:ext cx="2333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Проверить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BD868E-E9C9-47A0-881F-1F09E083A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6220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415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415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4839AA-8E7A-473C-B0D9-5F5806215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048000"/>
            <a:ext cx="2333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Исправить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C97A51-D7C3-4B65-9C69-8598A48E3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6220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415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415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E73268-31BD-475A-ADC0-8345C43F5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48000"/>
            <a:ext cx="2333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Передать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801621-7571-498C-BA34-6B7A5E0B2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86375"/>
            <a:ext cx="1009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Шесть действий проверяют готовность.</a:t>
            </a:r>
          </a:p>
        </p:txBody>
      </p:sp>
      <p:sp>
        <p:nvSpPr>
          <p:cNvPr id="17" name="footer">
            <a:extLst xmlns:a="http://schemas.openxmlformats.org/drawingml/2006/main">
              <a:ext uri="{FF2B5EF4-FFF2-40B4-BE49-F238E27FC236}">
                <a16:creationId xmlns:a16="http://schemas.microsoft.com/office/drawing/2014/main" id="{B79905A2-8CAC-47BD-956C-DFF208AD5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238875"/>
            <a:ext cx="10144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Шесть действий проверяют готовность.</a:t>
            </a:r>
          </a:p>
        </p:txBody>
      </p:sp>
    </p:spTree>
    <p:extLst>
      <p:ext uri="{BB962C8B-B14F-4D97-AF65-F5344CB8AC3E}">
        <p14:creationId xmlns:p14="http://schemas.microsoft.com/office/powerpoint/2010/main" val="7852866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heme">
            <a:extLst xmlns:a="http://schemas.openxmlformats.org/drawingml/2006/main">
              <a:ext uri="{FF2B5EF4-FFF2-40B4-BE49-F238E27FC236}">
                <a16:creationId xmlns:a16="http://schemas.microsoft.com/office/drawing/2014/main" id="{7BE47E7B-8B6B-49E1-BA60-5A6D44729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Финальная студийная работа: handoff и защита</a:t>
            </a:r>
          </a:p>
        </p:txBody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1CC5F64F-3D9A-40FD-9E19-FCACED15E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476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D17AEB-3F1F-4D4C-973E-C34502455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972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9525">
            <a:solidFill>
              <a:srgbClr val="38424D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7DF0E5-D49A-458E-8D9A-6E18FDA9A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67450"/>
            <a:ext cx="38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</a:ln>
        </p:spPr>
      </p:sp>
      <p:sp>
        <p:nvSpPr>
          <p:cNvPr id="5" name="number">
            <a:extLst xmlns:a="http://schemas.openxmlformats.org/drawingml/2006/main">
              <a:ext uri="{FF2B5EF4-FFF2-40B4-BE49-F238E27FC236}">
                <a16:creationId xmlns:a16="http://schemas.microsoft.com/office/drawing/2014/main" id="{D50EF194-AA5E-4480-9017-5DAF7E6BD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F81C808E-C65D-40DD-9C0F-EF8E6D297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Проверка файлов</a:t>
            </a:r>
          </a:p>
        </p:txBody>
      </p:sp>
      <p:sp>
        <p:nvSpPr>
          <p:cNvPr id="7" name="subtitle">
            <a:extLst xmlns:a="http://schemas.openxmlformats.org/drawingml/2006/main">
              <a:ext uri="{FF2B5EF4-FFF2-40B4-BE49-F238E27FC236}">
                <a16:creationId xmlns:a16="http://schemas.microsoft.com/office/drawing/2014/main" id="{9370208B-54B7-4A1B-930B-5FE76B83C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Каждый важный файл открывается. Нет пустых ссылок, случайных дублей и неизвестных версий.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73ecc1d0504205"/>
          <a:srcRect xmlns:a="http://schemas.openxmlformats.org/drawingml/2006/main" l="0" t="1047" r="0" b="10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143125"/>
            <a:ext cx="6572250" cy="3619500"/>
          </a:xfrm>
          <a:prstGeom xmlns:a="http://schemas.openxmlformats.org/drawingml/2006/main" prst="rect">
            <a:avLst/>
          </a:prstGeom>
        </p:spPr>
      </p:pic>
      <p:sp>
        <p:nvSpPr>
          <p:cNvPr id="9" name="takeaway">
            <a:extLst xmlns:a="http://schemas.openxmlformats.org/drawingml/2006/main">
              <a:ext uri="{FF2B5EF4-FFF2-40B4-BE49-F238E27FC236}">
                <a16:creationId xmlns:a16="http://schemas.microsoft.com/office/drawing/2014/main" id="{7F941B42-1F7A-439D-A587-F0FAB95B1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590800"/>
            <a:ext cx="328612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Техническая целостность проверяется до защиты.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51DCB9-75C7-4A9E-AF3F-980902601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476750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DDCBEA-CB10-4CD6-AC53-729A5D37C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6863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Наблюдаем и проверяем</a:t>
            </a:r>
          </a:p>
        </p:txBody>
      </p:sp>
      <p:sp>
        <p:nvSpPr>
          <p:cNvPr id="12" name="footer">
            <a:extLst xmlns:a="http://schemas.openxmlformats.org/drawingml/2006/main">
              <a:ext uri="{FF2B5EF4-FFF2-40B4-BE49-F238E27FC236}">
                <a16:creationId xmlns:a16="http://schemas.microsoft.com/office/drawing/2014/main" id="{B2948746-99EA-48B4-BAB4-60BA6A334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238875"/>
            <a:ext cx="10144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Техническая целостность проверяется до защиты.</a:t>
            </a:r>
          </a:p>
        </p:txBody>
      </p:sp>
    </p:spTree>
    <p:extLst>
      <p:ext uri="{BB962C8B-B14F-4D97-AF65-F5344CB8AC3E}">
        <p14:creationId xmlns:p14="http://schemas.microsoft.com/office/powerpoint/2010/main" val="11204485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heme">
            <a:extLst xmlns:a="http://schemas.openxmlformats.org/drawingml/2006/main">
              <a:ext uri="{FF2B5EF4-FFF2-40B4-BE49-F238E27FC236}">
                <a16:creationId xmlns:a16="http://schemas.microsoft.com/office/drawing/2014/main" id="{1AD83F9A-EC94-4F0E-A9AF-96C5FBE8A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Финальная студийная работа: handoff и защита</a:t>
            </a:r>
          </a:p>
        </p:txBody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D396542D-97B1-452C-904F-685B76DAA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476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EA6BEA-54D4-4FDC-8211-FEA54240C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972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9525">
            <a:solidFill>
              <a:srgbClr val="38424D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C5F0DC-8186-4A61-8B22-3FC3D1740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67450"/>
            <a:ext cx="38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</a:ln>
        </p:spPr>
      </p:sp>
      <p:sp>
        <p:nvSpPr>
          <p:cNvPr id="5" name="number">
            <a:extLst xmlns:a="http://schemas.openxmlformats.org/drawingml/2006/main">
              <a:ext uri="{FF2B5EF4-FFF2-40B4-BE49-F238E27FC236}">
                <a16:creationId xmlns:a16="http://schemas.microsoft.com/office/drawing/2014/main" id="{7427E8EC-9BD7-4389-A7CC-CC201DB4C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02E0C8C0-1A8F-4484-846D-0D3967869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Проверка desktop и mobile</a:t>
            </a:r>
          </a:p>
        </p:txBody>
      </p:sp>
      <p:sp>
        <p:nvSpPr>
          <p:cNvPr id="7" name="subtitle">
            <a:extLst xmlns:a="http://schemas.openxmlformats.org/drawingml/2006/main">
              <a:ext uri="{FF2B5EF4-FFF2-40B4-BE49-F238E27FC236}">
                <a16:creationId xmlns:a16="http://schemas.microsoft.com/office/drawing/2014/main" id="{75BD5D28-B474-474C-A444-116CF70FA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Тема, фокус и CTA сохраняются. Узкий экран не содержит горизонтального выхода.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6165ED-7AD9-4E53-BB20-1C09A71FD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33625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415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4158"/>
                </a:solidFill>
                <a:latin typeface="Arial"/>
                <a:ea typeface="Arial"/>
                <a:cs typeface="Arial"/>
              </a:rPr>
              <a:t>ДО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847D17-0219-4FF2-98AA-E63C06A22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33625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8C63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8C63FF"/>
                </a:solidFill>
                <a:latin typeface="Arial"/>
                <a:ea typeface="Arial"/>
                <a:cs typeface="Arial"/>
              </a:rPr>
              <a:t>ПОСЛЕ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ED9E3A-3121-4232-8010-113954732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0"/>
            <a:ext cx="4381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51D22"/>
          </a:solidFill>
          <a:ln xmlns:a="http://schemas.openxmlformats.org/drawingml/2006/main" w="9525">
            <a:solidFill>
              <a:srgbClr val="38424D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7CD900-39F5-4BF6-AF9B-A8551FAC1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57500"/>
            <a:ext cx="4381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51D22"/>
          </a:solidFill>
          <a:ln xmlns:a="http://schemas.openxmlformats.org/drawingml/2006/main" w="9525">
            <a:solidFill>
              <a:srgbClr val="38424D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3BBDFB-3D14-4BB9-80EE-201FCD8D0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143250"/>
            <a:ext cx="3810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Проблема видна</a:t>
            </a:r>
          </a:p>
          <a:p xmlns:a="http://schemas.openxmlformats.org/drawingml/2006/main">
            <a:pPr>
              <a:defRPr sz="217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в масштабе, структуре</a:t>
            </a:r>
          </a:p>
          <a:p xmlns:a="http://schemas.openxmlformats.org/drawingml/2006/main">
            <a:pPr>
              <a:defRPr sz="217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или порядке чтения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EE5C4D-1A14-4A93-9BE8-C8EDBCA9A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143250"/>
            <a:ext cx="3810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Одна точная правка</a:t>
            </a:r>
          </a:p>
          <a:p xmlns:a="http://schemas.openxmlformats.org/drawingml/2006/main">
            <a:pPr>
              <a:defRPr sz="217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связана с наблюдением</a:t>
            </a:r>
          </a:p>
          <a:p xmlns:a="http://schemas.openxmlformats.org/drawingml/2006/main">
            <a:pPr>
              <a:defRPr sz="217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и сохраняет систему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23E225-33DF-4EFA-8CB6-56AD53C0C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86375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Два экрана образуют одну систему.</a:t>
            </a:r>
          </a:p>
        </p:txBody>
      </p:sp>
      <p:sp>
        <p:nvSpPr>
          <p:cNvPr id="15" name="footer">
            <a:extLst xmlns:a="http://schemas.openxmlformats.org/drawingml/2006/main">
              <a:ext uri="{FF2B5EF4-FFF2-40B4-BE49-F238E27FC236}">
                <a16:creationId xmlns:a16="http://schemas.microsoft.com/office/drawing/2014/main" id="{78ACF118-0DE4-4B8C-B053-6AB5CF127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238875"/>
            <a:ext cx="10144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Два экрана образуют одну систему.</a:t>
            </a:r>
          </a:p>
        </p:txBody>
      </p:sp>
    </p:spTree>
    <p:extLst>
      <p:ext uri="{BB962C8B-B14F-4D97-AF65-F5344CB8AC3E}">
        <p14:creationId xmlns:p14="http://schemas.microsoft.com/office/powerpoint/2010/main" val="6226863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heme">
            <a:extLst xmlns:a="http://schemas.openxmlformats.org/drawingml/2006/main">
              <a:ext uri="{FF2B5EF4-FFF2-40B4-BE49-F238E27FC236}">
                <a16:creationId xmlns:a16="http://schemas.microsoft.com/office/drawing/2014/main" id="{B96C828C-9935-4E78-AC92-2A5C4F1AC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Финальная студийная работа: handoff и защита</a:t>
            </a:r>
          </a:p>
        </p:txBody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37B0EE91-6047-4FCF-B4C2-F11D91723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476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1EBBCE-5265-4CDD-A272-D3D95980B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972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9525">
            <a:solidFill>
              <a:srgbClr val="38424D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610712-1313-4C73-96B7-197D6C545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67450"/>
            <a:ext cx="38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</a:ln>
        </p:spPr>
      </p:sp>
      <p:sp>
        <p:nvSpPr>
          <p:cNvPr id="5" name="number">
            <a:extLst xmlns:a="http://schemas.openxmlformats.org/drawingml/2006/main">
              <a:ext uri="{FF2B5EF4-FFF2-40B4-BE49-F238E27FC236}">
                <a16:creationId xmlns:a16="http://schemas.microsoft.com/office/drawing/2014/main" id="{A9286BAC-DA6F-443F-B315-F62898854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716C77C3-DF5E-469D-A377-773B97AF4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Проверка assets</a:t>
            </a:r>
          </a:p>
        </p:txBody>
      </p:sp>
      <p:sp>
        <p:nvSpPr>
          <p:cNvPr id="7" name="subtitle">
            <a:extLst xmlns:a="http://schemas.openxmlformats.org/drawingml/2006/main">
              <a:ext uri="{FF2B5EF4-FFF2-40B4-BE49-F238E27FC236}">
                <a16:creationId xmlns:a16="http://schemas.microsoft.com/office/drawing/2014/main" id="{A9F09A3C-3A71-440D-A242-3EE99F2DA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SVG остаются чёткими, raster имеет достаточный размер, masters сохранены.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527a840ba0404e"/>
          <a:srcRect xmlns:a="http://schemas.openxmlformats.org/drawingml/2006/main" l="0" t="1047" r="0" b="10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143125"/>
            <a:ext cx="6572250" cy="3619500"/>
          </a:xfrm>
          <a:prstGeom xmlns:a="http://schemas.openxmlformats.org/drawingml/2006/main" prst="rect">
            <a:avLst/>
          </a:prstGeom>
        </p:spPr>
      </p:pic>
      <p:sp>
        <p:nvSpPr>
          <p:cNvPr id="9" name="takeaway">
            <a:extLst xmlns:a="http://schemas.openxmlformats.org/drawingml/2006/main">
              <a:ext uri="{FF2B5EF4-FFF2-40B4-BE49-F238E27FC236}">
                <a16:creationId xmlns:a16="http://schemas.microsoft.com/office/drawing/2014/main" id="{625863C9-1156-40F9-9493-03DA3CA0F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590800"/>
            <a:ext cx="328612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Export подтверждает качество source.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00A936-9765-4C43-B5B3-7EDBDC977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476750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CCEBE8-2D0D-4081-B095-933BD6C63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6863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Наблюдаем и проверяем</a:t>
            </a:r>
          </a:p>
        </p:txBody>
      </p:sp>
      <p:sp>
        <p:nvSpPr>
          <p:cNvPr id="12" name="footer">
            <a:extLst xmlns:a="http://schemas.openxmlformats.org/drawingml/2006/main">
              <a:ext uri="{FF2B5EF4-FFF2-40B4-BE49-F238E27FC236}">
                <a16:creationId xmlns:a16="http://schemas.microsoft.com/office/drawing/2014/main" id="{9B9A0E00-B843-43D0-AFEE-03707D06E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238875"/>
            <a:ext cx="10144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Export подтверждает качество source.</a:t>
            </a:r>
          </a:p>
        </p:txBody>
      </p:sp>
    </p:spTree>
    <p:extLst>
      <p:ext uri="{BB962C8B-B14F-4D97-AF65-F5344CB8AC3E}">
        <p14:creationId xmlns:p14="http://schemas.microsoft.com/office/powerpoint/2010/main" val="157503468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heme">
            <a:extLst xmlns:a="http://schemas.openxmlformats.org/drawingml/2006/main">
              <a:ext uri="{FF2B5EF4-FFF2-40B4-BE49-F238E27FC236}">
                <a16:creationId xmlns:a16="http://schemas.microsoft.com/office/drawing/2014/main" id="{4F0E7726-FB0B-4D3D-B89A-D0804B5E4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Финальная студийная работа: handoff и защита</a:t>
            </a:r>
          </a:p>
        </p:txBody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1089035C-FDDF-4E16-96E8-1D8DD8452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476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4E1FC6-795A-43D8-8543-096BF2E5A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972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9525">
            <a:solidFill>
              <a:srgbClr val="38424D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5D31F9-D375-43A6-92F0-51AE23872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67450"/>
            <a:ext cx="38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</a:ln>
        </p:spPr>
      </p:sp>
      <p:sp>
        <p:nvSpPr>
          <p:cNvPr id="5" name="number">
            <a:extLst xmlns:a="http://schemas.openxmlformats.org/drawingml/2006/main">
              <a:ext uri="{FF2B5EF4-FFF2-40B4-BE49-F238E27FC236}">
                <a16:creationId xmlns:a16="http://schemas.microsoft.com/office/drawing/2014/main" id="{61C5A191-7929-4FAA-8FAE-AC1CD8475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54292F33-A861-4A90-A58F-73FC2F827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Показ преподавателя</a:t>
            </a:r>
          </a:p>
        </p:txBody>
      </p:sp>
      <p:sp>
        <p:nvSpPr>
          <p:cNvPr id="7" name="subtitle">
            <a:extLst xmlns:a="http://schemas.openxmlformats.org/drawingml/2006/main">
              <a:ext uri="{FF2B5EF4-FFF2-40B4-BE49-F238E27FC236}">
                <a16:creationId xmlns:a16="http://schemas.microsoft.com/office/drawing/2014/main" id="{F7703611-6999-4CAB-BFF6-D729D4419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Короткий QA одного проекта: от папки до Present и повторного экспорта.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465ae8873d4d3c"/>
          <a:srcRect xmlns:a="http://schemas.openxmlformats.org/drawingml/2006/main" l="0" t="1047" r="0" b="10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143125"/>
            <a:ext cx="6572250" cy="3619500"/>
          </a:xfrm>
          <a:prstGeom xmlns:a="http://schemas.openxmlformats.org/drawingml/2006/main" prst="rect">
            <a:avLst/>
          </a:prstGeom>
        </p:spPr>
      </p:pic>
      <p:sp>
        <p:nvSpPr>
          <p:cNvPr id="9" name="takeaway">
            <a:extLst xmlns:a="http://schemas.openxmlformats.org/drawingml/2006/main">
              <a:ext uri="{FF2B5EF4-FFF2-40B4-BE49-F238E27FC236}">
                <a16:creationId xmlns:a16="http://schemas.microsoft.com/office/drawing/2014/main" id="{F6592D2B-14E9-49E8-9227-311DC7C57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590800"/>
            <a:ext cx="328612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Проверка идёт по действиям, а не по впечатлению.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6EBB48-5967-4E97-ACB4-3C3156EBB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476750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63FBD4-6679-47F2-AEA0-6343C4EC1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6863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Наблюдаем и проверяем</a:t>
            </a:r>
          </a:p>
        </p:txBody>
      </p:sp>
      <p:sp>
        <p:nvSpPr>
          <p:cNvPr id="12" name="footer">
            <a:extLst xmlns:a="http://schemas.openxmlformats.org/drawingml/2006/main">
              <a:ext uri="{FF2B5EF4-FFF2-40B4-BE49-F238E27FC236}">
                <a16:creationId xmlns:a16="http://schemas.microsoft.com/office/drawing/2014/main" id="{55B81F1A-195E-41FF-9F5D-C21F00608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238875"/>
            <a:ext cx="10144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Проверка идёт по действиям, а не по впечатлению.</a:t>
            </a:r>
          </a:p>
        </p:txBody>
      </p:sp>
    </p:spTree>
    <p:extLst>
      <p:ext uri="{BB962C8B-B14F-4D97-AF65-F5344CB8AC3E}">
        <p14:creationId xmlns:p14="http://schemas.microsoft.com/office/powerpoint/2010/main" val="54604134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heme">
            <a:extLst xmlns:a="http://schemas.openxmlformats.org/drawingml/2006/main">
              <a:ext uri="{FF2B5EF4-FFF2-40B4-BE49-F238E27FC236}">
                <a16:creationId xmlns:a16="http://schemas.microsoft.com/office/drawing/2014/main" id="{1D867CA8-73AF-48D6-A834-6782462FF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Финальная студийная работа: handoff и защита</a:t>
            </a:r>
          </a:p>
        </p:txBody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C5FC8133-0B73-409C-AE7B-DA6418565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476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D62081-D632-42D2-BEC7-F7B316401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972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9525">
            <a:solidFill>
              <a:srgbClr val="38424D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D53497-D34B-4BBE-8F4C-09B3C6DB1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67450"/>
            <a:ext cx="38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</a:ln>
        </p:spPr>
      </p:sp>
      <p:sp>
        <p:nvSpPr>
          <p:cNvPr id="5" name="number">
            <a:extLst xmlns:a="http://schemas.openxmlformats.org/drawingml/2006/main">
              <a:ext uri="{FF2B5EF4-FFF2-40B4-BE49-F238E27FC236}">
                <a16:creationId xmlns:a16="http://schemas.microsoft.com/office/drawing/2014/main" id="{A41EECE9-E8B2-4BF8-A9EF-E6DC644B7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07B99A9A-3963-4D10-850C-6509F9C8E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Независимый handoff test</a:t>
            </a:r>
          </a:p>
        </p:txBody>
      </p:sp>
      <p:sp>
        <p:nvSpPr>
          <p:cNvPr id="7" name="subtitle">
            <a:extLst xmlns:a="http://schemas.openxmlformats.org/drawingml/2006/main">
              <a:ext uri="{FF2B5EF4-FFF2-40B4-BE49-F238E27FC236}">
                <a16:creationId xmlns:a16="http://schemas.microsoft.com/office/drawing/2014/main" id="{D626CB1A-9742-422D-9CA9-F2DC2A6AB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Получатель открывает комплект и выполняет одну правку без помощи автора.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bff78163ac4057"/>
          <a:srcRect xmlns:a="http://schemas.openxmlformats.org/drawingml/2006/main" l="0" t="1047" r="0" b="10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143125"/>
            <a:ext cx="6572250" cy="3619500"/>
          </a:xfrm>
          <a:prstGeom xmlns:a="http://schemas.openxmlformats.org/drawingml/2006/main" prst="rect">
            <a:avLst/>
          </a:prstGeom>
        </p:spPr>
      </p:pic>
      <p:sp>
        <p:nvSpPr>
          <p:cNvPr id="9" name="takeaway">
            <a:extLst xmlns:a="http://schemas.openxmlformats.org/drawingml/2006/main">
              <a:ext uri="{FF2B5EF4-FFF2-40B4-BE49-F238E27FC236}">
                <a16:creationId xmlns:a16="http://schemas.microsoft.com/office/drawing/2014/main" id="{687DA063-1909-4413-804A-E15FF9F73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590800"/>
            <a:ext cx="328612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Продолжение чужой работы проверяет ясность передачи.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F35446-7267-4A8A-B681-707634967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476750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481A73-8364-4BA5-B378-9F83C5479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6863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Сравниваем решение</a:t>
            </a:r>
          </a:p>
        </p:txBody>
      </p:sp>
      <p:sp>
        <p:nvSpPr>
          <p:cNvPr id="12" name="footer">
            <a:extLst xmlns:a="http://schemas.openxmlformats.org/drawingml/2006/main">
              <a:ext uri="{FF2B5EF4-FFF2-40B4-BE49-F238E27FC236}">
                <a16:creationId xmlns:a16="http://schemas.microsoft.com/office/drawing/2014/main" id="{8CBE2D25-8F4C-4D19-A241-D939D7A4C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238875"/>
            <a:ext cx="10144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Продолжение чужой работы проверяет ясность передачи.</a:t>
            </a:r>
          </a:p>
        </p:txBody>
      </p:sp>
    </p:spTree>
    <p:extLst>
      <p:ext uri="{BB962C8B-B14F-4D97-AF65-F5344CB8AC3E}">
        <p14:creationId xmlns:p14="http://schemas.microsoft.com/office/powerpoint/2010/main" val="1628400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heme">
            <a:extLst xmlns:a="http://schemas.openxmlformats.org/drawingml/2006/main">
              <a:ext uri="{FF2B5EF4-FFF2-40B4-BE49-F238E27FC236}">
                <a16:creationId xmlns:a16="http://schemas.microsoft.com/office/drawing/2014/main" id="{D3EF5FAB-515B-49F6-8DF8-DE368E348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Финальная студийная работа: handoff и защита</a:t>
            </a:r>
          </a:p>
        </p:txBody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16B16699-A1F2-4B51-87ED-4D4928F92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476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4E6BD4-138E-497F-A117-B265FAC0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972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9525">
            <a:solidFill>
              <a:srgbClr val="38424D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6DE400-29AB-4EC7-9F5F-F76CEC61C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67450"/>
            <a:ext cx="38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</a:ln>
        </p:spPr>
      </p:sp>
      <p:sp>
        <p:nvSpPr>
          <p:cNvPr id="5" name="number">
            <a:extLst xmlns:a="http://schemas.openxmlformats.org/drawingml/2006/main">
              <a:ext uri="{FF2B5EF4-FFF2-40B4-BE49-F238E27FC236}">
                <a16:creationId xmlns:a16="http://schemas.microsoft.com/office/drawing/2014/main" id="{0BBF1982-4BD3-4235-B4DB-E92858A54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217"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DE55A417-58B8-4656-981D-A35B59D33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Evidence проекта</a:t>
            </a:r>
          </a:p>
        </p:txBody>
      </p:sp>
      <p:sp>
        <p:nvSpPr>
          <p:cNvPr id="7" name="subtitle">
            <a:extLst xmlns:a="http://schemas.openxmlformats.org/drawingml/2006/main">
              <a:ext uri="{FF2B5EF4-FFF2-40B4-BE49-F238E27FC236}">
                <a16:creationId xmlns:a16="http://schemas.microsoft.com/office/drawing/2014/main" id="{B6222B03-A09D-4C32-9FCD-807EAEDC1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Before/after, critique note, исправление и запись происхождения входят в комплект.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329138-1645-4662-BEE2-3DBDC08F6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4000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581"/>
          </a:bodyPr>
          <a:lstStyle xmlns:a="http://schemas.openxmlformats.org/drawingml/2006/main"/>
          <a:p xmlns:a="http://schemas.openxmlformats.org/drawingml/2006/main">
            <a:pPr>
              <a:defRPr sz="5850" b="1">
                <a:solidFill>
                  <a:srgbClr val="FF4158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FF4158"/>
                </a:solidFill>
                <a:latin typeface="Arial"/>
                <a:ea typeface="Arial"/>
                <a:cs typeface="Arial"/>
              </a:rPr>
              <a:t>РО 1.1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876708-66AA-4751-A618-BF9221AE3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143125"/>
            <a:ext cx="5905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Before/after, critique note, исправление и запись происхождения входят в комплект.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C2EC62-AE4C-4639-BFDF-A92DD0C93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810000"/>
            <a:ext cx="5905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Процесс нельзя восстанавливать по памяти после сдачи.</a:t>
            </a:r>
          </a:p>
        </p:txBody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C4E3CB18-19A2-447C-9FA1-229795A57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238875"/>
            <a:ext cx="10144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Процесс нельзя восстанавливать по памяти после сдачи.</a:t>
            </a:r>
          </a:p>
        </p:txBody>
      </p:sp>
    </p:spTree>
    <p:extLst>
      <p:ext uri="{BB962C8B-B14F-4D97-AF65-F5344CB8AC3E}">
        <p14:creationId xmlns:p14="http://schemas.microsoft.com/office/powerpoint/2010/main" val="137126552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heme">
            <a:extLst xmlns:a="http://schemas.openxmlformats.org/drawingml/2006/main">
              <a:ext uri="{FF2B5EF4-FFF2-40B4-BE49-F238E27FC236}">
                <a16:creationId xmlns:a16="http://schemas.microsoft.com/office/drawing/2014/main" id="{710DFD14-4484-4685-A2C6-0325FDDF9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Финальная студийная работа: handoff и защита</a:t>
            </a:r>
          </a:p>
        </p:txBody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312799D7-DA2A-4D95-9495-D479B0F7C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476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E3E698-9A7D-4ED4-94CC-6E654D9F7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972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9525">
            <a:solidFill>
              <a:srgbClr val="38424D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3A338D-DCE8-4EF6-AC12-457A419F5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67450"/>
            <a:ext cx="38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</a:ln>
        </p:spPr>
      </p:sp>
      <p:sp>
        <p:nvSpPr>
          <p:cNvPr id="5" name="number">
            <a:extLst xmlns:a="http://schemas.openxmlformats.org/drawingml/2006/main">
              <a:ext uri="{FF2B5EF4-FFF2-40B4-BE49-F238E27FC236}">
                <a16:creationId xmlns:a16="http://schemas.microsoft.com/office/drawing/2014/main" id="{935EAD2D-958A-421B-AF1E-AC84C9386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628"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C5115BEE-09F9-4000-8B4A-B4ADB0CCD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Защита за 90 секунд</a:t>
            </a:r>
          </a:p>
        </p:txBody>
      </p:sp>
      <p:sp>
        <p:nvSpPr>
          <p:cNvPr id="7" name="subtitle">
            <a:extLst xmlns:a="http://schemas.openxmlformats.org/drawingml/2006/main">
              <a:ext uri="{FF2B5EF4-FFF2-40B4-BE49-F238E27FC236}">
                <a16:creationId xmlns:a16="http://schemas.microsoft.com/office/drawing/2014/main" id="{576A333D-E007-44FB-8B81-292F5B4EC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Задача, главное решение, проверка, исправление и готовность к передаче.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0f5a05515b4c1b"/>
          <a:srcRect xmlns:a="http://schemas.openxmlformats.org/drawingml/2006/main" l="0" t="1047" r="0" b="10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143125"/>
            <a:ext cx="6572250" cy="3619500"/>
          </a:xfrm>
          <a:prstGeom xmlns:a="http://schemas.openxmlformats.org/drawingml/2006/main" prst="rect">
            <a:avLst/>
          </a:prstGeom>
        </p:spPr>
      </p:pic>
      <p:sp>
        <p:nvSpPr>
          <p:cNvPr id="9" name="takeaway">
            <a:extLst xmlns:a="http://schemas.openxmlformats.org/drawingml/2006/main">
              <a:ext uri="{FF2B5EF4-FFF2-40B4-BE49-F238E27FC236}">
                <a16:creationId xmlns:a16="http://schemas.microsoft.com/office/drawing/2014/main" id="{72B29709-B7F2-4531-A29F-886CD753D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590800"/>
            <a:ext cx="328612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Защита объясняет решения, а не кнопки программы.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3AEAA7-0FDF-4FE7-9773-6F41F232A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476750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B57724-4357-42EF-BF34-222ABB9B7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6863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Сравниваем решение</a:t>
            </a:r>
          </a:p>
        </p:txBody>
      </p:sp>
      <p:sp>
        <p:nvSpPr>
          <p:cNvPr id="12" name="footer">
            <a:extLst xmlns:a="http://schemas.openxmlformats.org/drawingml/2006/main">
              <a:ext uri="{FF2B5EF4-FFF2-40B4-BE49-F238E27FC236}">
                <a16:creationId xmlns:a16="http://schemas.microsoft.com/office/drawing/2014/main" id="{D9856FF7-95BA-4CE3-9C90-64853C89E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238875"/>
            <a:ext cx="10144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Защита объясняет решения, а не кнопки программы.</a:t>
            </a:r>
          </a:p>
        </p:txBody>
      </p:sp>
    </p:spTree>
    <p:extLst>
      <p:ext uri="{BB962C8B-B14F-4D97-AF65-F5344CB8AC3E}">
        <p14:creationId xmlns:p14="http://schemas.microsoft.com/office/powerpoint/2010/main" val="149500646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heme">
            <a:extLst xmlns:a="http://schemas.openxmlformats.org/drawingml/2006/main">
              <a:ext uri="{FF2B5EF4-FFF2-40B4-BE49-F238E27FC236}">
                <a16:creationId xmlns:a16="http://schemas.microsoft.com/office/drawing/2014/main" id="{2E5237D4-EE83-428B-9649-DA0C581F7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Финальная студийная работа: handoff и защита</a:t>
            </a:r>
          </a:p>
        </p:txBody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1B41245B-1085-4D22-B9F2-97487B8FD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476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D6D664-E972-42A3-8E43-365F0119A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972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9525">
            <a:solidFill>
              <a:srgbClr val="38424D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854017-1A84-4B36-977D-1DEE4F3B0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67450"/>
            <a:ext cx="38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</a:ln>
        </p:spPr>
      </p:sp>
      <p:sp>
        <p:nvSpPr>
          <p:cNvPr id="5" name="number">
            <a:extLst xmlns:a="http://schemas.openxmlformats.org/drawingml/2006/main">
              <a:ext uri="{FF2B5EF4-FFF2-40B4-BE49-F238E27FC236}">
                <a16:creationId xmlns:a16="http://schemas.microsoft.com/office/drawing/2014/main" id="{62FD6CFB-1931-4598-A055-C0B0BA829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217"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4D92D771-0D03-48B0-964D-0D49E5009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Что исправить за пять минут</a:t>
            </a:r>
          </a:p>
        </p:txBody>
      </p:sp>
      <p:sp>
        <p:nvSpPr>
          <p:cNvPr id="7" name="subtitle">
            <a:extLst xmlns:a="http://schemas.openxmlformats.org/drawingml/2006/main">
              <a:ext uri="{FF2B5EF4-FFF2-40B4-BE49-F238E27FC236}">
                <a16:creationId xmlns:a16="http://schemas.microsoft.com/office/drawing/2014/main" id="{45EAEB35-2C1C-47CB-B4EC-1A82D9E9F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Missing file, неправильное имя, потерянный source или неясная версия.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CBF1BD-A8AD-4C9D-8031-8152C6860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33625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415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4158"/>
                </a:solidFill>
                <a:latin typeface="Arial"/>
                <a:ea typeface="Arial"/>
                <a:cs typeface="Arial"/>
              </a:rPr>
              <a:t>ДО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B5B46E-CC08-4164-B9DA-099041C9A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33625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8C63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8C63FF"/>
                </a:solidFill>
                <a:latin typeface="Arial"/>
                <a:ea typeface="Arial"/>
                <a:cs typeface="Arial"/>
              </a:rPr>
              <a:t>ПОСЛЕ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961738-3E39-4BB2-8B8E-51F50611F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0"/>
            <a:ext cx="4381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51D22"/>
          </a:solidFill>
          <a:ln xmlns:a="http://schemas.openxmlformats.org/drawingml/2006/main" w="9525">
            <a:solidFill>
              <a:srgbClr val="38424D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2CA3BF-52F7-40F2-AED3-0A633BEB0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57500"/>
            <a:ext cx="4381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51D22"/>
          </a:solidFill>
          <a:ln xmlns:a="http://schemas.openxmlformats.org/drawingml/2006/main" w="9525">
            <a:solidFill>
              <a:srgbClr val="38424D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7DC897-934F-443C-BB27-F6E19CA1A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143250"/>
            <a:ext cx="3810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Проблема видна</a:t>
            </a:r>
          </a:p>
          <a:p xmlns:a="http://schemas.openxmlformats.org/drawingml/2006/main">
            <a:pPr>
              <a:defRPr sz="217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в масштабе, структуре</a:t>
            </a:r>
          </a:p>
          <a:p xmlns:a="http://schemas.openxmlformats.org/drawingml/2006/main">
            <a:pPr>
              <a:defRPr sz="217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или порядке чтения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2C7931-B577-4E05-B6C3-F9EEDDCDF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143250"/>
            <a:ext cx="3810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Одна точная правка</a:t>
            </a:r>
          </a:p>
          <a:p xmlns:a="http://schemas.openxmlformats.org/drawingml/2006/main">
            <a:pPr>
              <a:defRPr sz="217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связана с наблюдением</a:t>
            </a:r>
          </a:p>
          <a:p xmlns:a="http://schemas.openxmlformats.org/drawingml/2006/main">
            <a:pPr>
              <a:defRPr sz="217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и сохраняет систему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52545E-AFC0-4B6F-B332-77A7FAFE4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86375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Последняя точная правка важнее декоративного эффекта.</a:t>
            </a:r>
          </a:p>
        </p:txBody>
      </p:sp>
      <p:sp>
        <p:nvSpPr>
          <p:cNvPr id="15" name="footer">
            <a:extLst xmlns:a="http://schemas.openxmlformats.org/drawingml/2006/main">
              <a:ext uri="{FF2B5EF4-FFF2-40B4-BE49-F238E27FC236}">
                <a16:creationId xmlns:a16="http://schemas.microsoft.com/office/drawing/2014/main" id="{738CE535-441E-40BA-B334-B999775D8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238875"/>
            <a:ext cx="10144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Последняя точная правка важнее декоративного эффекта.</a:t>
            </a:r>
          </a:p>
        </p:txBody>
      </p:sp>
    </p:spTree>
    <p:extLst>
      <p:ext uri="{BB962C8B-B14F-4D97-AF65-F5344CB8AC3E}">
        <p14:creationId xmlns:p14="http://schemas.microsoft.com/office/powerpoint/2010/main" val="33855749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heme">
            <a:extLst xmlns:a="http://schemas.openxmlformats.org/drawingml/2006/main">
              <a:ext uri="{FF2B5EF4-FFF2-40B4-BE49-F238E27FC236}">
                <a16:creationId xmlns:a16="http://schemas.microsoft.com/office/drawing/2014/main" id="{CD4CDBAD-3CC8-431A-AC7A-E25A783A1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Финальная студийная работа: handoff и защита</a:t>
            </a:r>
          </a:p>
        </p:txBody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0DDDD433-06A6-4D11-8BB3-4B38B8E52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476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C7E26D-6393-461E-855A-9309AE2E9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972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9525">
            <a:solidFill>
              <a:srgbClr val="38424D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494845-26BB-4011-ACCF-B634E672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67450"/>
            <a:ext cx="38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</a:ln>
        </p:spPr>
      </p:sp>
      <p:sp>
        <p:nvSpPr>
          <p:cNvPr id="5" name="number">
            <a:extLst xmlns:a="http://schemas.openxmlformats.org/drawingml/2006/main">
              <a:ext uri="{FF2B5EF4-FFF2-40B4-BE49-F238E27FC236}">
                <a16:creationId xmlns:a16="http://schemas.microsoft.com/office/drawing/2014/main" id="{82D56C2A-6118-4A45-A4B5-B32606484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217"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2A570872-FDA9-49F4-BF1D-FA253B2F9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Критерии финала</a:t>
            </a:r>
          </a:p>
        </p:txBody>
      </p:sp>
      <p:sp>
        <p:nvSpPr>
          <p:cNvPr id="7" name="subtitle">
            <a:extLst xmlns:a="http://schemas.openxmlformats.org/drawingml/2006/main">
              <a:ext uri="{FF2B5EF4-FFF2-40B4-BE49-F238E27FC236}">
                <a16:creationId xmlns:a16="http://schemas.microsoft.com/office/drawing/2014/main" id="{5516DC5E-7376-4747-AE90-668502236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Цельный экран, адаптация, понятный пакет, traceable assets и защита решений.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7E5D8D-C547-4A6A-A07A-0F9F97216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4000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581"/>
          </a:bodyPr>
          <a:lstStyle xmlns:a="http://schemas.openxmlformats.org/drawingml/2006/main"/>
          <a:p xmlns:a="http://schemas.openxmlformats.org/drawingml/2006/main">
            <a:pPr>
              <a:defRPr sz="5850" b="1">
                <a:solidFill>
                  <a:srgbClr val="FF4158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FF4158"/>
                </a:solidFill>
                <a:latin typeface="Arial"/>
                <a:ea typeface="Arial"/>
                <a:cs typeface="Arial"/>
              </a:rPr>
              <a:t>РО 1.1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0293DF-9877-4ECA-972A-ED6DE0C45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143125"/>
            <a:ext cx="5905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Цельный экран, адаптация, понятный пакет, traceable assets и защита решений.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7939C0-2E6F-499F-A0A3-AC1E11F9C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810000"/>
            <a:ext cx="5905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Оценка опирается на наблюдаемые доказательства.</a:t>
            </a:r>
          </a:p>
        </p:txBody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DC3260C1-6306-47AC-A3A7-2774CB376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238875"/>
            <a:ext cx="10144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Оценка опирается на наблюдаемые доказательства.</a:t>
            </a:r>
          </a:p>
        </p:txBody>
      </p:sp>
    </p:spTree>
    <p:extLst>
      <p:ext uri="{BB962C8B-B14F-4D97-AF65-F5344CB8AC3E}">
        <p14:creationId xmlns:p14="http://schemas.microsoft.com/office/powerpoint/2010/main" val="153517060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heme">
            <a:extLst xmlns:a="http://schemas.openxmlformats.org/drawingml/2006/main">
              <a:ext uri="{FF2B5EF4-FFF2-40B4-BE49-F238E27FC236}">
                <a16:creationId xmlns:a16="http://schemas.microsoft.com/office/drawing/2014/main" id="{651105EC-BB93-4DD7-8955-11CE09F67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Финальная студийная работа: handoff и защита</a:t>
            </a:r>
          </a:p>
        </p:txBody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38FC1AD2-FD79-41F1-80B8-05800FA9F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476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2208BE-22A1-44B9-AB80-D8E125EF8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972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9525">
            <a:solidFill>
              <a:srgbClr val="38424D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6BB5E2-CCE4-47C9-A2E1-226A02E90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67450"/>
            <a:ext cx="38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</a:ln>
        </p:spPr>
      </p:sp>
      <p:sp>
        <p:nvSpPr>
          <p:cNvPr id="5" name="number">
            <a:extLst xmlns:a="http://schemas.openxmlformats.org/drawingml/2006/main">
              <a:ext uri="{FF2B5EF4-FFF2-40B4-BE49-F238E27FC236}">
                <a16:creationId xmlns:a16="http://schemas.microsoft.com/office/drawing/2014/main" id="{59C62E08-8B9B-4080-A663-2815EB1F3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217"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F1CB66B7-25A7-4C86-AF04-CF7110838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Переход к РО 1.2</a:t>
            </a:r>
          </a:p>
        </p:txBody>
      </p:sp>
      <p:sp>
        <p:nvSpPr>
          <p:cNvPr id="7" name="subtitle">
            <a:extLst xmlns:a="http://schemas.openxmlformats.org/drawingml/2006/main">
              <a:ext uri="{FF2B5EF4-FFF2-40B4-BE49-F238E27FC236}">
                <a16:creationId xmlns:a16="http://schemas.microsoft.com/office/drawing/2014/main" id="{1FB37874-4EE0-4100-8BA6-592A4350D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Следующий блок исследует визуальную грамматику: иерархию, вес, баланс и ритм.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636A9C-52C0-43C8-8E3B-A09B90A2E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415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415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3E3929-54FC-42F5-83E3-087672593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2333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131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Следующий блок исследует визуальную грамматику: иерархию, вес, баланс и ритм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B8E1AB-FBFB-4AE1-9664-2F7EFE97A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36220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415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415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6F4D4B-30A1-4F65-A6F2-46919DAB2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048000"/>
            <a:ext cx="2333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Проверить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03A100-E587-475F-8507-4FED34C54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6220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415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415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7CF3B4-D061-4A2C-B88A-B6DA7EDE2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048000"/>
            <a:ext cx="2333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Исправить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B0A843-3138-4D5B-8A6A-60AE7B66E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6220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415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415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4629BA-DA8E-48A6-9B8D-9C4238A00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48000"/>
            <a:ext cx="2333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Передать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789B92-6AD7-40B2-B477-9D381BBF2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86375"/>
            <a:ext cx="1009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Новые принципы применяются к уже знакомому production-процессу.</a:t>
            </a:r>
          </a:p>
        </p:txBody>
      </p:sp>
      <p:sp>
        <p:nvSpPr>
          <p:cNvPr id="17" name="footer">
            <a:extLst xmlns:a="http://schemas.openxmlformats.org/drawingml/2006/main">
              <a:ext uri="{FF2B5EF4-FFF2-40B4-BE49-F238E27FC236}">
                <a16:creationId xmlns:a16="http://schemas.microsoft.com/office/drawing/2014/main" id="{49F5DAD2-645F-4388-9C1F-35BFF1282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238875"/>
            <a:ext cx="10144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Новые принципы применяются к уже знакомому production-процессу.</a:t>
            </a:r>
          </a:p>
        </p:txBody>
      </p:sp>
    </p:spTree>
    <p:extLst>
      <p:ext uri="{BB962C8B-B14F-4D97-AF65-F5344CB8AC3E}">
        <p14:creationId xmlns:p14="http://schemas.microsoft.com/office/powerpoint/2010/main" val="67044372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heme">
            <a:extLst xmlns:a="http://schemas.openxmlformats.org/drawingml/2006/main">
              <a:ext uri="{FF2B5EF4-FFF2-40B4-BE49-F238E27FC236}">
                <a16:creationId xmlns:a16="http://schemas.microsoft.com/office/drawing/2014/main" id="{54316EF8-3D04-4C91-902D-BD5C5F5B5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Финальная студийная работа: handoff и защита</a:t>
            </a:r>
          </a:p>
        </p:txBody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AA818824-8E97-4F67-BE8C-1BCF9726D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476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50B551-57F7-434F-8856-F361D2555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972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9525">
            <a:solidFill>
              <a:srgbClr val="38424D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B593B6-B2EC-43D2-B93A-746685E32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67450"/>
            <a:ext cx="38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</a:ln>
        </p:spPr>
      </p:sp>
      <p:sp>
        <p:nvSpPr>
          <p:cNvPr id="5" name="number">
            <a:extLst xmlns:a="http://schemas.openxmlformats.org/drawingml/2006/main">
              <a:ext uri="{FF2B5EF4-FFF2-40B4-BE49-F238E27FC236}">
                <a16:creationId xmlns:a16="http://schemas.microsoft.com/office/drawing/2014/main" id="{B0474C70-A1CF-4EBA-A437-6C3BFBBB1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217"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BAD8D838-7BE3-45B3-B051-63D5452B4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РО 1.1 завершён</a:t>
            </a:r>
          </a:p>
        </p:txBody>
      </p:sp>
      <p:sp>
        <p:nvSpPr>
          <p:cNvPr id="7" name="subtitle">
            <a:extLst xmlns:a="http://schemas.openxmlformats.org/drawingml/2006/main">
              <a:ext uri="{FF2B5EF4-FFF2-40B4-BE49-F238E27FC236}">
                <a16:creationId xmlns:a16="http://schemas.microsoft.com/office/drawing/2014/main" id="{28E95664-6F6D-48CF-9381-81FCA9E9C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От исходного изображения и формы к проверенному и передаваемому web-проекту.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602503-71E2-4A75-8A96-D1DA18131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4000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581"/>
          </a:bodyPr>
          <a:lstStyle xmlns:a="http://schemas.openxmlformats.org/drawingml/2006/main"/>
          <a:p xmlns:a="http://schemas.openxmlformats.org/drawingml/2006/main">
            <a:pPr>
              <a:defRPr sz="5850" b="1">
                <a:solidFill>
                  <a:srgbClr val="FF4158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FF4158"/>
                </a:solidFill>
                <a:latin typeface="Arial"/>
                <a:ea typeface="Arial"/>
                <a:cs typeface="Arial"/>
              </a:rPr>
              <a:t>РО 1.1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230C57-2C38-4E2C-A3C1-D7AE73B14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143125"/>
            <a:ext cx="5905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От исходного изображения и формы к проверенному и передаваемому web-проекту.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05E9CA-843E-4053-AE1E-AC71C6795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810000"/>
            <a:ext cx="5905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«Музей забытых вещей» становится доказательством production-процесса.</a:t>
            </a:r>
          </a:p>
        </p:txBody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054BD88B-F5A7-4A0D-8E32-FDF702E07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238875"/>
            <a:ext cx="10144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«Музей забытых вещей» становится доказательством production-процесса.</a:t>
            </a:r>
          </a:p>
        </p:txBody>
      </p:sp>
    </p:spTree>
    <p:extLst>
      <p:ext uri="{BB962C8B-B14F-4D97-AF65-F5344CB8AC3E}">
        <p14:creationId xmlns:p14="http://schemas.microsoft.com/office/powerpoint/2010/main" val="9483500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2026-09-20T03:05:26.5600000Z</dcterms:created>
  <dcterms:modified xsi:type="dcterms:W3CDTF">2026-09-20T03:05:26.5600000Z</dcterms:modified>
</coreProperties>
</file>