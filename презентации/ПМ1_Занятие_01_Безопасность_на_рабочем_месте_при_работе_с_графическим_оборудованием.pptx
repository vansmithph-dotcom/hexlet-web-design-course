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5c5a1199da4ace" /><Relationship Type="http://schemas.openxmlformats.org/officeDocument/2006/relationships/extended-properties" Target="/docProps/app.xml" Id="R0033f690c0d74afc" /><Relationship Type="http://schemas.openxmlformats.org/officeDocument/2006/relationships/officeDocument" Target="/ppt/presentation.xml" Id="R2ad388c67fcf49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918dc170fb44d7"/>
  </p:sldMasterIdLst>
  <p:notesMasterIdLst>
    <p:notesMasterId xmlns:r="http://schemas.openxmlformats.org/officeDocument/2006/relationships" r:id="R05aa146c0b13417a"/>
  </p:notesMasterIdLst>
  <p:sldIdLst>
    <p:sldId xmlns:r="http://schemas.openxmlformats.org/officeDocument/2006/relationships" id="256" r:id="Rfe5ffede97224ad0"/>
    <p:sldId xmlns:r="http://schemas.openxmlformats.org/officeDocument/2006/relationships" id="257" r:id="Rd7f2d04980cb459d"/>
    <p:sldId xmlns:r="http://schemas.openxmlformats.org/officeDocument/2006/relationships" id="258" r:id="Rcd4586a9d98240e9"/>
    <p:sldId xmlns:r="http://schemas.openxmlformats.org/officeDocument/2006/relationships" id="259" r:id="R50134e6280474baa"/>
    <p:sldId xmlns:r="http://schemas.openxmlformats.org/officeDocument/2006/relationships" id="260" r:id="R47a9453b241440a2"/>
    <p:sldId xmlns:r="http://schemas.openxmlformats.org/officeDocument/2006/relationships" id="261" r:id="R41009d5caa814f09"/>
    <p:sldId xmlns:r="http://schemas.openxmlformats.org/officeDocument/2006/relationships" id="262" r:id="R0f208a0523104d53"/>
    <p:sldId xmlns:r="http://schemas.openxmlformats.org/officeDocument/2006/relationships" id="263" r:id="R60906615b5524d54"/>
    <p:sldId xmlns:r="http://schemas.openxmlformats.org/officeDocument/2006/relationships" id="264" r:id="R2c2ffacc295d4870"/>
    <p:sldId xmlns:r="http://schemas.openxmlformats.org/officeDocument/2006/relationships" id="265" r:id="R6392a83710f948fd"/>
    <p:sldId xmlns:r="http://schemas.openxmlformats.org/officeDocument/2006/relationships" id="266" r:id="R0ca085fd59aa495f"/>
    <p:sldId xmlns:r="http://schemas.openxmlformats.org/officeDocument/2006/relationships" id="267" r:id="R6554245f74894d88"/>
    <p:sldId xmlns:r="http://schemas.openxmlformats.org/officeDocument/2006/relationships" id="268" r:id="R3942db3fcec44253"/>
    <p:sldId xmlns:r="http://schemas.openxmlformats.org/officeDocument/2006/relationships" id="269" r:id="R22589428fb07453c"/>
    <p:sldId xmlns:r="http://schemas.openxmlformats.org/officeDocument/2006/relationships" id="270" r:id="R1f208177e94544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02b6de1fae4fae" /><Relationship Type="http://schemas.openxmlformats.org/officeDocument/2006/relationships/slideMaster" Target="/ppt/slideMasters/slideMaster1.xml" Id="R73918dc170fb44d7" /><Relationship Type="http://schemas.openxmlformats.org/officeDocument/2006/relationships/notesMaster" Target="/ppt/notesMasters/notesMaster1.xml" Id="R05aa146c0b13417a" /><Relationship Type="http://schemas.openxmlformats.org/officeDocument/2006/relationships/presProps" Target="/ppt/presProps.xml" Id="R93e786f576224774" /><Relationship Type="http://schemas.openxmlformats.org/officeDocument/2006/relationships/tableStyles" Target="/ppt/tableStyles.xml" Id="R40dfd44ee507428c" /><Relationship Type="http://schemas.openxmlformats.org/officeDocument/2006/relationships/slide" Target="/ppt/slides/slide1.xml" Id="Rfe5ffede97224ad0" /><Relationship Type="http://schemas.openxmlformats.org/officeDocument/2006/relationships/slide" Target="/ppt/slides/slide2.xml" Id="Rd7f2d04980cb459d" /><Relationship Type="http://schemas.openxmlformats.org/officeDocument/2006/relationships/slide" Target="/ppt/slides/slide3.xml" Id="Rcd4586a9d98240e9" /><Relationship Type="http://schemas.openxmlformats.org/officeDocument/2006/relationships/slide" Target="/ppt/slides/slide4.xml" Id="R50134e6280474baa" /><Relationship Type="http://schemas.openxmlformats.org/officeDocument/2006/relationships/slide" Target="/ppt/slides/slide5.xml" Id="R47a9453b241440a2" /><Relationship Type="http://schemas.openxmlformats.org/officeDocument/2006/relationships/slide" Target="/ppt/slides/slide6.xml" Id="R41009d5caa814f09" /><Relationship Type="http://schemas.openxmlformats.org/officeDocument/2006/relationships/slide" Target="/ppt/slides/slide7.xml" Id="R0f208a0523104d53" /><Relationship Type="http://schemas.openxmlformats.org/officeDocument/2006/relationships/slide" Target="/ppt/slides/slide8.xml" Id="R60906615b5524d54" /><Relationship Type="http://schemas.openxmlformats.org/officeDocument/2006/relationships/slide" Target="/ppt/slides/slide9.xml" Id="R2c2ffacc295d4870" /><Relationship Type="http://schemas.openxmlformats.org/officeDocument/2006/relationships/slide" Target="/ppt/slides/slide10.xml" Id="R6392a83710f948fd" /><Relationship Type="http://schemas.openxmlformats.org/officeDocument/2006/relationships/slide" Target="/ppt/slides/slide11.xml" Id="R0ca085fd59aa495f" /><Relationship Type="http://schemas.openxmlformats.org/officeDocument/2006/relationships/slide" Target="/ppt/slides/slide12.xml" Id="R6554245f74894d88" /><Relationship Type="http://schemas.openxmlformats.org/officeDocument/2006/relationships/slide" Target="/ppt/slides/slide13.xml" Id="R3942db3fcec44253" /><Relationship Type="http://schemas.openxmlformats.org/officeDocument/2006/relationships/slide" Target="/ppt/slides/slide14.xml" Id="R22589428fb07453c" /><Relationship Type="http://schemas.openxmlformats.org/officeDocument/2006/relationships/slide" Target="/ppt/slides/slide15.xml" Id="R1f208177e94544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f07ce173f640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5826a6e7d94162" /><Relationship Type="http://schemas.openxmlformats.org/officeDocument/2006/relationships/notesMaster" Target="/ppt/notesMasters/notesMaster1.xml" Id="Rd64156b176de4e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4ae72566be4584" /><Relationship Type="http://schemas.openxmlformats.org/officeDocument/2006/relationships/notesMaster" Target="/ppt/notesMasters/notesMaster1.xml" Id="Rf036f87d8f6e42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5e684453a547b9" /><Relationship Type="http://schemas.openxmlformats.org/officeDocument/2006/relationships/notesMaster" Target="/ppt/notesMasters/notesMaster1.xml" Id="R21f8f138ea5c41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47baaea49d4e84" /><Relationship Type="http://schemas.openxmlformats.org/officeDocument/2006/relationships/notesMaster" Target="/ppt/notesMasters/notesMaster1.xml" Id="R74b316af39c243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4904bd947974598" /><Relationship Type="http://schemas.openxmlformats.org/officeDocument/2006/relationships/notesMaster" Target="/ppt/notesMasters/notesMaster1.xml" Id="Re6ee4205869646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8c10c376a54886" /><Relationship Type="http://schemas.openxmlformats.org/officeDocument/2006/relationships/notesMaster" Target="/ppt/notesMasters/notesMaster1.xml" Id="R84b86f439ee547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860cc2afda469f" /><Relationship Type="http://schemas.openxmlformats.org/officeDocument/2006/relationships/notesMaster" Target="/ppt/notesMasters/notesMaster1.xml" Id="Re0426dd533fd4e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c7e368ca78d47a4" /><Relationship Type="http://schemas.openxmlformats.org/officeDocument/2006/relationships/notesMaster" Target="/ppt/notesMasters/notesMaster1.xml" Id="Rcb9d575a418c4ed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b0ada16a1724047" /><Relationship Type="http://schemas.openxmlformats.org/officeDocument/2006/relationships/notesMaster" Target="/ppt/notesMasters/notesMaster1.xml" Id="Rc69747ef159b48f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2761346b4364213" /><Relationship Type="http://schemas.openxmlformats.org/officeDocument/2006/relationships/notesMaster" Target="/ppt/notesMasters/notesMaster1.xml" Id="R7b0676dc3bd440c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77b724859694e95" /><Relationship Type="http://schemas.openxmlformats.org/officeDocument/2006/relationships/notesMaster" Target="/ppt/notesMasters/notesMaster1.xml" Id="R993e6d4deb9e44f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5f2fa213df24c67" /><Relationship Type="http://schemas.openxmlformats.org/officeDocument/2006/relationships/notesMaster" Target="/ppt/notesMasters/notesMaster1.xml" Id="Rf6892eb41c864a1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105c841376945d1" /><Relationship Type="http://schemas.openxmlformats.org/officeDocument/2006/relationships/notesMaster" Target="/ppt/notesMasters/notesMaster1.xml" Id="R86176bb8307c4ba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167154a88a74fb7" /><Relationship Type="http://schemas.openxmlformats.org/officeDocument/2006/relationships/notesMaster" Target="/ppt/notesMasters/notesMaster1.xml" Id="R6dd2ad5d1400496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b30f817fb604111" /><Relationship Type="http://schemas.openxmlformats.org/officeDocument/2006/relationships/notesMaster" Target="/ppt/notesMasters/notesMaster1.xml" Id="R41f65c5226ee49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Обложка. Обязательное hero-изображение РО 1.1. Тема: Безопасность на рабочем месте при работе с графическим оборудованием.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Зачем дизайнеру техника безопасности.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П001;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Почему это не “формальность”.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П001;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Что именно наблюдаем.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П001;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Алгоритм безопасного взгляда.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Показ преподавателя: действие, объяснение, повтор первого шага, самостоятельное усложнение.</a:t>
            </a:r>
          </a:p>
          <a:p xmlns:a="http://schemas.openxmlformats.org/drawingml/2006/main">
            <a:r>
              <a:t>Визуалы повторно использованы из принятого комплекта П001;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Разбор преподавателя: один пример.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П001;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Зачем говорить “граница вывода”.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П001;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Пары: сравните две ситуации.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П001;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Вопросы “зачем” и “почему”.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П001;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Разбор ответов студентов.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П001;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Интерактив: найдите 5 признаков.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П001;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Мини-дебаты: что важнее исправить первым.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П001;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Как звучит сильный устный вывод.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П001;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30 секунд перед работой.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П001;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Цель: Итоги занятия.</a:t>
            </a:r>
          </a:p>
          <a:p xmlns:a="http://schemas.openxmlformats.org/drawingml/2006/main">
            <a:r>
              <a:t>Связать действие с задачей, наблюдаемым признаком и результатом.</a:t>
            </a:r>
          </a:p>
          <a:p xmlns:a="http://schemas.openxmlformats.org/drawingml/2006/main">
            <a:r>
              <a:t>Вопрос: что именно можно увидеть и проверить?</a:t>
            </a:r>
          </a:p>
          <a:p xmlns:a="http://schemas.openxmlformats.org/drawingml/2006/main">
            <a:r>
              <a:t>Студент называет условие, действие и способ проверки.</a:t>
            </a:r>
          </a:p>
          <a:p xmlns:a="http://schemas.openxmlformats.org/drawingml/2006/main">
            <a:r>
              <a:t>Визуалы повторно использованы из принятого комплекта П001; новые изображения не создавались.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b8e02b2c054d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8f22840f4347f3" /><Relationship Type="http://schemas.openxmlformats.org/officeDocument/2006/relationships/slideLayout" Target="/ppt/slideLayouts/slideLayout1.xml" Id="Ra793ac5df75842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93ac5df75842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7a870fd94646f2" /><Relationship Type="http://schemas.openxmlformats.org/officeDocument/2006/relationships/image" Target="/ppt/media/image.png" Id="R1ff407cd4eda4fdb" /><Relationship Type="http://schemas.openxmlformats.org/officeDocument/2006/relationships/notesSlide" Target="/ppt/notesSlides/notesSlide1.xml" Id="Rc3c596b2af584b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19bf73bc52499f" /><Relationship Type="http://schemas.openxmlformats.org/officeDocument/2006/relationships/image" Target="/ppt/media/image2.png" Id="Rb70a037477ab49c4" /><Relationship Type="http://schemas.openxmlformats.org/officeDocument/2006/relationships/image" Target="/ppt/media/image.jpeg" Id="R32517025ded9497f" /><Relationship Type="http://schemas.openxmlformats.org/officeDocument/2006/relationships/image" Target="/ppt/media/image2.jpeg" Id="R52746f9be9bc47eb" /><Relationship Type="http://schemas.openxmlformats.org/officeDocument/2006/relationships/image" Target="/ppt/media/image3.jpeg" Id="R58b42cdd4d6b4cb1" /><Relationship Type="http://schemas.openxmlformats.org/officeDocument/2006/relationships/notesSlide" Target="/ppt/notesSlides/notesSlide2.xml" Id="R2e1ca2b1079c45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a50f41947849df" /><Relationship Type="http://schemas.openxmlformats.org/officeDocument/2006/relationships/image" Target="/ppt/media/image4.jpeg" Id="R9a76f35e23eb4605" /><Relationship Type="http://schemas.openxmlformats.org/officeDocument/2006/relationships/image" Target="/ppt/media/image5.jpeg" Id="Rfa264716e1de4cb0" /><Relationship Type="http://schemas.openxmlformats.org/officeDocument/2006/relationships/notesSlide" Target="/ppt/notesSlides/notesSlide3.xml" Id="Ref0fc1e26cce49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0400fa2d04256" /><Relationship Type="http://schemas.openxmlformats.org/officeDocument/2006/relationships/image" Target="/ppt/media/image6.jpeg" Id="R5d6c46ef2b6944f9" /><Relationship Type="http://schemas.openxmlformats.org/officeDocument/2006/relationships/notesSlide" Target="/ppt/notesSlides/notesSlide4.xml" Id="R756109d33c7243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f83267a414192" /><Relationship Type="http://schemas.openxmlformats.org/officeDocument/2006/relationships/image" Target="/ppt/media/image7.jpeg" Id="Rd7f8d13caa79479d" /><Relationship Type="http://schemas.openxmlformats.org/officeDocument/2006/relationships/image" Target="/ppt/media/image3.png" Id="R1f4e361e78284538" /><Relationship Type="http://schemas.openxmlformats.org/officeDocument/2006/relationships/image" Target="/ppt/media/image8.jpeg" Id="R3bdb0da118e44383" /><Relationship Type="http://schemas.openxmlformats.org/officeDocument/2006/relationships/image" Target="/ppt/media/image9.jpeg" Id="Ra98674e4d77841f5" /><Relationship Type="http://schemas.openxmlformats.org/officeDocument/2006/relationships/notesSlide" Target="/ppt/notesSlides/notesSlide5.xml" Id="Rb9ee839e28554c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fcf6d716c74fb0" /><Relationship Type="http://schemas.openxmlformats.org/officeDocument/2006/relationships/image" Target="/ppt/media/image10.jpeg" Id="R6b252a5c36714241" /><Relationship Type="http://schemas.openxmlformats.org/officeDocument/2006/relationships/image" Target="/ppt/media/image11.jpeg" Id="Rdc4fcb27cdd94377" /><Relationship Type="http://schemas.openxmlformats.org/officeDocument/2006/relationships/notesSlide" Target="/ppt/notesSlides/notesSlide6.xml" Id="R147e9fd81e4843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5e224be56a4b70" /><Relationship Type="http://schemas.openxmlformats.org/officeDocument/2006/relationships/image" Target="/ppt/media/image12.jpeg" Id="R277513b828be4143" /><Relationship Type="http://schemas.openxmlformats.org/officeDocument/2006/relationships/notesSlide" Target="/ppt/notesSlides/notesSlide7.xml" Id="Rd4f3e166c0a242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9491eec1d0443c" /><Relationship Type="http://schemas.openxmlformats.org/officeDocument/2006/relationships/image" Target="/ppt/media/image13.jpeg" Id="R04f2b8ecdfd84b57" /><Relationship Type="http://schemas.openxmlformats.org/officeDocument/2006/relationships/image" Target="/ppt/media/image14.jpeg" Id="R3cc3cd11b70b4b5e" /><Relationship Type="http://schemas.openxmlformats.org/officeDocument/2006/relationships/image" Target="/ppt/media/image4.png" Id="Rab01cacb9a474b43" /><Relationship Type="http://schemas.openxmlformats.org/officeDocument/2006/relationships/image" Target="/ppt/media/image15.jpeg" Id="Ra9353da788194563" /><Relationship Type="http://schemas.openxmlformats.org/officeDocument/2006/relationships/notesSlide" Target="/ppt/notesSlides/notesSlide8.xml" Id="R1163fadb0c0d47a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e6d613227649cd" /><Relationship Type="http://schemas.openxmlformats.org/officeDocument/2006/relationships/image" Target="/ppt/media/image16.jpeg" Id="R8ec2f15747c34170" /><Relationship Type="http://schemas.openxmlformats.org/officeDocument/2006/relationships/image" Target="/ppt/media/image17.jpeg" Id="R5c8f4fe6bee34265" /><Relationship Type="http://schemas.openxmlformats.org/officeDocument/2006/relationships/notesSlide" Target="/ppt/notesSlides/notesSlide9.xml" Id="Rddc7b3d4434c45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2d4dd585934bf3" /><Relationship Type="http://schemas.openxmlformats.org/officeDocument/2006/relationships/image" Target="/ppt/media/image18.jpeg" Id="R6e8d475ce55041fd" /><Relationship Type="http://schemas.openxmlformats.org/officeDocument/2006/relationships/notesSlide" Target="/ppt/notesSlides/notesSlide10.xml" Id="R1fcef24573f3483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e9e49eb664a05" /><Relationship Type="http://schemas.openxmlformats.org/officeDocument/2006/relationships/image" Target="/ppt/media/image19.jpeg" Id="R440d26d83d084304" /><Relationship Type="http://schemas.openxmlformats.org/officeDocument/2006/relationships/image" Target="/ppt/media/image20.jpeg" Id="R28bc1cd49b0d40b3" /><Relationship Type="http://schemas.openxmlformats.org/officeDocument/2006/relationships/image" Target="/ppt/media/image21.jpeg" Id="R5d337de04e30404a" /><Relationship Type="http://schemas.openxmlformats.org/officeDocument/2006/relationships/image" Target="/ppt/media/image5.png" Id="Rfa396e869bb842d8" /><Relationship Type="http://schemas.openxmlformats.org/officeDocument/2006/relationships/notesSlide" Target="/ppt/notesSlides/notesSlide11.xml" Id="Rfda6ce7717ca411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c3cc2df5674bea" /><Relationship Type="http://schemas.openxmlformats.org/officeDocument/2006/relationships/image" Target="/ppt/media/image22.jpeg" Id="Rebce5c8fcc5c45b7" /><Relationship Type="http://schemas.openxmlformats.org/officeDocument/2006/relationships/image" Target="/ppt/media/image23.jpeg" Id="R981a5889b719444e" /><Relationship Type="http://schemas.openxmlformats.org/officeDocument/2006/relationships/notesSlide" Target="/ppt/notesSlides/notesSlide12.xml" Id="Rfd101226c89a4a9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18d112369a42fe" /><Relationship Type="http://schemas.openxmlformats.org/officeDocument/2006/relationships/image" Target="/ppt/media/image24.jpeg" Id="R655a5dc033864c9a" /><Relationship Type="http://schemas.openxmlformats.org/officeDocument/2006/relationships/notesSlide" Target="/ppt/notesSlides/notesSlide13.xml" Id="Rb2fd41efeb62466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90b4ced02b4f30" /><Relationship Type="http://schemas.openxmlformats.org/officeDocument/2006/relationships/image" Target="/ppt/media/image25.jpeg" Id="Ra14c7f38f26f44fd" /><Relationship Type="http://schemas.openxmlformats.org/officeDocument/2006/relationships/image" Target="/ppt/media/image26.jpeg" Id="R3ab5e2d84ab74289" /><Relationship Type="http://schemas.openxmlformats.org/officeDocument/2006/relationships/image" Target="/ppt/media/image27.jpeg" Id="Rfea8625ae3cd4e1a" /><Relationship Type="http://schemas.openxmlformats.org/officeDocument/2006/relationships/image" Target="/ppt/media/image28.jpeg" Id="Reb3c1ec436e44bd3" /><Relationship Type="http://schemas.openxmlformats.org/officeDocument/2006/relationships/notesSlide" Target="/ppt/notesSlides/notesSlide14.xml" Id="R77656649790f476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66cb66e9b94e6c" /><Relationship Type="http://schemas.openxmlformats.org/officeDocument/2006/relationships/image" Target="/ppt/media/image6.png" Id="Rbe328a62b7b04b90" /><Relationship Type="http://schemas.openxmlformats.org/officeDocument/2006/relationships/image" Target="/ppt/media/image29.jpeg" Id="Rbf67b2231e214623" /><Relationship Type="http://schemas.openxmlformats.org/officeDocument/2006/relationships/notesSlide" Target="/ppt/notesSlides/notesSlide15.xml" Id="R39ea9c94507240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f407cd4eda4fd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659778-E697-48B6-8B06-0FCB895D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3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Хекслет Колледж">
            <a:extLst xmlns:a="http://schemas.openxmlformats.org/drawingml/2006/main">
              <a:ext uri="{FF2B5EF4-FFF2-40B4-BE49-F238E27FC236}">
                <a16:creationId xmlns:a16="http://schemas.microsoft.com/office/drawing/2014/main" id="{6A267258-D256-46CA-8588-1017C180D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048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Хекслет Колледж</a:t>
            </a:r>
          </a:p>
        </p:txBody>
      </p:sp>
      <p:sp>
        <p:nvSpPr>
          <p:cNvPr id="4" name="ПМ1 · Сканирование и обработка…">
            <a:extLst xmlns:a="http://schemas.openxmlformats.org/drawingml/2006/main">
              <a:ext uri="{FF2B5EF4-FFF2-40B4-BE49-F238E27FC236}">
                <a16:creationId xmlns:a16="http://schemas.microsoft.com/office/drawing/2014/main" id="{CB4936E8-9491-45E0-9367-FB29E082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86677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ПМ1 · Сканирование и обработка</a:t>
            </a:r>
          </a:p>
          <a:p xmlns:a="http://schemas.openxmlformats.org/drawingml/2006/main">
            <a:pPr algn="l">
              <a:defRPr sz="60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графической информации</a:t>
            </a:r>
          </a:p>
        </p:txBody>
      </p:sp>
      <p:sp>
        <p:nvSpPr>
          <p:cNvPr id="5" name="Занятие 1">
            <a:extLst xmlns:a="http://schemas.openxmlformats.org/drawingml/2006/main">
              <a:ext uri="{FF2B5EF4-FFF2-40B4-BE49-F238E27FC236}">
                <a16:creationId xmlns:a16="http://schemas.microsoft.com/office/drawing/2014/main" id="{090C18CC-0F9C-4B9A-B20A-D4BD67EC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62075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Занятие 1</a:t>
            </a:r>
          </a:p>
        </p:txBody>
      </p:sp>
      <p:sp>
        <p:nvSpPr>
          <p:cNvPr id="6" name="Безопасность на рабочем месте при…">
            <a:extLst xmlns:a="http://schemas.openxmlformats.org/drawingml/2006/main">
              <a:ext uri="{FF2B5EF4-FFF2-40B4-BE49-F238E27FC236}">
                <a16:creationId xmlns:a16="http://schemas.microsoft.com/office/drawing/2014/main" id="{6AD876CF-A3E7-4EC9-8A38-06EB815B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038350"/>
            <a:ext cx="31432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Безопасность на рабочем месте при работе с графическим оборудованием</a:t>
            </a:r>
          </a:p>
        </p:txBody>
      </p:sp>
      <p:sp>
        <p:nvSpPr>
          <p:cNvPr id="7" name="От инструмента к обоснованному…">
            <a:extLst xmlns:a="http://schemas.openxmlformats.org/drawingml/2006/main">
              <a:ext uri="{FF2B5EF4-FFF2-40B4-BE49-F238E27FC236}">
                <a16:creationId xmlns:a16="http://schemas.microsoft.com/office/drawing/2014/main" id="{C4DBBB4F-BDBD-451C-B498-AA7BCEF2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848100"/>
            <a:ext cx="3000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От инструмента к обоснованному</a:t>
            </a:r>
          </a:p>
          <a:p xmlns:a="http://schemas.openxmlformats.org/drawingml/2006/main">
            <a:pPr algn="l">
              <a:defRPr sz="8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визуальному решению</a:t>
            </a:r>
          </a:p>
        </p:txBody>
      </p:sp>
      <p:sp>
        <p:nvSpPr>
          <p:cNvPr id="8" name="люди · идеи · инструменты ·…">
            <a:extLst xmlns:a="http://schemas.openxmlformats.org/drawingml/2006/main">
              <a:ext uri="{FF2B5EF4-FFF2-40B4-BE49-F238E27FC236}">
                <a16:creationId xmlns:a16="http://schemas.microsoft.com/office/drawing/2014/main" id="{33C36588-7917-4A9F-805B-815685AB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334125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E858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E8587"/>
                </a:solidFill>
                <a:latin typeface="Arial"/>
                <a:ea typeface="Arial"/>
                <a:cs typeface="Arial"/>
              </a:rPr>
              <a:t>люди · идеи · инструменты · изображения · проекты</a:t>
            </a:r>
          </a:p>
        </p:txBody>
      </p:sp>
    </p:spTree>
    <p:extLst>
      <p:ext uri="{BB962C8B-B14F-4D97-AF65-F5344CB8AC3E}">
        <p14:creationId xmlns:p14="http://schemas.microsoft.com/office/powerpoint/2010/main" val="5183082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Тема">
            <a:extLst xmlns:a="http://schemas.openxmlformats.org/drawingml/2006/main">
              <a:ext uri="{FF2B5EF4-FFF2-40B4-BE49-F238E27FC236}">
                <a16:creationId xmlns:a16="http://schemas.microsoft.com/office/drawing/2014/main" id="{EDCDA027-FD89-448F-953B-CDD93037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Безопасность на рабочем месте при работе с графическим оборудованием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ED545BD2-075F-4894-B33C-725F7D54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315E49F8-801B-4170-B4BC-A7579E39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Зачем дизайнеру техника безопасности</a:t>
            </a:r>
          </a:p>
        </p:txBody>
      </p:sp>
      <p:sp>
        <p:nvSpPr>
          <p:cNvPr id="4" name="Безопасность и организация…">
            <a:extLst xmlns:a="http://schemas.openxmlformats.org/drawingml/2006/main">
              <a:ext uri="{FF2B5EF4-FFF2-40B4-BE49-F238E27FC236}">
                <a16:creationId xmlns:a16="http://schemas.microsoft.com/office/drawing/2014/main" id="{AB05CA08-551D-4D53-A147-7616223D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Безопасность и организация рабочего места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B5F78A-EAB7-486B-898F-04D9FE43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DACBEB-49EF-4408-A0CA-ECA965100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F1299786-2208-48F5-932D-70DB0A73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интерактив: отвечаем вслух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34BCA903-8863-496C-AAF0-A759BF79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a037477ab49c4"/>
          <a:srcRect xmlns:a="http://schemas.openxmlformats.org/drawingml/2006/main" l="8897" t="0" r="88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0" name="Безопасность и организация…">
            <a:extLst xmlns:a="http://schemas.openxmlformats.org/drawingml/2006/main">
              <a:ext uri="{FF2B5EF4-FFF2-40B4-BE49-F238E27FC236}">
                <a16:creationId xmlns:a16="http://schemas.microsoft.com/office/drawing/2014/main" id="{820A23B8-5943-4E20-BA02-9C7BAB09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Безопасность и организация рабочего места</a:t>
            </a:r>
          </a:p>
        </p:txBody>
      </p:sp>
      <p:sp>
        <p:nvSpPr>
          <p:cNvPr id="11" name="Признак 1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82121607-967E-43C0-AE77-251562CD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1: что можно увидеть и проверить.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517025ded9497f"/>
          <a:srcRect xmlns:a="http://schemas.openxmlformats.org/drawingml/2006/main" l="0" t="10022" r="0" b="100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432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3" name="Профессионал замечает риск…">
            <a:extLst xmlns:a="http://schemas.openxmlformats.org/drawingml/2006/main">
              <a:ext uri="{FF2B5EF4-FFF2-40B4-BE49-F238E27FC236}">
                <a16:creationId xmlns:a16="http://schemas.microsoft.com/office/drawing/2014/main" id="{5AF0DFCF-4E51-4520-845A-3BAE68600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Профессионал замечает риск раньше, чем он превращается в травму, испорченный сканер или потерянный файл.</a:t>
            </a:r>
          </a:p>
        </p:txBody>
      </p:sp>
      <p:sp>
        <p:nvSpPr>
          <p:cNvPr id="14" name="Признак 2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297DEF57-8999-40DC-98D5-20B124D0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2: что можно увидеть и проверить.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746f9be9bc47eb"/>
          <a:srcRect xmlns:a="http://schemas.openxmlformats.org/drawingml/2006/main" l="0" t="3910" r="0" b="39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674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6" name="разбор преподавателя: один пример">
            <a:extLst xmlns:a="http://schemas.openxmlformats.org/drawingml/2006/main">
              <a:ext uri="{FF2B5EF4-FFF2-40B4-BE49-F238E27FC236}">
                <a16:creationId xmlns:a16="http://schemas.microsoft.com/office/drawing/2014/main" id="{0A6C52C5-D588-467C-8DAC-4D33BE34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разбор преподавателя: один пример</a:t>
            </a:r>
          </a:p>
        </p:txBody>
      </p:sp>
      <p:sp>
        <p:nvSpPr>
          <p:cNvPr id="17" name="Признак 3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CAEDFA32-1BCA-4999-BE28-661E68B4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3: что можно увидеть и проверить.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b42cdd4d6b4cb1"/>
          <a:srcRect xmlns:a="http://schemas.openxmlformats.org/drawingml/2006/main" l="0" t="2310" r="0" b="23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915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9" name="20 мин">
            <a:extLst xmlns:a="http://schemas.openxmlformats.org/drawingml/2006/main">
              <a:ext uri="{FF2B5EF4-FFF2-40B4-BE49-F238E27FC236}">
                <a16:creationId xmlns:a16="http://schemas.microsoft.com/office/drawing/2014/main" id="{8AE98D66-5843-4230-BB95-2CB89346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20 мин</a:t>
            </a:r>
          </a:p>
        </p:txBody>
      </p:sp>
      <p:sp>
        <p:nvSpPr>
          <p:cNvPr id="20" name="Признак 4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06320F9E-2D01-4C7C-B809-A81E6464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4: что можно увидеть и проверить.</a:t>
            </a:r>
          </a:p>
        </p:txBody>
      </p:sp>
    </p:spTree>
    <p:extLst>
      <p:ext uri="{BB962C8B-B14F-4D97-AF65-F5344CB8AC3E}">
        <p14:creationId xmlns:p14="http://schemas.microsoft.com/office/powerpoint/2010/main" val="2379478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Тема">
            <a:extLst xmlns:a="http://schemas.openxmlformats.org/drawingml/2006/main">
              <a:ext uri="{FF2B5EF4-FFF2-40B4-BE49-F238E27FC236}">
                <a16:creationId xmlns:a16="http://schemas.microsoft.com/office/drawing/2014/main" id="{12D1697E-345C-4467-A2D2-AB7349F5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Безопасность на рабочем месте при работе с графическим оборудованием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2D839291-A50E-4762-AB20-E44929E4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550BD187-F3BC-45A5-819C-17CAD19C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Почему это не “формальность”</a:t>
            </a:r>
          </a:p>
        </p:txBody>
      </p:sp>
      <p:sp>
        <p:nvSpPr>
          <p:cNvPr id="4" name="Безопасность и организация…">
            <a:extLst xmlns:a="http://schemas.openxmlformats.org/drawingml/2006/main">
              <a:ext uri="{FF2B5EF4-FFF2-40B4-BE49-F238E27FC236}">
                <a16:creationId xmlns:a16="http://schemas.microsoft.com/office/drawing/2014/main" id="{48BFBBA2-7B69-4A01-9FE8-A257297C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Безопасность и организация рабочего места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7E3B91-D521-4168-8AAD-AD0ED33B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EB4214-D97E-4225-9A69-08A887D4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B518C5B8-0B2F-460E-B41A-8FA35F9A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вопрос классу: кто не согласен — объясните по признаку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4CA28DAE-45A2-4F4E-B7E7-FD09C41B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76f35e23eb4605"/>
          <a:srcRect xmlns:a="http://schemas.openxmlformats.org/drawingml/2006/main" l="0" t="13084" r="0" b="130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0" name="Безопасность и организация…">
            <a:extLst xmlns:a="http://schemas.openxmlformats.org/drawingml/2006/main">
              <a:ext uri="{FF2B5EF4-FFF2-40B4-BE49-F238E27FC236}">
                <a16:creationId xmlns:a16="http://schemas.microsoft.com/office/drawing/2014/main" id="{AA6A9039-8B08-4D03-B5B9-EFAA8052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Безопасность и организация рабочего места</a:t>
            </a:r>
          </a:p>
        </p:txBody>
      </p:sp>
      <p:sp>
        <p:nvSpPr>
          <p:cNvPr id="11" name="Вариант А: называем условие и…">
            <a:extLst xmlns:a="http://schemas.openxmlformats.org/drawingml/2006/main">
              <a:ext uri="{FF2B5EF4-FFF2-40B4-BE49-F238E27FC236}">
                <a16:creationId xmlns:a16="http://schemas.microsoft.com/office/drawing/2014/main" id="{FB416C4F-8EFE-43A9-BAF1-151FB787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А: называем условие и наблюдение.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264716e1de4cb0"/>
          <a:srcRect xmlns:a="http://schemas.openxmlformats.org/drawingml/2006/main" l="0" t="21754" r="0" b="217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3" name="ЗАЧЕМ?">
            <a:extLst xmlns:a="http://schemas.openxmlformats.org/drawingml/2006/main">
              <a:ext uri="{FF2B5EF4-FFF2-40B4-BE49-F238E27FC236}">
                <a16:creationId xmlns:a16="http://schemas.microsoft.com/office/drawing/2014/main" id="{5C37DA58-D08F-4CC5-96A8-AC05BC73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ЗАЧЕМ?</a:t>
            </a:r>
          </a:p>
        </p:txBody>
      </p:sp>
      <p:sp>
        <p:nvSpPr>
          <p:cNvPr id="14" name="Вариант Б: объясняем отличие и…">
            <a:extLst xmlns:a="http://schemas.openxmlformats.org/drawingml/2006/main">
              <a:ext uri="{FF2B5EF4-FFF2-40B4-BE49-F238E27FC236}">
                <a16:creationId xmlns:a16="http://schemas.microsoft.com/office/drawing/2014/main" id="{0AAB0AC4-2481-42C6-AE82-277C52E8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Б: объясняем отличие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18067865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Тема">
            <a:extLst xmlns:a="http://schemas.openxmlformats.org/drawingml/2006/main">
              <a:ext uri="{FF2B5EF4-FFF2-40B4-BE49-F238E27FC236}">
                <a16:creationId xmlns:a16="http://schemas.microsoft.com/office/drawing/2014/main" id="{018A1DAC-843D-4172-AED9-BBFC4184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Безопасность на рабочем месте при работе с графическим оборудованием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ACAC6F23-B773-4DA1-B144-DF2DEF1A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6AD2734B-6D3E-4622-A2A1-A811FF6D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Что именно наблюдаем</a:t>
            </a:r>
          </a:p>
        </p:txBody>
      </p:sp>
      <p:sp>
        <p:nvSpPr>
          <p:cNvPr id="4" name="Безопасность и организация…">
            <a:extLst xmlns:a="http://schemas.openxmlformats.org/drawingml/2006/main">
              <a:ext uri="{FF2B5EF4-FFF2-40B4-BE49-F238E27FC236}">
                <a16:creationId xmlns:a16="http://schemas.microsoft.com/office/drawing/2014/main" id="{07CB4A5D-20F5-419A-A1CB-3EEBA3EE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Безопасность и организация рабочего места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FFDA87-DB03-45C0-8573-F39E19E5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F0A0FF-349B-4B92-9B45-AB79E840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183C8EBB-DFA3-4C45-B470-04CCFCA9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П001 · занятие 1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830D18F7-6457-4C12-9E9D-946ABB2C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6c46ef2b6944f9"/>
          <a:srcRect xmlns:a="http://schemas.openxmlformats.org/drawingml/2006/main" l="0" t="2166" r="0" b="21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86000"/>
            <a:ext cx="4762500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98396C-18D6-4327-9808-22319AB3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860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3E51BA-6A7C-4893-9D75-BCE30BD0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1">
            <a:extLst xmlns:a="http://schemas.openxmlformats.org/drawingml/2006/main">
              <a:ext uri="{FF2B5EF4-FFF2-40B4-BE49-F238E27FC236}">
                <a16:creationId xmlns:a16="http://schemas.microsoft.com/office/drawing/2014/main" id="{2DACBC56-7286-4794-AE5E-9F2C3522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Безопасность и организация…">
            <a:extLst xmlns:a="http://schemas.openxmlformats.org/drawingml/2006/main">
              <a:ext uri="{FF2B5EF4-FFF2-40B4-BE49-F238E27FC236}">
                <a16:creationId xmlns:a16="http://schemas.microsoft.com/office/drawing/2014/main" id="{E34B7769-8469-4DF1-876E-7C54D417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Безопасность и организация рабочего места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F6611A-9AC2-45D3-BCB8-C8CD800A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670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003F3D-B9BE-419D-9646-D7B9CDD5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2E9C89B7-EFA4-48A4-8B1C-8EBBBE5F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Критерий занятия: увидеть риск по…">
            <a:extLst xmlns:a="http://schemas.openxmlformats.org/drawingml/2006/main">
              <a:ext uri="{FF2B5EF4-FFF2-40B4-BE49-F238E27FC236}">
                <a16:creationId xmlns:a16="http://schemas.microsoft.com/office/drawing/2014/main" id="{B3F8B371-0A32-4490-A5D6-C01EB86A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Критерий занятия: увидеть риск по признаку, который можно показать в кадре.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29281E-E29B-42D0-803C-C10B9C87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06303B-ADB1-45BE-8B32-3605B7BC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3">
            <a:extLst xmlns:a="http://schemas.openxmlformats.org/drawingml/2006/main">
              <a:ext uri="{FF2B5EF4-FFF2-40B4-BE49-F238E27FC236}">
                <a16:creationId xmlns:a16="http://schemas.microsoft.com/office/drawing/2014/main" id="{D4F9EC15-D267-43D8-A1B6-1FA73DDB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Проход">
            <a:extLst xmlns:a="http://schemas.openxmlformats.org/drawingml/2006/main">
              <a:ext uri="{FF2B5EF4-FFF2-40B4-BE49-F238E27FC236}">
                <a16:creationId xmlns:a16="http://schemas.microsoft.com/office/drawing/2014/main" id="{2128A982-8448-4272-8FEA-148A4FAC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Проход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2A5DC1-783F-4EAD-9684-25E370B5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291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B9CE9B-884F-4C8E-B9F3-60903FA5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4">
            <a:extLst xmlns:a="http://schemas.openxmlformats.org/drawingml/2006/main">
              <a:ext uri="{FF2B5EF4-FFF2-40B4-BE49-F238E27FC236}">
                <a16:creationId xmlns:a16="http://schemas.microsoft.com/office/drawing/2014/main" id="{7A4F8803-6460-4551-B6D4-7B1EFA23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свободен или пересечён кабелем,…">
            <a:extLst xmlns:a="http://schemas.openxmlformats.org/drawingml/2006/main">
              <a:ext uri="{FF2B5EF4-FFF2-40B4-BE49-F238E27FC236}">
                <a16:creationId xmlns:a16="http://schemas.microsoft.com/office/drawing/2014/main" id="{A85C7DAD-FA3F-473C-8434-3363BE79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свободен или пересечён кабелем, сумкой, стулом</a:t>
            </a:r>
          </a:p>
        </p:txBody>
      </p:sp>
    </p:spTree>
    <p:extLst>
      <p:ext uri="{BB962C8B-B14F-4D97-AF65-F5344CB8AC3E}">
        <p14:creationId xmlns:p14="http://schemas.microsoft.com/office/powerpoint/2010/main" val="5568152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Тема">
            <a:extLst xmlns:a="http://schemas.openxmlformats.org/drawingml/2006/main">
              <a:ext uri="{FF2B5EF4-FFF2-40B4-BE49-F238E27FC236}">
                <a16:creationId xmlns:a16="http://schemas.microsoft.com/office/drawing/2014/main" id="{6CF6AF2D-7D5F-4A16-9556-668E5DDA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Безопасность на рабочем месте при работе с графическим оборудованием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119CC48B-75C2-4770-8A2D-757500AA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CEF13D20-EC52-4D77-93C6-E13A2248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Показ преподавателя: действие → объяснение → повтор</a:t>
            </a:r>
          </a:p>
        </p:txBody>
      </p:sp>
      <p:sp>
        <p:nvSpPr>
          <p:cNvPr id="4" name="Безопасность и организация…">
            <a:extLst xmlns:a="http://schemas.openxmlformats.org/drawingml/2006/main">
              <a:ext uri="{FF2B5EF4-FFF2-40B4-BE49-F238E27FC236}">
                <a16:creationId xmlns:a16="http://schemas.microsoft.com/office/drawing/2014/main" id="{DF6AD50D-35F5-4067-96C0-A5147E24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Безопасность и организация рабочего места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B803A3-7702-4F4A-891C-29135D97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0FAB6C-8615-4042-83BB-33830E1A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3F04725C-30C3-421B-A4F8-DEB1C76C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мини-пауза: скажите одним предложением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65837C7E-FF57-4BD5-BCE2-86168BA8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DD8D32-3980-48B2-8231-754DDF9F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2476500" cy="314325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39B02A-8B21-44B3-93EB-AF41A01D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4191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1">
            <a:extLst xmlns:a="http://schemas.openxmlformats.org/drawingml/2006/main">
              <a:ext uri="{FF2B5EF4-FFF2-40B4-BE49-F238E27FC236}">
                <a16:creationId xmlns:a16="http://schemas.microsoft.com/office/drawing/2014/main" id="{62AE9A30-A91A-4B34-8C7B-2FEB7600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f8d13caa79479d"/>
          <a:srcRect xmlns:a="http://schemas.openxmlformats.org/drawingml/2006/main" l="0" t="16440" r="0" b="164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575" y="3048000"/>
            <a:ext cx="2133600" cy="1143000"/>
          </a:xfrm>
          <a:prstGeom xmlns:a="http://schemas.openxmlformats.org/drawingml/2006/main" prst="rect">
            <a:avLst/>
          </a:prstGeom>
        </p:spPr>
      </p:pic>
      <p:sp>
        <p:nvSpPr>
          <p:cNvPr id="13" name="Преподаватель показывает действие…">
            <a:extLst xmlns:a="http://schemas.openxmlformats.org/drawingml/2006/main">
              <a:ext uri="{FF2B5EF4-FFF2-40B4-BE49-F238E27FC236}">
                <a16:creationId xmlns:a16="http://schemas.microsoft.com/office/drawing/2014/main" id="{8487919A-700D-4B80-AA7F-86BAA064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3053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Преподаватель показывает действие в рабочем файле.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B48409-8E74-45FB-8B2C-2446FF0E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333625"/>
            <a:ext cx="2476500" cy="314325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0AA983-27C8-435D-826E-6F66AB5A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76500"/>
            <a:ext cx="4191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D6F63FA1-3749-4D47-9148-C63105AC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76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4e361e78284538"/>
          <a:srcRect xmlns:a="http://schemas.openxmlformats.org/drawingml/2006/main" l="0" t="2406" r="0" b="24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14725" y="3048000"/>
            <a:ext cx="2133600" cy="1143000"/>
          </a:xfrm>
          <a:prstGeom xmlns:a="http://schemas.openxmlformats.org/drawingml/2006/main" prst="rect">
            <a:avLst/>
          </a:prstGeom>
        </p:spPr>
      </p:pic>
      <p:sp>
        <p:nvSpPr>
          <p:cNvPr id="18" name="Вслух объясняет выбор инструмента…">
            <a:extLst xmlns:a="http://schemas.openxmlformats.org/drawingml/2006/main">
              <a:ext uri="{FF2B5EF4-FFF2-40B4-BE49-F238E27FC236}">
                <a16:creationId xmlns:a16="http://schemas.microsoft.com/office/drawing/2014/main" id="{96A7438E-4ABD-47D0-A041-D7709C21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43053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Вслух объясняет выбор инструмента и критерия.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EF3901-F136-476C-A86E-0A91F479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333625"/>
            <a:ext cx="2476500" cy="314325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9CE7FE-6A11-4FB8-B61C-4E542500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76500"/>
            <a:ext cx="4191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3">
            <a:extLst xmlns:a="http://schemas.openxmlformats.org/drawingml/2006/main">
              <a:ext uri="{FF2B5EF4-FFF2-40B4-BE49-F238E27FC236}">
                <a16:creationId xmlns:a16="http://schemas.microsoft.com/office/drawing/2014/main" id="{4C9D248A-9AD9-4D9F-9CB3-8194CD54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76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db0da118e44383"/>
          <a:srcRect xmlns:a="http://schemas.openxmlformats.org/drawingml/2006/main" l="0" t="18717" r="0" b="187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8875" y="3048000"/>
            <a:ext cx="2133600" cy="1143000"/>
          </a:xfrm>
          <a:prstGeom xmlns:a="http://schemas.openxmlformats.org/drawingml/2006/main" prst="rect">
            <a:avLst/>
          </a:prstGeom>
        </p:spPr>
      </p:pic>
      <p:sp>
        <p:nvSpPr>
          <p:cNvPr id="23" name="Студенты повторяют первый шаг.">
            <a:extLst xmlns:a="http://schemas.openxmlformats.org/drawingml/2006/main">
              <a:ext uri="{FF2B5EF4-FFF2-40B4-BE49-F238E27FC236}">
                <a16:creationId xmlns:a16="http://schemas.microsoft.com/office/drawing/2014/main" id="{1DC4011E-6EC3-4F2B-BE92-A64E4560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053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Студенты повторяют первый шаг.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40E97D-9B37-4645-B1E3-8685A314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333625"/>
            <a:ext cx="2476500" cy="3143250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8F8AAD-8ECA-4847-BB62-CD077D423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4191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4">
            <a:extLst xmlns:a="http://schemas.openxmlformats.org/drawingml/2006/main">
              <a:ext uri="{FF2B5EF4-FFF2-40B4-BE49-F238E27FC236}">
                <a16:creationId xmlns:a16="http://schemas.microsoft.com/office/drawing/2014/main" id="{E238EB6A-9D93-4B44-9407-3050B6AA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8674e4d77841f5"/>
          <a:srcRect xmlns:a="http://schemas.openxmlformats.org/drawingml/2006/main" l="0" t="13935" r="0" b="139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63025" y="3048000"/>
            <a:ext cx="2133600" cy="1143000"/>
          </a:xfrm>
          <a:prstGeom xmlns:a="http://schemas.openxmlformats.org/drawingml/2006/main" prst="rect">
            <a:avLst/>
          </a:prstGeom>
        </p:spPr>
      </p:pic>
      <p:sp>
        <p:nvSpPr>
          <p:cNvPr id="28" name="Самостоятельно усложняют…">
            <a:extLst xmlns:a="http://schemas.openxmlformats.org/drawingml/2006/main">
              <a:ext uri="{FF2B5EF4-FFF2-40B4-BE49-F238E27FC236}">
                <a16:creationId xmlns:a16="http://schemas.microsoft.com/office/drawing/2014/main" id="{DE407C87-1FD6-48AD-8967-6A148DDC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305300"/>
            <a:ext cx="21336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Самостоятельно усложняют результат и проверяют его.</a:t>
            </a:r>
          </a:p>
        </p:txBody>
      </p:sp>
    </p:spTree>
    <p:extLst>
      <p:ext uri="{BB962C8B-B14F-4D97-AF65-F5344CB8AC3E}">
        <p14:creationId xmlns:p14="http://schemas.microsoft.com/office/powerpoint/2010/main" val="14254014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Тема">
            <a:extLst xmlns:a="http://schemas.openxmlformats.org/drawingml/2006/main">
              <a:ext uri="{FF2B5EF4-FFF2-40B4-BE49-F238E27FC236}">
                <a16:creationId xmlns:a16="http://schemas.microsoft.com/office/drawing/2014/main" id="{4D97C0BE-FD2A-4F3A-90B2-18FD89B9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Безопасность на рабочем месте при работе с графическим оборудованием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A95A5532-1A97-4688-A934-84A7EDE5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DFD1DB5D-646F-48BE-9ACC-E70B4AAD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Разбор преподавателя: один пример</a:t>
            </a:r>
          </a:p>
        </p:txBody>
      </p:sp>
      <p:sp>
        <p:nvSpPr>
          <p:cNvPr id="4" name="Безопасность и организация…">
            <a:extLst xmlns:a="http://schemas.openxmlformats.org/drawingml/2006/main">
              <a:ext uri="{FF2B5EF4-FFF2-40B4-BE49-F238E27FC236}">
                <a16:creationId xmlns:a16="http://schemas.microsoft.com/office/drawing/2014/main" id="{3C66E1C9-D4BE-4133-A080-9B317E13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Безопасность и организация рабочего места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20F88F-B6D6-414F-A1E0-AABC084C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5BA6F7-C2ED-43C7-87C7-F54D25F3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35CCFA8B-4CF0-4EB7-9A70-823403DD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П001 · занятие 1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6F688C5C-5664-4EB7-94CE-170F04D7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252a5c36714241"/>
          <a:srcRect xmlns:a="http://schemas.openxmlformats.org/drawingml/2006/main" l="0" t="20704" r="0" b="207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0" name="Безопасность и организация…">
            <a:extLst xmlns:a="http://schemas.openxmlformats.org/drawingml/2006/main">
              <a:ext uri="{FF2B5EF4-FFF2-40B4-BE49-F238E27FC236}">
                <a16:creationId xmlns:a16="http://schemas.microsoft.com/office/drawing/2014/main" id="{2A53C1B5-0FBA-4C30-B35B-E32E55B3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Безопасность и организация рабочего места</a:t>
            </a:r>
          </a:p>
        </p:txBody>
      </p:sp>
      <p:sp>
        <p:nvSpPr>
          <p:cNvPr id="11" name="Вариант А: называем условие и…">
            <a:extLst xmlns:a="http://schemas.openxmlformats.org/drawingml/2006/main">
              <a:ext uri="{FF2B5EF4-FFF2-40B4-BE49-F238E27FC236}">
                <a16:creationId xmlns:a16="http://schemas.microsoft.com/office/drawing/2014/main" id="{3C352D06-E24F-4D87-B704-00B65E05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А: называем условие и наблюдение.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4fcb27cdd94377"/>
          <a:srcRect xmlns:a="http://schemas.openxmlformats.org/drawingml/2006/main" l="0" t="13084" r="0" b="130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3" name="Преподаватель показывает, как не…">
            <a:extLst xmlns:a="http://schemas.openxmlformats.org/drawingml/2006/main">
              <a:ext uri="{FF2B5EF4-FFF2-40B4-BE49-F238E27FC236}">
                <a16:creationId xmlns:a16="http://schemas.microsoft.com/office/drawing/2014/main" id="{8A9B0EE3-CE1F-41A7-8580-E4FE8037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Преподаватель показывает, как не драматизировать изображение, а сделать точный профессиональный вывод.</a:t>
            </a:r>
          </a:p>
        </p:txBody>
      </p:sp>
      <p:sp>
        <p:nvSpPr>
          <p:cNvPr id="14" name="Вариант Б: объясняем отличие и…">
            <a:extLst xmlns:a="http://schemas.openxmlformats.org/drawingml/2006/main">
              <a:ext uri="{FF2B5EF4-FFF2-40B4-BE49-F238E27FC236}">
                <a16:creationId xmlns:a16="http://schemas.microsoft.com/office/drawing/2014/main" id="{9106D432-4D52-407D-ABC3-3BCED283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Б: объясняем отличие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12872646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Тема">
            <a:extLst xmlns:a="http://schemas.openxmlformats.org/drawingml/2006/main">
              <a:ext uri="{FF2B5EF4-FFF2-40B4-BE49-F238E27FC236}">
                <a16:creationId xmlns:a16="http://schemas.microsoft.com/office/drawing/2014/main" id="{55F1A38D-C4C9-4BD0-AB14-F59EBA3D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Безопасность на рабочем месте при работе с графическим оборудованием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8B0AA722-E481-49EE-90DD-9C63EF16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8626877C-C312-41E0-B33D-65506F57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Зачем говорить “граница вывода”</a:t>
            </a:r>
          </a:p>
        </p:txBody>
      </p:sp>
      <p:sp>
        <p:nvSpPr>
          <p:cNvPr id="4" name="Безопасность и организация…">
            <a:extLst xmlns:a="http://schemas.openxmlformats.org/drawingml/2006/main">
              <a:ext uri="{FF2B5EF4-FFF2-40B4-BE49-F238E27FC236}">
                <a16:creationId xmlns:a16="http://schemas.microsoft.com/office/drawing/2014/main" id="{5840ADE6-7711-4B0A-BC73-444A2D37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Безопасность и организация рабочего места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B69A7B-BB0B-4851-9A71-1FB0F017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559EBA-DDD9-4D5E-91D2-754B90DD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16680F8B-308F-4B6A-A565-99CAA14D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вопрос классу: кто не согласен — объясните по признаку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E8C10718-F4A5-47CF-8A01-FA9E7FA5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7513b828be4143"/>
          <a:srcRect xmlns:a="http://schemas.openxmlformats.org/drawingml/2006/main" l="0" t="5673" r="0" b="56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86000"/>
            <a:ext cx="4762500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5E21D2-4B0D-4CBB-B02D-D10D6D6C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860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C08096-2DDF-4D3B-952F-B3C5907E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1">
            <a:extLst xmlns:a="http://schemas.openxmlformats.org/drawingml/2006/main">
              <a:ext uri="{FF2B5EF4-FFF2-40B4-BE49-F238E27FC236}">
                <a16:creationId xmlns:a16="http://schemas.microsoft.com/office/drawing/2014/main" id="{A92850C9-91AE-4762-8C34-780C9C00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Безопасность и организация…">
            <a:extLst xmlns:a="http://schemas.openxmlformats.org/drawingml/2006/main">
              <a:ext uri="{FF2B5EF4-FFF2-40B4-BE49-F238E27FC236}">
                <a16:creationId xmlns:a16="http://schemas.microsoft.com/office/drawing/2014/main" id="{CBDF9D92-CD07-4A41-908C-D541233A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Безопасность и организация рабочего места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ABDFEB-458C-4B0B-BB80-ECB97091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670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62B170-6D2C-4B52-8254-564478CD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71B0882E-6690-42AC-91B9-90F80B4C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ЗАЧЕМ?">
            <a:extLst xmlns:a="http://schemas.openxmlformats.org/drawingml/2006/main">
              <a:ext uri="{FF2B5EF4-FFF2-40B4-BE49-F238E27FC236}">
                <a16:creationId xmlns:a16="http://schemas.microsoft.com/office/drawing/2014/main" id="{80A790E7-BC39-4C02-8893-2759EF68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ЗАЧЕМ?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04EAEC-2A30-4013-9801-D9D31959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672177-F117-4534-97C8-00769ED7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3">
            <a:extLst xmlns:a="http://schemas.openxmlformats.org/drawingml/2006/main">
              <a:ext uri="{FF2B5EF4-FFF2-40B4-BE49-F238E27FC236}">
                <a16:creationId xmlns:a16="http://schemas.microsoft.com/office/drawing/2014/main" id="{C1D38640-47DC-4975-92FD-BE4B86D9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ПОЧЕМУ?">
            <a:extLst xmlns:a="http://schemas.openxmlformats.org/drawingml/2006/main">
              <a:ext uri="{FF2B5EF4-FFF2-40B4-BE49-F238E27FC236}">
                <a16:creationId xmlns:a16="http://schemas.microsoft.com/office/drawing/2014/main" id="{0CC5A5AD-FC9F-4C0A-8CEA-0F914751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ПОЧЕМУ?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B8EE6E-62E9-4E64-9C71-791B4DCB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291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1CC3F9-E46E-44F2-8C6D-436DB62D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4">
            <a:extLst xmlns:a="http://schemas.openxmlformats.org/drawingml/2006/main">
              <a:ext uri="{FF2B5EF4-FFF2-40B4-BE49-F238E27FC236}">
                <a16:creationId xmlns:a16="http://schemas.microsoft.com/office/drawing/2014/main" id="{FB78DD54-CF0A-49E4-AE1B-4C6D0ECB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Чтобы не делать вид, что по…">
            <a:extLst xmlns:a="http://schemas.openxmlformats.org/drawingml/2006/main">
              <a:ext uri="{FF2B5EF4-FFF2-40B4-BE49-F238E27FC236}">
                <a16:creationId xmlns:a16="http://schemas.microsoft.com/office/drawing/2014/main" id="{33CCD7DE-1220-46F6-B2A6-EF58E86F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Чтобы не делать вид, что по одному кадру мы знаем всё о безопасности.</a:t>
            </a:r>
          </a:p>
        </p:txBody>
      </p:sp>
    </p:spTree>
    <p:extLst>
      <p:ext uri="{BB962C8B-B14F-4D97-AF65-F5344CB8AC3E}">
        <p14:creationId xmlns:p14="http://schemas.microsoft.com/office/powerpoint/2010/main" val="20072427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Тема">
            <a:extLst xmlns:a="http://schemas.openxmlformats.org/drawingml/2006/main">
              <a:ext uri="{FF2B5EF4-FFF2-40B4-BE49-F238E27FC236}">
                <a16:creationId xmlns:a16="http://schemas.microsoft.com/office/drawing/2014/main" id="{7ADB672F-E687-4FD2-9A2D-FA0B7A16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Безопасность на рабочем месте при работе с графическим оборудованием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ACDA9263-5AE2-4B36-BFC3-20CFB98A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061DCB9F-6231-4292-8DA1-64126242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Пары: сравните две ситуации</a:t>
            </a:r>
          </a:p>
        </p:txBody>
      </p:sp>
      <p:sp>
        <p:nvSpPr>
          <p:cNvPr id="4" name="Безопасность и организация…">
            <a:extLst xmlns:a="http://schemas.openxmlformats.org/drawingml/2006/main">
              <a:ext uri="{FF2B5EF4-FFF2-40B4-BE49-F238E27FC236}">
                <a16:creationId xmlns:a16="http://schemas.microsoft.com/office/drawing/2014/main" id="{3DD1E044-68A3-4648-95BB-B3EE6EC5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Безопасность и организация рабочего места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7D1BAF-2D0C-4A24-BB3D-E6D031EE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8AB449-6486-4A7A-96D9-DF3DE19C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82438879-AA31-449C-AABF-3390A33D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П001 · занятие 1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94CCFB45-AD19-45C1-BBF5-6CA7E467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f2b8ecdfd84b57"/>
          <a:srcRect xmlns:a="http://schemas.openxmlformats.org/drawingml/2006/main" l="0" t="382" r="0" b="3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0" name="Безопасность и организация…">
            <a:extLst xmlns:a="http://schemas.openxmlformats.org/drawingml/2006/main">
              <a:ext uri="{FF2B5EF4-FFF2-40B4-BE49-F238E27FC236}">
                <a16:creationId xmlns:a16="http://schemas.microsoft.com/office/drawing/2014/main" id="{40C87DAE-F4F1-4509-8075-448D9B8C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Безопасность и организация рабочего места</a:t>
            </a:r>
          </a:p>
        </p:txBody>
      </p:sp>
      <p:sp>
        <p:nvSpPr>
          <p:cNvPr id="11" name="Признак 1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BB21C49B-247D-45AB-B0C5-C4AB8DF1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1: что можно увидеть и проверить.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c3cd11b70b4b5e"/>
          <a:srcRect xmlns:a="http://schemas.openxmlformats.org/drawingml/2006/main" l="0" t="7112" r="0" b="71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432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3" name="Задача пары — выбрать один…">
            <a:extLst xmlns:a="http://schemas.openxmlformats.org/drawingml/2006/main">
              <a:ext uri="{FF2B5EF4-FFF2-40B4-BE49-F238E27FC236}">
                <a16:creationId xmlns:a16="http://schemas.microsoft.com/office/drawing/2014/main" id="{E8927DD2-28BA-47BC-A338-E219DC08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Задача пары — выбрать один критерий и объяснить, почему вариант А или Б безопаснее.</a:t>
            </a:r>
          </a:p>
        </p:txBody>
      </p:sp>
      <p:sp>
        <p:nvSpPr>
          <p:cNvPr id="14" name="Признак 2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199B7173-C831-42D8-B3C9-C357AC9E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2: что можно увидеть и проверить.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01cacb9a474b43"/>
          <a:srcRect xmlns:a="http://schemas.openxmlformats.org/drawingml/2006/main" l="8897" t="0" r="88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674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6" name="Кабель внутри рабочей зоны">
            <a:extLst xmlns:a="http://schemas.openxmlformats.org/drawingml/2006/main">
              <a:ext uri="{FF2B5EF4-FFF2-40B4-BE49-F238E27FC236}">
                <a16:creationId xmlns:a16="http://schemas.microsoft.com/office/drawing/2014/main" id="{0F5B6575-B95C-487E-8AE1-5F51C98F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Кабель внутри рабочей зоны</a:t>
            </a:r>
          </a:p>
        </p:txBody>
      </p:sp>
      <p:sp>
        <p:nvSpPr>
          <p:cNvPr id="17" name="Признак 3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AFE3652F-FC03-474E-A281-51F34FA6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3: что можно увидеть и проверить.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353da788194563"/>
          <a:srcRect xmlns:a="http://schemas.openxmlformats.org/drawingml/2006/main" l="0" t="10022" r="0" b="100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915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9" name="он не пересекает общий проход и…">
            <a:extLst xmlns:a="http://schemas.openxmlformats.org/drawingml/2006/main">
              <a:ext uri="{FF2B5EF4-FFF2-40B4-BE49-F238E27FC236}">
                <a16:creationId xmlns:a16="http://schemas.microsoft.com/office/drawing/2014/main" id="{5C88FD45-593B-4B03-9FA2-66C63686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он не пересекает общий проход и заметно закреплён</a:t>
            </a:r>
          </a:p>
        </p:txBody>
      </p:sp>
      <p:sp>
        <p:nvSpPr>
          <p:cNvPr id="20" name="Признак 4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F8287F63-FE8B-4347-8AA8-82287361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4: что можно увидеть и проверить.</a:t>
            </a:r>
          </a:p>
        </p:txBody>
      </p:sp>
    </p:spTree>
    <p:extLst>
      <p:ext uri="{BB962C8B-B14F-4D97-AF65-F5344CB8AC3E}">
        <p14:creationId xmlns:p14="http://schemas.microsoft.com/office/powerpoint/2010/main" val="17926913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Тема">
            <a:extLst xmlns:a="http://schemas.openxmlformats.org/drawingml/2006/main">
              <a:ext uri="{FF2B5EF4-FFF2-40B4-BE49-F238E27FC236}">
                <a16:creationId xmlns:a16="http://schemas.microsoft.com/office/drawing/2014/main" id="{154407DD-6E77-48AE-855D-817CCB18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Безопасность на рабочем месте при работе с графическим оборудованием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DE2D44D6-A2A8-4531-BE37-77726EDE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8279CC43-9B9C-4709-A49E-E926CC73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Вопросы “зачем” и “почему”</a:t>
            </a:r>
          </a:p>
        </p:txBody>
      </p:sp>
      <p:sp>
        <p:nvSpPr>
          <p:cNvPr id="4" name="Безопасность и организация…">
            <a:extLst xmlns:a="http://schemas.openxmlformats.org/drawingml/2006/main">
              <a:ext uri="{FF2B5EF4-FFF2-40B4-BE49-F238E27FC236}">
                <a16:creationId xmlns:a16="http://schemas.microsoft.com/office/drawing/2014/main" id="{1CDEEB1F-5E4F-41E2-9ED8-74E60F40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Безопасность и организация рабочего места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E4296C-D62E-4111-B317-09B1A6BB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84BDC7-EDE2-44F9-A1CA-2D06825E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1D34B274-C083-4484-ABCC-FC1C8998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П001 · занятие 1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AC08AAB9-5826-4379-B54D-79B6CC53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c2f15747c34170"/>
          <a:srcRect xmlns:a="http://schemas.openxmlformats.org/drawingml/2006/main" l="0" t="21687" r="0" b="216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0" name="Безопасность и организация…">
            <a:extLst xmlns:a="http://schemas.openxmlformats.org/drawingml/2006/main">
              <a:ext uri="{FF2B5EF4-FFF2-40B4-BE49-F238E27FC236}">
                <a16:creationId xmlns:a16="http://schemas.microsoft.com/office/drawing/2014/main" id="{EC9E6B7A-26F5-487A-AE37-052634C9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Безопасность и организация рабочего места</a:t>
            </a:r>
          </a:p>
        </p:txBody>
      </p:sp>
      <p:sp>
        <p:nvSpPr>
          <p:cNvPr id="11" name="Вариант А: называем условие и…">
            <a:extLst xmlns:a="http://schemas.openxmlformats.org/drawingml/2006/main">
              <a:ext uri="{FF2B5EF4-FFF2-40B4-BE49-F238E27FC236}">
                <a16:creationId xmlns:a16="http://schemas.microsoft.com/office/drawing/2014/main" id="{DE633F52-37BD-43E4-B479-5191881A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А: называем условие и наблюдение.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8f4fe6bee34265"/>
          <a:srcRect xmlns:a="http://schemas.openxmlformats.org/drawingml/2006/main" l="0" t="20704" r="0" b="207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3" name="Зачем кабель должен оставаться…">
            <a:extLst xmlns:a="http://schemas.openxmlformats.org/drawingml/2006/main">
              <a:ext uri="{FF2B5EF4-FFF2-40B4-BE49-F238E27FC236}">
                <a16:creationId xmlns:a16="http://schemas.microsoft.com/office/drawing/2014/main" id="{05483D28-FB21-4FB9-8FF5-E1D8F218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Зачем кабель должен оставаться внутри рабочей зоны?</a:t>
            </a:r>
          </a:p>
        </p:txBody>
      </p:sp>
      <p:sp>
        <p:nvSpPr>
          <p:cNvPr id="14" name="Вариант Б: объясняем отличие и…">
            <a:extLst xmlns:a="http://schemas.openxmlformats.org/drawingml/2006/main">
              <a:ext uri="{FF2B5EF4-FFF2-40B4-BE49-F238E27FC236}">
                <a16:creationId xmlns:a16="http://schemas.microsoft.com/office/drawing/2014/main" id="{5A53866C-DFC7-4A38-839A-2A755D68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Б: объясняем отличие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5272496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Тема">
            <a:extLst xmlns:a="http://schemas.openxmlformats.org/drawingml/2006/main">
              <a:ext uri="{FF2B5EF4-FFF2-40B4-BE49-F238E27FC236}">
                <a16:creationId xmlns:a16="http://schemas.microsoft.com/office/drawing/2014/main" id="{8EFBB3E0-28E2-406F-A445-2C745D60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Безопасность на рабочем месте при работе с графическим оборудованием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AC10AAD3-B9AF-41AB-A039-958A02DD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2EB60764-6C38-4832-99A3-12E39AED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Разбор ответов студентов</a:t>
            </a:r>
          </a:p>
        </p:txBody>
      </p:sp>
      <p:sp>
        <p:nvSpPr>
          <p:cNvPr id="4" name="Безопасность и организация…">
            <a:extLst xmlns:a="http://schemas.openxmlformats.org/drawingml/2006/main">
              <a:ext uri="{FF2B5EF4-FFF2-40B4-BE49-F238E27FC236}">
                <a16:creationId xmlns:a16="http://schemas.microsoft.com/office/drawing/2014/main" id="{670D9058-3636-4B20-9382-2E57E3FC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Безопасность и организация рабочего места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F25E3A-C47F-4A81-8B6B-F52E1796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0E0FA6-3AA0-4A3A-94CC-DCA824AB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34CA445C-368F-4A07-A6FC-E1AE693A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разбор: почему вторая формулировка сильнее?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00EC57DB-D771-4764-9C3F-E5E672D0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8d475ce55041fd"/>
          <a:srcRect xmlns:a="http://schemas.openxmlformats.org/drawingml/2006/main" l="6848" t="0" r="68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86000"/>
            <a:ext cx="4762500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5BAFF7-8814-4D6F-9E5A-70B90A18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860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9C8FEB-77EB-46BE-95D1-7C9B8B47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1">
            <a:extLst xmlns:a="http://schemas.openxmlformats.org/drawingml/2006/main">
              <a:ext uri="{FF2B5EF4-FFF2-40B4-BE49-F238E27FC236}">
                <a16:creationId xmlns:a16="http://schemas.microsoft.com/office/drawing/2014/main" id="{4B67AA61-64D0-432E-8DCC-76E41146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Безопасность и организация…">
            <a:extLst xmlns:a="http://schemas.openxmlformats.org/drawingml/2006/main">
              <a:ext uri="{FF2B5EF4-FFF2-40B4-BE49-F238E27FC236}">
                <a16:creationId xmlns:a16="http://schemas.microsoft.com/office/drawing/2014/main" id="{941624AE-1E23-4F11-BA74-8E3C6246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Безопасность и организация рабочего места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DE67A4-9961-4DF2-9A77-47E1D691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670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D1ECF0-915D-4941-96B6-41849BAA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BF0EFCE9-4B34-4498-97F5-76110978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После парной работы преподаватель…">
            <a:extLst xmlns:a="http://schemas.openxmlformats.org/drawingml/2006/main">
              <a:ext uri="{FF2B5EF4-FFF2-40B4-BE49-F238E27FC236}">
                <a16:creationId xmlns:a16="http://schemas.microsoft.com/office/drawing/2014/main" id="{231EFF51-414B-4C38-BE0B-C94F4AEF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После парной работы преподаватель переводит бытовые фразы в профессиональные формулировки.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C92650-2A17-47CF-8FBA-402C691C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B959AD-74E8-49AC-8E18-851B5DBB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3">
            <a:extLst xmlns:a="http://schemas.openxmlformats.org/drawingml/2006/main">
              <a:ext uri="{FF2B5EF4-FFF2-40B4-BE49-F238E27FC236}">
                <a16:creationId xmlns:a16="http://schemas.microsoft.com/office/drawing/2014/main" id="{89239C91-826B-43CA-B85E-A769CD7D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“Там просто грязно.”">
            <a:extLst xmlns:a="http://schemas.openxmlformats.org/drawingml/2006/main">
              <a:ext uri="{FF2B5EF4-FFF2-40B4-BE49-F238E27FC236}">
                <a16:creationId xmlns:a16="http://schemas.microsoft.com/office/drawing/2014/main" id="{AFE7799E-A76A-45F6-AC64-AA231B6B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“Там просто грязно.”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853340-44C4-49FF-A1A9-601A7831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291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FB170E-580F-4865-9C09-BC3A0E6B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4">
            <a:extLst xmlns:a="http://schemas.openxmlformats.org/drawingml/2006/main">
              <a:ext uri="{FF2B5EF4-FFF2-40B4-BE49-F238E27FC236}">
                <a16:creationId xmlns:a16="http://schemas.microsoft.com/office/drawing/2014/main" id="{92EB2FAC-54F5-47DC-89E2-8B69F855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“В проходе лежит кабель — есть…">
            <a:extLst xmlns:a="http://schemas.openxmlformats.org/drawingml/2006/main">
              <a:ext uri="{FF2B5EF4-FFF2-40B4-BE49-F238E27FC236}">
                <a16:creationId xmlns:a16="http://schemas.microsoft.com/office/drawing/2014/main" id="{F68FD860-CE3F-4B9D-A193-0BE2C21A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“В проходе лежит кабель — есть риск зацепиться.”</a:t>
            </a:r>
          </a:p>
        </p:txBody>
      </p:sp>
    </p:spTree>
    <p:extLst>
      <p:ext uri="{BB962C8B-B14F-4D97-AF65-F5344CB8AC3E}">
        <p14:creationId xmlns:p14="http://schemas.microsoft.com/office/powerpoint/2010/main" val="353907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Тема">
            <a:extLst xmlns:a="http://schemas.openxmlformats.org/drawingml/2006/main">
              <a:ext uri="{FF2B5EF4-FFF2-40B4-BE49-F238E27FC236}">
                <a16:creationId xmlns:a16="http://schemas.microsoft.com/office/drawing/2014/main" id="{F1B4ADB8-C86C-4317-BC07-1C2A088F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Безопасность на рабочем месте при работе с графическим оборудованием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98444620-C359-4B1D-A7C7-9774B297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EC56E828-BC51-47DD-9371-D112522C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Интерактив: найдите 5 признаков</a:t>
            </a:r>
          </a:p>
        </p:txBody>
      </p:sp>
      <p:sp>
        <p:nvSpPr>
          <p:cNvPr id="4" name="Безопасность и организация…">
            <a:extLst xmlns:a="http://schemas.openxmlformats.org/drawingml/2006/main">
              <a:ext uri="{FF2B5EF4-FFF2-40B4-BE49-F238E27FC236}">
                <a16:creationId xmlns:a16="http://schemas.microsoft.com/office/drawing/2014/main" id="{4916A951-DDD5-41C4-A01D-2067306B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Безопасность и организация рабочего места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94B02-F4E2-4054-8899-5ABECD73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96AC4C-4887-4334-8E5F-75969B68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0F1A706B-F69E-4860-A1EE-6F0B05BB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П001 · занятие 1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A4A59281-0A12-4538-8E04-9674CB18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0d26d83d084304"/>
          <a:srcRect xmlns:a="http://schemas.openxmlformats.org/drawingml/2006/main" l="0" t="4019" r="0" b="40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0" name="Безопасность и организация…">
            <a:extLst xmlns:a="http://schemas.openxmlformats.org/drawingml/2006/main">
              <a:ext uri="{FF2B5EF4-FFF2-40B4-BE49-F238E27FC236}">
                <a16:creationId xmlns:a16="http://schemas.microsoft.com/office/drawing/2014/main" id="{A5CE4E72-55D9-4A65-868A-32A43085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Безопасность и организация рабочего места</a:t>
            </a:r>
          </a:p>
        </p:txBody>
      </p:sp>
      <p:sp>
        <p:nvSpPr>
          <p:cNvPr id="11" name="Признак 1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DC785CFB-1856-4A44-9150-F99795B3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1: что можно увидеть и проверить.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bc1cd49b0d40b3"/>
          <a:srcRect xmlns:a="http://schemas.openxmlformats.org/drawingml/2006/main" l="0" t="382" r="0" b="3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432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3" name="Работаем 90 секунд: каждый…">
            <a:extLst xmlns:a="http://schemas.openxmlformats.org/drawingml/2006/main">
              <a:ext uri="{FF2B5EF4-FFF2-40B4-BE49-F238E27FC236}">
                <a16:creationId xmlns:a16="http://schemas.microsoft.com/office/drawing/2014/main" id="{D0FC5FF1-FBE7-4482-8AD4-53AC3DA2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Работаем 90 секунд: каждый называет один наблюдаемый признак и объясняет “почему”.</a:t>
            </a:r>
          </a:p>
        </p:txBody>
      </p:sp>
      <p:sp>
        <p:nvSpPr>
          <p:cNvPr id="14" name="Признак 2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63407C87-4834-498C-A25B-C45FA82D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2: что можно увидеть и проверить.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337de04e30404a"/>
          <a:srcRect xmlns:a="http://schemas.openxmlformats.org/drawingml/2006/main" l="0" t="7112" r="0" b="71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674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6" name="Что пересекает маршрут движения?">
            <a:extLst xmlns:a="http://schemas.openxmlformats.org/drawingml/2006/main">
              <a:ext uri="{FF2B5EF4-FFF2-40B4-BE49-F238E27FC236}">
                <a16:creationId xmlns:a16="http://schemas.microsoft.com/office/drawing/2014/main" id="{A0546940-9E16-4417-A1AB-5152B731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Что пересекает маршрут движения?</a:t>
            </a:r>
          </a:p>
        </p:txBody>
      </p:sp>
      <p:sp>
        <p:nvSpPr>
          <p:cNvPr id="17" name="Признак 3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749E7172-2E5B-487E-9D99-44272AD3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3: что можно увидеть и проверить.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396e869bb842d8"/>
          <a:srcRect xmlns:a="http://schemas.openxmlformats.org/drawingml/2006/main" l="8897" t="0" r="88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915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9" name="Где источник питания?">
            <a:extLst xmlns:a="http://schemas.openxmlformats.org/drawingml/2006/main">
              <a:ext uri="{FF2B5EF4-FFF2-40B4-BE49-F238E27FC236}">
                <a16:creationId xmlns:a16="http://schemas.microsoft.com/office/drawing/2014/main" id="{6F5EAD0D-7296-449B-AF2F-FAE879B2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Где источник питания?</a:t>
            </a:r>
          </a:p>
        </p:txBody>
      </p:sp>
      <p:sp>
        <p:nvSpPr>
          <p:cNvPr id="20" name="Признак 4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43535F39-F816-426C-997C-8EFA063F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4: что можно увидеть и проверить.</a:t>
            </a:r>
          </a:p>
        </p:txBody>
      </p:sp>
    </p:spTree>
    <p:extLst>
      <p:ext uri="{BB962C8B-B14F-4D97-AF65-F5344CB8AC3E}">
        <p14:creationId xmlns:p14="http://schemas.microsoft.com/office/powerpoint/2010/main" val="8702546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Тема">
            <a:extLst xmlns:a="http://schemas.openxmlformats.org/drawingml/2006/main">
              <a:ext uri="{FF2B5EF4-FFF2-40B4-BE49-F238E27FC236}">
                <a16:creationId xmlns:a16="http://schemas.microsoft.com/office/drawing/2014/main" id="{CCDC2350-28C2-4563-B4F2-E7ED57F7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Безопасность на рабочем месте при работе с графическим оборудованием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555A9CE7-464F-4971-B3C0-4971D2AB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856DDABD-6CD6-49BF-AB0C-810295FE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Мини-дебаты: что важнее исправить первым</a:t>
            </a:r>
          </a:p>
        </p:txBody>
      </p:sp>
      <p:sp>
        <p:nvSpPr>
          <p:cNvPr id="4" name="Безопасность и организация…">
            <a:extLst xmlns:a="http://schemas.openxmlformats.org/drawingml/2006/main">
              <a:ext uri="{FF2B5EF4-FFF2-40B4-BE49-F238E27FC236}">
                <a16:creationId xmlns:a16="http://schemas.microsoft.com/office/drawing/2014/main" id="{71481029-74C6-4104-9FEF-4CC3E7D9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Безопасность и организация рабочего места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7DD034-B4A5-4AFD-B6C3-6110EAE3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1C84CA-4199-4359-846F-C64FFCF8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23C3049B-7500-4034-A270-1D76D59D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П001 · занятие 1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332C5579-4A5E-4E3D-8822-E988712A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ce5c8fcc5c45b7"/>
          <a:srcRect xmlns:a="http://schemas.openxmlformats.org/drawingml/2006/main" l="0" t="25441" r="0" b="254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0" name="Безопасность и организация…">
            <a:extLst xmlns:a="http://schemas.openxmlformats.org/drawingml/2006/main">
              <a:ext uri="{FF2B5EF4-FFF2-40B4-BE49-F238E27FC236}">
                <a16:creationId xmlns:a16="http://schemas.microsoft.com/office/drawing/2014/main" id="{253F97E1-8873-4EB6-B8A5-BEB20BF7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Безопасность и организация рабочего места</a:t>
            </a:r>
          </a:p>
        </p:txBody>
      </p:sp>
      <p:sp>
        <p:nvSpPr>
          <p:cNvPr id="11" name="Вариант А: называем условие и…">
            <a:extLst xmlns:a="http://schemas.openxmlformats.org/drawingml/2006/main">
              <a:ext uri="{FF2B5EF4-FFF2-40B4-BE49-F238E27FC236}">
                <a16:creationId xmlns:a16="http://schemas.microsoft.com/office/drawing/2014/main" id="{427AC63F-F167-4FDE-B018-4A642EF7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А: называем условие и наблюдение.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1a5889b719444e"/>
          <a:srcRect xmlns:a="http://schemas.openxmlformats.org/drawingml/2006/main" l="0" t="21687" r="0" b="216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3" name="У вас есть 30 секунд до начала…">
            <a:extLst xmlns:a="http://schemas.openxmlformats.org/drawingml/2006/main">
              <a:ext uri="{FF2B5EF4-FFF2-40B4-BE49-F238E27FC236}">
                <a16:creationId xmlns:a16="http://schemas.microsoft.com/office/drawing/2014/main" id="{7CB949B8-63AB-483A-9B59-B986368E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У вас есть 30 секунд до начала занятия. Что исправить в первую очередь?</a:t>
            </a:r>
          </a:p>
        </p:txBody>
      </p:sp>
      <p:sp>
        <p:nvSpPr>
          <p:cNvPr id="14" name="Вариант Б: объясняем отличие и…">
            <a:extLst xmlns:a="http://schemas.openxmlformats.org/drawingml/2006/main">
              <a:ext uri="{FF2B5EF4-FFF2-40B4-BE49-F238E27FC236}">
                <a16:creationId xmlns:a16="http://schemas.microsoft.com/office/drawing/2014/main" id="{8CDCFC12-3EDA-4346-B5C2-D6613EB0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Б: объясняем отличие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9410688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Тема">
            <a:extLst xmlns:a="http://schemas.openxmlformats.org/drawingml/2006/main">
              <a:ext uri="{FF2B5EF4-FFF2-40B4-BE49-F238E27FC236}">
                <a16:creationId xmlns:a16="http://schemas.microsoft.com/office/drawing/2014/main" id="{B6807DB6-E368-4838-B39C-27115195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Безопасность на рабочем месте при работе с графическим оборудованием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173E6027-4FEB-43AA-8E30-CA4D4852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CF855F90-D154-4CB8-A909-B2D2C921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Как звучит сильный устный вывод</a:t>
            </a:r>
          </a:p>
        </p:txBody>
      </p:sp>
      <p:sp>
        <p:nvSpPr>
          <p:cNvPr id="4" name="Безопасность и организация…">
            <a:extLst xmlns:a="http://schemas.openxmlformats.org/drawingml/2006/main">
              <a:ext uri="{FF2B5EF4-FFF2-40B4-BE49-F238E27FC236}">
                <a16:creationId xmlns:a16="http://schemas.microsoft.com/office/drawing/2014/main" id="{6864A6A6-BADA-4ED4-8459-B4493FA7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Безопасность и организация рабочего места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BCA88D-2319-4EE5-B011-AEBEC9E2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4E0E6D-6734-4BD6-89E2-03B08083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B90C385E-5270-421F-AECA-4C48905A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мини-пауза: скажите одним предложением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9DF2A361-4400-4725-A69B-E15491F9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5a5dc033864c9a"/>
          <a:srcRect xmlns:a="http://schemas.openxmlformats.org/drawingml/2006/main" l="0" t="4024" r="0" b="40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86000"/>
            <a:ext cx="4762500" cy="3143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90CDE-F88D-4EFB-9697-5DE93F00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860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731754-E422-4025-81B0-B155CFE0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1">
            <a:extLst xmlns:a="http://schemas.openxmlformats.org/drawingml/2006/main">
              <a:ext uri="{FF2B5EF4-FFF2-40B4-BE49-F238E27FC236}">
                <a16:creationId xmlns:a16="http://schemas.microsoft.com/office/drawing/2014/main" id="{2E02CB3C-DD2E-4AF5-9157-8FFFCEA8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098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Безопасность и организация…">
            <a:extLst xmlns:a="http://schemas.openxmlformats.org/drawingml/2006/main">
              <a:ext uri="{FF2B5EF4-FFF2-40B4-BE49-F238E27FC236}">
                <a16:creationId xmlns:a16="http://schemas.microsoft.com/office/drawing/2014/main" id="{33679A26-0976-4CA4-9A7B-520ECA8CC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Безопасность и организация рабочего места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69673C-C9AD-47E9-B3EC-D0D41666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670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3F4FBF-297D-41EC-8FFD-86566C01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2">
            <a:extLst xmlns:a="http://schemas.openxmlformats.org/drawingml/2006/main">
              <a:ext uri="{FF2B5EF4-FFF2-40B4-BE49-F238E27FC236}">
                <a16:creationId xmlns:a16="http://schemas.microsoft.com/office/drawing/2014/main" id="{2E8C8B91-E10C-4CA7-8662-2C398F5D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908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Это занятие не требует файла.…">
            <a:extLst xmlns:a="http://schemas.openxmlformats.org/drawingml/2006/main">
              <a:ext uri="{FF2B5EF4-FFF2-40B4-BE49-F238E27FC236}">
                <a16:creationId xmlns:a16="http://schemas.microsoft.com/office/drawing/2014/main" id="{46061114-F439-4ECA-99DA-9D932537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Это занятие не требует файла. Доказательство результата — короткое профессиональное объяснение.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82B5AA-1C20-49D9-A057-442BF6AE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4810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92051E-13D0-42BB-89D3-15D3C1C0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3">
            <a:extLst xmlns:a="http://schemas.openxmlformats.org/drawingml/2006/main">
              <a:ext uri="{FF2B5EF4-FFF2-40B4-BE49-F238E27FC236}">
                <a16:creationId xmlns:a16="http://schemas.microsoft.com/office/drawing/2014/main" id="{46E1E227-3431-42A2-BB63-176E1731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Факт">
            <a:extLst xmlns:a="http://schemas.openxmlformats.org/drawingml/2006/main">
              <a:ext uri="{FF2B5EF4-FFF2-40B4-BE49-F238E27FC236}">
                <a16:creationId xmlns:a16="http://schemas.microsoft.com/office/drawing/2014/main" id="{B6189A5F-C60E-4D90-88AF-E5FE73C6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Факт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07FF37-4360-4BB3-A6E2-C9DDE6D8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29150"/>
            <a:ext cx="5857875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11171B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19E084-D32F-4021-B89D-B458433B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oundRect">
            <a:avLst>
              <a:gd name="adj" fmla="val 36842"/>
            </a:avLst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4">
            <a:extLst xmlns:a="http://schemas.openxmlformats.org/drawingml/2006/main">
              <a:ext uri="{FF2B5EF4-FFF2-40B4-BE49-F238E27FC236}">
                <a16:creationId xmlns:a16="http://schemas.microsoft.com/office/drawing/2014/main" id="{DD700C48-379A-4480-9DCA-C4C236A7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52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Риск">
            <a:extLst xmlns:a="http://schemas.openxmlformats.org/drawingml/2006/main">
              <a:ext uri="{FF2B5EF4-FFF2-40B4-BE49-F238E27FC236}">
                <a16:creationId xmlns:a16="http://schemas.microsoft.com/office/drawing/2014/main" id="{F61D19B6-7239-4909-A2D1-E62524C1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5F5F5"/>
                </a:solidFill>
                <a:latin typeface="Arial"/>
                <a:ea typeface="Arial"/>
                <a:cs typeface="Arial"/>
              </a:rPr>
              <a:t>Риск</a:t>
            </a:r>
          </a:p>
        </p:txBody>
      </p:sp>
    </p:spTree>
    <p:extLst>
      <p:ext uri="{BB962C8B-B14F-4D97-AF65-F5344CB8AC3E}">
        <p14:creationId xmlns:p14="http://schemas.microsoft.com/office/powerpoint/2010/main" val="131192871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Тема">
            <a:extLst xmlns:a="http://schemas.openxmlformats.org/drawingml/2006/main">
              <a:ext uri="{FF2B5EF4-FFF2-40B4-BE49-F238E27FC236}">
                <a16:creationId xmlns:a16="http://schemas.microsoft.com/office/drawing/2014/main" id="{FB79AC9B-FDB0-4B6F-8F63-706E310A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Безопасность на рабочем месте при работе с графическим оборудованием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D37B63A0-1D3B-4B8B-A875-1166D69B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7EA00FBD-4399-488C-B7B3-519CC3FF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30 секунд перед работой</a:t>
            </a:r>
          </a:p>
        </p:txBody>
      </p:sp>
      <p:sp>
        <p:nvSpPr>
          <p:cNvPr id="4" name="Безопасность и организация…">
            <a:extLst xmlns:a="http://schemas.openxmlformats.org/drawingml/2006/main">
              <a:ext uri="{FF2B5EF4-FFF2-40B4-BE49-F238E27FC236}">
                <a16:creationId xmlns:a16="http://schemas.microsoft.com/office/drawing/2014/main" id="{712D729B-432B-4A7D-BE00-676782EA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Безопасность и организация рабочего места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29117C-697D-4462-860C-D122357A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C6EEA0-4724-4E21-BFD8-AB4A4278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002617AA-0EFD-4111-AD11-2C326AA2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П001 · занятие 1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3699D15A-0DD6-4C6A-81CC-5CF3158D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4c7f38f26f44fd"/>
          <a:srcRect xmlns:a="http://schemas.openxmlformats.org/drawingml/2006/main" l="8399" t="0" r="83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0" name="Безопасность и организация…">
            <a:extLst xmlns:a="http://schemas.openxmlformats.org/drawingml/2006/main">
              <a:ext uri="{FF2B5EF4-FFF2-40B4-BE49-F238E27FC236}">
                <a16:creationId xmlns:a16="http://schemas.microsoft.com/office/drawing/2014/main" id="{A3E8EEDC-B695-4A79-8771-C3B60F24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Безопасность и организация рабочего места</a:t>
            </a:r>
          </a:p>
        </p:txBody>
      </p:sp>
      <p:sp>
        <p:nvSpPr>
          <p:cNvPr id="11" name="Признак 1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F323EF4B-129E-49F8-9C5B-2F54C7E3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1: что можно увидеть и проверить.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b5e2d84ab74289"/>
          <a:srcRect xmlns:a="http://schemas.openxmlformats.org/drawingml/2006/main" l="0" t="4019" r="0" b="40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432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3" name="Проход">
            <a:extLst xmlns:a="http://schemas.openxmlformats.org/drawingml/2006/main">
              <a:ext uri="{FF2B5EF4-FFF2-40B4-BE49-F238E27FC236}">
                <a16:creationId xmlns:a16="http://schemas.microsoft.com/office/drawing/2014/main" id="{7EBA9D83-8457-4A5D-9356-DB1A4B2A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Проход</a:t>
            </a:r>
          </a:p>
        </p:txBody>
      </p:sp>
      <p:sp>
        <p:nvSpPr>
          <p:cNvPr id="14" name="Признак 2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25C69FF2-B174-4842-8938-143D173B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2: что можно увидеть и проверить.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a8625ae3cd4e1a"/>
          <a:srcRect xmlns:a="http://schemas.openxmlformats.org/drawingml/2006/main" l="0" t="382" r="0" b="3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6742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6" name="нет кабелей и сумок">
            <a:extLst xmlns:a="http://schemas.openxmlformats.org/drawingml/2006/main">
              <a:ext uri="{FF2B5EF4-FFF2-40B4-BE49-F238E27FC236}">
                <a16:creationId xmlns:a16="http://schemas.microsoft.com/office/drawing/2014/main" id="{4912673C-A962-4DDD-82B9-F3EC0D14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нет кабелей и сумок</a:t>
            </a:r>
          </a:p>
        </p:txBody>
      </p:sp>
      <p:sp>
        <p:nvSpPr>
          <p:cNvPr id="17" name="Признак 3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8EA317C3-15B0-4924-8C3C-60AC2949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3: что можно увидеть и проверить.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3c1ec436e44bd3"/>
          <a:srcRect xmlns:a="http://schemas.openxmlformats.org/drawingml/2006/main" l="0" t="7112" r="0" b="71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91575" y="2266950"/>
            <a:ext cx="2476500" cy="1695450"/>
          </a:xfrm>
          <a:prstGeom xmlns:a="http://schemas.openxmlformats.org/drawingml/2006/main" prst="rect">
            <a:avLst/>
          </a:prstGeom>
        </p:spPr>
      </p:pic>
      <p:sp>
        <p:nvSpPr>
          <p:cNvPr id="19" name="Кабель">
            <a:extLst xmlns:a="http://schemas.openxmlformats.org/drawingml/2006/main">
              <a:ext uri="{FF2B5EF4-FFF2-40B4-BE49-F238E27FC236}">
                <a16:creationId xmlns:a16="http://schemas.microsoft.com/office/drawing/2014/main" id="{79A8E862-BAA5-4F5F-9309-035D9736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957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Кабель</a:t>
            </a:r>
          </a:p>
        </p:txBody>
      </p:sp>
      <p:sp>
        <p:nvSpPr>
          <p:cNvPr id="20" name="Признак 4: что можно увидеть и…">
            <a:extLst xmlns:a="http://schemas.openxmlformats.org/drawingml/2006/main">
              <a:ext uri="{FF2B5EF4-FFF2-40B4-BE49-F238E27FC236}">
                <a16:creationId xmlns:a16="http://schemas.microsoft.com/office/drawing/2014/main" id="{D32EBE5A-22D9-4B10-8636-11ECF8F4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501015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Признак 4: что можно увидеть и проверить.</a:t>
            </a:r>
          </a:p>
        </p:txBody>
      </p:sp>
    </p:spTree>
    <p:extLst>
      <p:ext uri="{BB962C8B-B14F-4D97-AF65-F5344CB8AC3E}">
        <p14:creationId xmlns:p14="http://schemas.microsoft.com/office/powerpoint/2010/main" val="87758246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D13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Тема">
            <a:extLst xmlns:a="http://schemas.openxmlformats.org/drawingml/2006/main">
              <a:ext uri="{FF2B5EF4-FFF2-40B4-BE49-F238E27FC236}">
                <a16:creationId xmlns:a16="http://schemas.microsoft.com/office/drawing/2014/main" id="{C62636E3-4DA5-4250-8DC5-A2045104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Безопасность на рабочем месте при работе с графическим оборудованием</a:t>
            </a:r>
          </a:p>
        </p:txBody>
      </p:sp>
      <p:sp>
        <p:nvSpPr>
          <p:cNvPr id="2" name="Бренд">
            <a:extLst xmlns:a="http://schemas.openxmlformats.org/drawingml/2006/main">
              <a:ext uri="{FF2B5EF4-FFF2-40B4-BE49-F238E27FC236}">
                <a16:creationId xmlns:a16="http://schemas.microsoft.com/office/drawing/2014/main" id="{FADF29BE-96EB-47D9-A4C3-A647CDA4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71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EB6BF"/>
                </a:solidFill>
                <a:latin typeface="Arial"/>
                <a:ea typeface="Arial"/>
                <a:cs typeface="Arial"/>
              </a:rPr>
              <a:t>Хекслет</a:t>
            </a:r>
          </a:p>
        </p:txBody>
      </p:sp>
      <p:sp>
        <p:nvSpPr>
          <p:cNvPr id="3" name="Заголовок">
            <a:extLst xmlns:a="http://schemas.openxmlformats.org/drawingml/2006/main">
              <a:ext uri="{FF2B5EF4-FFF2-40B4-BE49-F238E27FC236}">
                <a16:creationId xmlns:a16="http://schemas.microsoft.com/office/drawing/2014/main" id="{6CE1D61D-48CF-4B92-AF16-EB630517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3342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Итоги занятия</a:t>
            </a:r>
          </a:p>
        </p:txBody>
      </p:sp>
      <p:sp>
        <p:nvSpPr>
          <p:cNvPr id="4" name="Безопасность и организация…">
            <a:extLst xmlns:a="http://schemas.openxmlformats.org/drawingml/2006/main">
              <a:ext uri="{FF2B5EF4-FFF2-40B4-BE49-F238E27FC236}">
                <a16:creationId xmlns:a16="http://schemas.microsoft.com/office/drawing/2014/main" id="{1B4A06CF-6157-45BE-A114-4DCA4EEA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95425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Безопасность и организация рабочего места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3A1CE1-BEDE-42FB-90C8-0BCE7513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1095375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10161A"/>
          </a:solidFill>
          <a:ln xmlns:a="http://schemas.openxmlformats.org/drawingml/2006/main" w="11430">
            <a:solidFill>
              <a:srgbClr val="38424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968260-DA30-4BCA-9973-4DC9B10A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38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1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Вывод">
            <a:extLst xmlns:a="http://schemas.openxmlformats.org/drawingml/2006/main">
              <a:ext uri="{FF2B5EF4-FFF2-40B4-BE49-F238E27FC236}">
                <a16:creationId xmlns:a16="http://schemas.microsoft.com/office/drawing/2014/main" id="{27FB7926-DA7B-4A89-A856-C359056C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219825"/>
            <a:ext cx="1036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4F4F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F4F4F2"/>
                </a:solidFill>
                <a:latin typeface="Arial"/>
                <a:ea typeface="Arial"/>
                <a:cs typeface="Arial"/>
              </a:rPr>
              <a:t>дальше: эргономика</a:t>
            </a:r>
          </a:p>
        </p:txBody>
      </p:sp>
      <p:sp>
        <p:nvSpPr>
          <p:cNvPr id="8" name="Номер">
            <a:extLst xmlns:a="http://schemas.openxmlformats.org/drawingml/2006/main">
              <a:ext uri="{FF2B5EF4-FFF2-40B4-BE49-F238E27FC236}">
                <a16:creationId xmlns:a16="http://schemas.microsoft.com/office/drawing/2014/main" id="{1670AF40-1F7E-46E5-ACA2-A4135077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51510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8BEC4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8BEC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328a62b7b04b90"/>
          <a:srcRect xmlns:a="http://schemas.openxmlformats.org/drawingml/2006/main" l="0" t="12637" r="0" b="126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0" name="Безопасность и организация…">
            <a:extLst xmlns:a="http://schemas.openxmlformats.org/drawingml/2006/main">
              <a:ext uri="{FF2B5EF4-FFF2-40B4-BE49-F238E27FC236}">
                <a16:creationId xmlns:a16="http://schemas.microsoft.com/office/drawing/2014/main" id="{BFEFDC0A-FFD4-459F-88B3-5F00BA73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Безопасность и организация рабочего места</a:t>
            </a:r>
          </a:p>
        </p:txBody>
      </p:sp>
      <p:sp>
        <p:nvSpPr>
          <p:cNvPr id="11" name="Вариант А: называем условие и…">
            <a:extLst xmlns:a="http://schemas.openxmlformats.org/drawingml/2006/main">
              <a:ext uri="{FF2B5EF4-FFF2-40B4-BE49-F238E27FC236}">
                <a16:creationId xmlns:a16="http://schemas.microsoft.com/office/drawing/2014/main" id="{E132B406-FFCB-4110-86C2-A5B85301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А: называем условие и наблюдение.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67b2231e214623"/>
          <a:srcRect xmlns:a="http://schemas.openxmlformats.org/drawingml/2006/main" l="0" t="25441" r="0" b="254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2305050"/>
            <a:ext cx="5095875" cy="2143125"/>
          </a:xfrm>
          <a:prstGeom xmlns:a="http://schemas.openxmlformats.org/drawingml/2006/main" prst="rect">
            <a:avLst/>
          </a:prstGeom>
        </p:spPr>
      </p:pic>
      <p:sp>
        <p:nvSpPr>
          <p:cNvPr id="13" name="Сегодня мы не учили запреты. Мы…">
            <a:extLst xmlns:a="http://schemas.openxmlformats.org/drawingml/2006/main">
              <a:ext uri="{FF2B5EF4-FFF2-40B4-BE49-F238E27FC236}">
                <a16:creationId xmlns:a16="http://schemas.microsoft.com/office/drawing/2014/main" id="{9DFE049F-E5ED-4F5B-925E-8994DF01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81525"/>
            <a:ext cx="5095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F5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F5F5"/>
                </a:solidFill>
                <a:latin typeface="Arial"/>
                <a:ea typeface="Arial"/>
                <a:cs typeface="Arial"/>
              </a:rPr>
              <a:t>Сегодня мы не учили запреты. Мы учились видеть условия безопасной работы.</a:t>
            </a:r>
          </a:p>
        </p:txBody>
      </p:sp>
      <p:sp>
        <p:nvSpPr>
          <p:cNvPr id="14" name="Вариант Б: объясняем отличие и…">
            <a:extLst xmlns:a="http://schemas.openxmlformats.org/drawingml/2006/main">
              <a:ext uri="{FF2B5EF4-FFF2-40B4-BE49-F238E27FC236}">
                <a16:creationId xmlns:a16="http://schemas.microsoft.com/office/drawing/2014/main" id="{830DBD44-F586-4779-B41B-BE6EC18B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EB6BF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AEB6BF"/>
                </a:solidFill>
                <a:latin typeface="Arial"/>
                <a:ea typeface="Arial"/>
                <a:cs typeface="Arial"/>
              </a:rPr>
              <a:t>Вариант Б: объясняем отличие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20480035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2026-09-13T13:17:19.1300000Z</dcterms:created>
  <dcterms:modified xsi:type="dcterms:W3CDTF">2026-09-13T13:17:19.1300000Z</dcterms:modified>
</coreProperties>
</file>