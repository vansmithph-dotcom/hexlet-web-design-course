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interior_studio_creative_classroom_scene_pho.png"/>
          <p:cNvPicPr>
            <a:picLocks noChangeAspect="1"/>
          </p:cNvPicPr>
          <p:nvPr/>
        </p:nvPicPr>
        <p:blipFill>
          <a:blip r:embed="rId2"/>
          <a:srcRect l="16870" r="16870"/>
          <a:stretch>
            <a:fillRect/>
          </a:stretch>
        </p:blipFill>
        <p:spPr>
          <a:xfrm>
            <a:off x="4114800" y="0"/>
            <a:ext cx="8074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C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>
                <a:solidFill>
                  <a:srgbClr val="F4F6F8"/>
                </a:solidFill>
                <a:latin typeface="Aptos"/>
              </a:rPr>
              <a:t>Хекслет Колледж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4F6F8"/>
                </a:solidFill>
                <a:latin typeface="Aptos"/>
              </a:rPr>
              <a:t>ПМ1 · Сканирование и обработка
графической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Занятие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200" b="1">
                <a:solidFill>
                  <a:srgbClr val="F4F6F8"/>
                </a:solidFill>
                <a:latin typeface="Aptos"/>
              </a:rPr>
              <a:t>Auto Layout и система отступов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Устойчивая карточка, которая не ломается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A5AEB5"/>
                </a:solidFill>
                <a:latin typeface="Aptos"/>
              </a:rPr>
              <a:t>люди · идеи · инструменты · изображения · проекты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Сегодня: Auto Layout как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Frame → Auto layout → Flow → Gap/Padding →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Задача: карточка не должна ломаться при новом тексте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Смотрим не на “красиво”, а на поведение слоёв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Главная проверка: длинный title и другая ширина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5257800" cy="29718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691640"/>
            <a:ext cx="658368" cy="29718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11512" y="1691640"/>
            <a:ext cx="1298448" cy="2971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4315968"/>
            <a:ext cx="330098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2880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1592" y="18288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80760" y="207568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80760" y="238658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0760" y="269748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80760" y="300837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80760" y="331927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10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4392" y="216712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94392" y="245973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94392" y="275234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94392" y="304495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94392" y="333756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81888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A5AEB5"/>
                </a:solidFill>
                <a:latin typeface="Aptos"/>
              </a:rPr>
              <a:t>navigation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98348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toolbar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8188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properties panel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Auto Layout изучаем как систему правил, а не как кнопку для автоматического выравнивания.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Проблема статичного макета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Когда текст длиннее — ручная подгонка разваливается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Статичная карточка держится только на ручных координатах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Auto layout задаёт поток, расстояния и resizing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Оценка идёт через стресс-тест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14884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Статичная копия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377440"/>
            <a:ext cx="2103120" cy="14630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587752"/>
            <a:ext cx="1280160" cy="164592"/>
          </a:xfrm>
          <a:prstGeom prst="roundRect">
            <a:avLst/>
          </a:prstGeom>
          <a:solidFill>
            <a:srgbClr val="4B545A"/>
          </a:solidFill>
          <a:ln w="12700">
            <a:solidFill>
              <a:srgbClr val="4B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2907792"/>
            <a:ext cx="1508760" cy="164592"/>
          </a:xfrm>
          <a:prstGeom prst="roundRect">
            <a:avLst/>
          </a:prstGeom>
          <a:solidFill>
            <a:srgbClr val="4B545A"/>
          </a:solidFill>
          <a:ln w="12700">
            <a:solidFill>
              <a:srgbClr val="4B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227832"/>
            <a:ext cx="1737360" cy="164592"/>
          </a:xfrm>
          <a:prstGeom prst="roundRect">
            <a:avLst/>
          </a:prstGeom>
          <a:solidFill>
            <a:srgbClr val="4B545A"/>
          </a:solidFill>
          <a:ln w="12700">
            <a:solidFill>
              <a:srgbClr val="4B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3447288"/>
            <a:ext cx="1188720" cy="201168"/>
          </a:xfrm>
          <a:prstGeom prst="roundRect">
            <a:avLst/>
          </a:prstGeom>
          <a:solidFill>
            <a:srgbClr val="FF3D5C"/>
          </a:solidFill>
          <a:ln w="12700">
            <a:solidFill>
              <a:srgbClr val="FF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941064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FF3D5C"/>
                </a:solidFill>
                <a:latin typeface="Aptos"/>
              </a:rPr>
              <a:t>ручная подгонка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14884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Система правил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377440"/>
            <a:ext cx="2103120" cy="146304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7" y="24688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Auto layout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2788920"/>
            <a:ext cx="1463039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19" y="3218688"/>
            <a:ext cx="1463039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19" y="3648456"/>
            <a:ext cx="1463039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13848" y="313639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941064"/>
            <a:ext cx="182880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54C480"/>
                </a:solidFill>
                <a:latin typeface="Aptos"/>
              </a:rPr>
              <a:t>gap / padding / sizing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если карточка живёт только на ручной подгонке, она не выдерживает реальный контент.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Где искать Auto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Выделяем frame или слои → Shift+A / Design →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При выделении frame меняется правая панель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 разделе Layout доступны настройки Auto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Самый быстрый путь для практики: Shift+A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сначала выделяем правильный объект, потом ищем Auto layout в правой панели Design.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Flow: Vertical / Horizontal /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Поток отвечает за порядок и направление элементов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Vertical — сверху вниз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Horizontal — слева направо; может иметь Wrap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Grid — для галерей, таблиц и bento-композиций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965960"/>
            <a:ext cx="1737360" cy="182880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2057400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Vertical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109728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807208"/>
            <a:ext cx="109728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236976"/>
            <a:ext cx="109728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272491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965960"/>
            <a:ext cx="1737360" cy="182880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057400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Horizontal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2560320"/>
            <a:ext cx="393192" cy="502920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05088" y="2560320"/>
            <a:ext cx="393192" cy="502920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08008" y="2560320"/>
            <a:ext cx="393192" cy="502920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182112"/>
            <a:ext cx="91440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A5AEB5"/>
                </a:solidFill>
                <a:latin typeface="Aptos"/>
              </a:rPr>
              <a:t>flow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965960"/>
            <a:ext cx="1737360" cy="182880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7" y="2057400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Grid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450591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80192" y="2450591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119104" y="2450591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2862072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80192" y="2862072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119104" y="2862072"/>
            <a:ext cx="301752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9" y="3291839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A5AEB5"/>
                </a:solidFill>
                <a:latin typeface="Aptos"/>
              </a:rPr>
              <a:t>Grid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Flow описывает направление структуры, а не просто визуальное расположение на глаз.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Gap и Padding — разные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Gap между соседями, Padding от края контейнера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Gap меняет расстояние между дочерними элементами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Padding создаёт внутреннее поле контейнера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Путаница этих терминов ломает объяснение карточки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28800"/>
            <a:ext cx="2103120" cy="182880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F4F6F8"/>
                </a:solidFill>
                <a:latin typeface="Aptos"/>
              </a:rPr>
              <a:t>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1097280" cy="201168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EC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2724912"/>
            <a:ext cx="1097280" cy="201168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EC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072384"/>
            <a:ext cx="1097280" cy="201168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EC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56616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между соседями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28800"/>
            <a:ext cx="2103120" cy="182880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9339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F4F6F8"/>
                </a:solidFill>
                <a:latin typeface="Aptos"/>
              </a:rPr>
              <a:t>Padding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2331720"/>
            <a:ext cx="1280160" cy="868680"/>
          </a:xfrm>
          <a:prstGeom prst="roundRect">
            <a:avLst/>
          </a:prstGeom>
          <a:solidFill>
            <a:srgbClr val="374249"/>
          </a:solidFill>
          <a:ln w="15240">
            <a:solidFill>
              <a:srgbClr val="FF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2624328"/>
            <a:ext cx="685800" cy="22860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EC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356616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от края контейнера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Gap управляет расстоянием между элементами, Padding — внутренним отступом контейнера.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Alignment: как элементы стоят внутри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Выравнивание задаём на родительском auto layout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Alignment влияет на дочерние элементы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подравниваем каждый слой вручную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Сначала решаем: центр, старт, конец или растяжение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выравнивание задаётся правилом родителя, а не ручным переносом каждого слоя.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Hug / Fill /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Откуда берётся размер объекта?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Hug contents — размер следует за содержимым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Fill container — занимает доступное пространство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Fixed — фиксированное число по смыслу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Hug contents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61487"/>
            <a:ext cx="685800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71032" y="3154679"/>
            <a:ext cx="1024128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размер следует за содержимым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Fill 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834639"/>
            <a:ext cx="1097280" cy="310896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2907791"/>
            <a:ext cx="914400" cy="7315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занимает доступное место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Fixed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4392" y="2788920"/>
            <a:ext cx="676656" cy="457200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5" y="2971800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FF3D5C"/>
                </a:solidFill>
                <a:latin typeface="Aptos"/>
              </a:rPr>
              <a:t>240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число не меняется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выбор Hug, Fill или Fixed должен объясняться поведением объекта, а не привычкой.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Min / Max как ограничители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Ограничиваем бессмысленное растяжение и сжатие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Min защищает от слишком узкой карточки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Max не даёт контенту растягиваться бесконечно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Это не замена Fixed, а диапазон поведения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28800"/>
            <a:ext cx="310896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71031" y="1993392"/>
            <a:ext cx="1088136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3" y="2066543"/>
            <a:ext cx="1741017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2304287"/>
            <a:ext cx="1741017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2752344"/>
            <a:ext cx="1741017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2999232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090672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48840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760 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944368"/>
            <a:ext cx="233172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71031" y="3108960"/>
            <a:ext cx="816101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5150" y="3182111"/>
            <a:ext cx="1305763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3419855"/>
            <a:ext cx="1305763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3867911"/>
            <a:ext cx="1305763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5150" y="4114800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4878" y="4206240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264408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560 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059935"/>
            <a:ext cx="160020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71031" y="4224527"/>
            <a:ext cx="560069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9118" y="4297679"/>
            <a:ext cx="896112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9118" y="4535423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9118" y="4983479"/>
            <a:ext cx="896112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9118" y="5230367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8846" y="5321807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437997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420 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Min/Max задают разумный диапазон размера и помогают карточке оставаться устойчивой.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Показ преподавателя: карточка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Title + description + price → Shift+A →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Собираем content через Vertical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Кнопка чаще Hug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Media + Content можно начать с Horizontal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показ строится от маленьких правил к полной карточке, чтобы студент видел причинность.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Stress test ширины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760 → 560 → 420 без ручной перетасовки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Меняем ширину родителя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Смотрим, где ломается текст или медиа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Исправляем sizing/gap/min-max/вложенность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28800"/>
            <a:ext cx="310896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71031" y="1993392"/>
            <a:ext cx="1088136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3" y="2066543"/>
            <a:ext cx="1741017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2304287"/>
            <a:ext cx="1741017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2752344"/>
            <a:ext cx="1741017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2999232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090672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48840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760 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944368"/>
            <a:ext cx="233172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71031" y="3108960"/>
            <a:ext cx="816101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5150" y="3182111"/>
            <a:ext cx="1305763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3419855"/>
            <a:ext cx="1305763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3867911"/>
            <a:ext cx="1305763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5150" y="4114800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4878" y="4206240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264408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560 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059935"/>
            <a:ext cx="160020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71031" y="4224527"/>
            <a:ext cx="560069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9118" y="4297679"/>
            <a:ext cx="896112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9118" y="4535423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9118" y="4983479"/>
            <a:ext cx="896112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9118" y="5230367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8846" y="5321807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437997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420 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стресс-тест показывает реальное качество структуры, а не аккуратность одного статичного состояния.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Ignore auto layout — исключение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Badge поверх media не должен становиться способом строить весь макет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Объект остаётся внутри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Но исключается из потока auto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Используем точечно: badge, label, небольшая метка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Ignore auto layout применяем точечно, а не вместо нормальной структуры.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Практика: собрать устойчивую карточку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Кнопка → Content → Card → Stress test → Исправление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Label → Shift+A → padding → Hug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Content → Vertical + gap 8/12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Card → Horizontal + внешний padding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Ширина: 760 → 560 → 420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00253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Gap/Padding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0545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49631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Hug/Fill/Fixed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97180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00837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Main+Instances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47472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51129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0215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Desktop/Mobile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977639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401421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практика проверяет не внешний вид, а устойчивость правил карточки.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Самостоятельная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Второй вариант карточки с другими текстами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Один элемент Hug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Один элемент Fill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Один осмысленно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Минимум один вложенный auto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338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340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5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342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338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340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06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706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0375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342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08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708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студент должен объяснить каждое правило размера и показать, что карточка не рассыпалась.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Вопросы на понимание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Проверяем термины через поведение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Чем Gap отличается от Padding?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Почему кнопка чаще Hug?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Когда Grid flow полезнее Wrap?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Почему Min/Max — не Fixed?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Hug contents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61487"/>
            <a:ext cx="685800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71032" y="3154679"/>
            <a:ext cx="1024128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размер следует за содержимым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Fill container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834639"/>
            <a:ext cx="1097280" cy="310896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2907791"/>
            <a:ext cx="914400" cy="7315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занимает доступное место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Fixed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94392" y="2788920"/>
            <a:ext cx="676656" cy="457200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5" y="2971800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FF3D5C"/>
                </a:solidFill>
                <a:latin typeface="Aptos"/>
              </a:rPr>
              <a:t>240 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число не меняется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контрольные вопросы переводят интерфейсные команды в понятные дизайнерские решения.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Итог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Auto layout + resizing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Карточка содержит вложенный Auto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Gap/Padding заданы осмысленно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Hug/Fill/Fixed объяснены словами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Стресс-тест ширины пройден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00253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Gap/Padding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0545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49631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Hug/Fill/Fixed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97180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00837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Main+Instances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47472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51129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0215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Desktop/Mobile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977639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401421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результат П026 — устойчивая карточка, которая выдерживает длинный текст и изменение ширины.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П026 · Figma: Auto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