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Обложка. Обязательное hero-изображение РО 1.1. Тема: Illustrator Web Illustration Pack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Введение в Illustrator-блок.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Финал Illustrator-блока.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Что должен получить web-дизайнер.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Hero vs icon: разные задачи.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Показ преподавателя: действие, объяснение, повтор первого шага, самостоятельное усложнение.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Multiple Artboards.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Упрощение для малого размера.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Эксперимент: большой предмет → пиктограмма.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Empty state: “в коллекции пока ничего нет”.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Icons / pictograms 4–6 штук.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SVG: когда использовать.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PNG: когда использовать.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Export for Screens.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Naming: без устных подсказок.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QA после экспорта.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Цель: Итог и мост к П043.</a:t>
            </a:r>
          </a:p>
          <a:p>
            <a:r>
              <a:t>Связать действие с задачей, наблюдаемым признаком и результатом.</a:t>
            </a:r>
          </a:p>
          <a:p>
            <a:r>
              <a:t>Вопрос: что именно можно увидеть и проверить?</a:t>
            </a:r>
          </a:p>
          <a:p>
            <a:r>
              <a:t>Студент называет условие, действие и способ проверки.</a:t>
            </a:r>
          </a:p>
          <a:p>
            <a:r>
              <a:t>Визуалы повторно использованы из принятого комплекта П042;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CAAD31-465F-48E7-90F3-5FC35791D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38600" cy="6858000"/>
          </a:xfrm>
          <a:prstGeom prst="rect">
            <a:avLst/>
          </a:prstGeom>
          <a:solidFill>
            <a:srgbClr val="0B1015"/>
          </a:solidFill>
          <a:ln w="0">
            <a:noFill/>
            <a:prstDash val="solid"/>
          </a:ln>
        </p:spPr>
      </p:sp>
      <p:sp>
        <p:nvSpPr>
          <p:cNvPr id="3" name="Хекслет Колледж">
            <a:extLst>
              <a:ext uri="{FF2B5EF4-FFF2-40B4-BE49-F238E27FC236}">
                <a16:creationId xmlns:a16="http://schemas.microsoft.com/office/drawing/2014/main" id="{D769629A-97A7-4DDF-BE33-F6A8884091D7}"/>
              </a:ext>
            </a:extLst>
          </p:cNvPr>
          <p:cNvSpPr>
            <a:spLocks noGrp="1"/>
          </p:cNvSpPr>
          <p:nvPr/>
        </p:nvSpPr>
        <p:spPr>
          <a:xfrm>
            <a:off x="600075" y="504825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>
              <a:ext uri="{FF2B5EF4-FFF2-40B4-BE49-F238E27FC236}">
                <a16:creationId xmlns:a16="http://schemas.microsoft.com/office/drawing/2014/main" id="{91179AC8-71F9-4D44-9705-6D9695DFD931}"/>
              </a:ext>
            </a:extLst>
          </p:cNvPr>
          <p:cNvSpPr>
            <a:spLocks noGrp="1"/>
          </p:cNvSpPr>
          <p:nvPr/>
        </p:nvSpPr>
        <p:spPr>
          <a:xfrm>
            <a:off x="600075" y="86677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42">
            <a:extLst>
              <a:ext uri="{FF2B5EF4-FFF2-40B4-BE49-F238E27FC236}">
                <a16:creationId xmlns:a16="http://schemas.microsoft.com/office/drawing/2014/main" id="{D8E47D71-888F-4F20-9E60-3C00282E989A}"/>
              </a:ext>
            </a:extLst>
          </p:cNvPr>
          <p:cNvSpPr>
            <a:spLocks noGrp="1"/>
          </p:cNvSpPr>
          <p:nvPr/>
        </p:nvSpPr>
        <p:spPr>
          <a:xfrm>
            <a:off x="600075" y="1362075"/>
            <a:ext cx="27622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42</a:t>
            </a:r>
          </a:p>
        </p:txBody>
      </p:sp>
      <p:sp>
        <p:nvSpPr>
          <p:cNvPr id="6" name="Illustrator Web Illustration Pack…">
            <a:extLst>
              <a:ext uri="{FF2B5EF4-FFF2-40B4-BE49-F238E27FC236}">
                <a16:creationId xmlns:a16="http://schemas.microsoft.com/office/drawing/2014/main" id="{70B4754E-E11A-4FF4-B334-071597BB140A}"/>
              </a:ext>
            </a:extLst>
          </p:cNvPr>
          <p:cNvSpPr>
            <a:spLocks noGrp="1"/>
          </p:cNvSpPr>
          <p:nvPr/>
        </p:nvSpPr>
        <p:spPr>
          <a:xfrm>
            <a:off x="600075" y="2038350"/>
            <a:ext cx="3143250" cy="17716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7" name="От инструмента к обоснованному…">
            <a:extLst>
              <a:ext uri="{FF2B5EF4-FFF2-40B4-BE49-F238E27FC236}">
                <a16:creationId xmlns:a16="http://schemas.microsoft.com/office/drawing/2014/main" id="{A854F334-3774-41A5-B6FB-225489E3F2B5}"/>
              </a:ext>
            </a:extLst>
          </p:cNvPr>
          <p:cNvSpPr>
            <a:spLocks noGrp="1"/>
          </p:cNvSpPr>
          <p:nvPr/>
        </p:nvSpPr>
        <p:spPr>
          <a:xfrm>
            <a:off x="600075" y="3848100"/>
            <a:ext cx="3000375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>
              <a:ext uri="{FF2B5EF4-FFF2-40B4-BE49-F238E27FC236}">
                <a16:creationId xmlns:a16="http://schemas.microsoft.com/office/drawing/2014/main" id="{A2F12E29-3F0D-4626-968B-77DC0AB89518}"/>
              </a:ext>
            </a:extLst>
          </p:cNvPr>
          <p:cNvSpPr>
            <a:spLocks noGrp="1"/>
          </p:cNvSpPr>
          <p:nvPr/>
        </p:nvSpPr>
        <p:spPr>
          <a:xfrm>
            <a:off x="600075" y="63341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45260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ма">
            <a:extLst>
              <a:ext uri="{FF2B5EF4-FFF2-40B4-BE49-F238E27FC236}">
                <a16:creationId xmlns:a16="http://schemas.microsoft.com/office/drawing/2014/main" id="{654D0659-61B7-4796-B372-6789DCCD999F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F488EC69-7D75-462B-9186-0D2DA09D3F7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8EE6E0AF-5D19-436D-B71A-0DF0202EDF0D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Введение в Illustrator-блок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E9DF8136-0849-4CA8-A619-C20F5A531B5F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4C089EF-CA1D-45B0-AC94-E4A85A79CBDA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3EC8F95-6219-4934-9F63-C65D9CC38359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7682CBC0-DE4F-4357-A2FC-C8D4DB43ACE7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7124FB8C-EE05-4EAE-BF89-FAC6F85B7204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19125" y="2266950"/>
            <a:ext cx="2476500" cy="1695450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B625BD9A-1F46-4DB9-93E6-E57D1634CCFB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>
              <a:ext uri="{FF2B5EF4-FFF2-40B4-BE49-F238E27FC236}">
                <a16:creationId xmlns:a16="http://schemas.microsoft.com/office/drawing/2014/main" id="{F333F5DB-8763-46E4-8483-95D13D8A8101}"/>
              </a:ext>
            </a:extLst>
          </p:cNvPr>
          <p:cNvSpPr>
            <a:spLocks noGrp="1"/>
          </p:cNvSpPr>
          <p:nvPr/>
        </p:nvSpPr>
        <p:spPr>
          <a:xfrm>
            <a:off x="6191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rcRect l="8945" r="8945"/>
          <a:stretch>
            <a:fillRect/>
          </a:stretch>
        </p:blipFill>
        <p:spPr>
          <a:xfrm>
            <a:off x="3343275" y="2266950"/>
            <a:ext cx="2476500" cy="1695450"/>
          </a:xfrm>
          <a:prstGeom prst="rect">
            <a:avLst/>
          </a:prstGeom>
        </p:spPr>
      </p:pic>
      <p:sp>
        <p:nvSpPr>
          <p:cNvPr id="13" name="От предмета к web-ассету">
            <a:extLst>
              <a:ext uri="{FF2B5EF4-FFF2-40B4-BE49-F238E27FC236}">
                <a16:creationId xmlns:a16="http://schemas.microsoft.com/office/drawing/2014/main" id="{E13C0FDC-DA00-4125-9C54-210646DB3D06}"/>
              </a:ext>
            </a:extLst>
          </p:cNvPr>
          <p:cNvSpPr>
            <a:spLocks noGrp="1"/>
          </p:cNvSpPr>
          <p:nvPr/>
        </p:nvSpPr>
        <p:spPr>
          <a:xfrm>
            <a:off x="33432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предмета к web-ассету</a:t>
            </a:r>
          </a:p>
        </p:txBody>
      </p:sp>
      <p:sp>
        <p:nvSpPr>
          <p:cNvPr id="14" name="Признак 2: что можно увидеть и…">
            <a:extLst>
              <a:ext uri="{FF2B5EF4-FFF2-40B4-BE49-F238E27FC236}">
                <a16:creationId xmlns:a16="http://schemas.microsoft.com/office/drawing/2014/main" id="{94FA7BA9-AF3A-46A7-8F79-1E1ECF8E39F9}"/>
              </a:ext>
            </a:extLst>
          </p:cNvPr>
          <p:cNvSpPr>
            <a:spLocks noGrp="1"/>
          </p:cNvSpPr>
          <p:nvPr/>
        </p:nvSpPr>
        <p:spPr>
          <a:xfrm>
            <a:off x="33432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4"/>
          <a:srcRect l="8945" r="8945"/>
          <a:stretch>
            <a:fillRect/>
          </a:stretch>
        </p:blipFill>
        <p:spPr>
          <a:xfrm>
            <a:off x="6067425" y="2266950"/>
            <a:ext cx="2476500" cy="1695450"/>
          </a:xfrm>
          <a:prstGeom prst="rect">
            <a:avLst/>
          </a:prstGeom>
        </p:spPr>
      </p:pic>
      <p:sp>
        <p:nvSpPr>
          <p:cNvPr id="16" name="MAKE">
            <a:extLst>
              <a:ext uri="{FF2B5EF4-FFF2-40B4-BE49-F238E27FC236}">
                <a16:creationId xmlns:a16="http://schemas.microsoft.com/office/drawing/2014/main" id="{28DB8EC6-5336-40F1-BDDE-5628C2F5CF27}"/>
              </a:ext>
            </a:extLst>
          </p:cNvPr>
          <p:cNvSpPr>
            <a:spLocks noGrp="1"/>
          </p:cNvSpPr>
          <p:nvPr/>
        </p:nvSpPr>
        <p:spPr>
          <a:xfrm>
            <a:off x="60674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MAKE</a:t>
            </a:r>
          </a:p>
        </p:txBody>
      </p:sp>
      <p:sp>
        <p:nvSpPr>
          <p:cNvPr id="17" name="Признак 3: что можно увидеть и…">
            <a:extLst>
              <a:ext uri="{FF2B5EF4-FFF2-40B4-BE49-F238E27FC236}">
                <a16:creationId xmlns:a16="http://schemas.microsoft.com/office/drawing/2014/main" id="{B7877C38-1C55-4348-8E77-80D9544A3352}"/>
              </a:ext>
            </a:extLst>
          </p:cNvPr>
          <p:cNvSpPr>
            <a:spLocks noGrp="1"/>
          </p:cNvSpPr>
          <p:nvPr/>
        </p:nvSpPr>
        <p:spPr>
          <a:xfrm>
            <a:off x="60674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4"/>
          <a:srcRect l="8945" r="8945"/>
          <a:stretch>
            <a:fillRect/>
          </a:stretch>
        </p:blipFill>
        <p:spPr>
          <a:xfrm>
            <a:off x="8791575" y="2266950"/>
            <a:ext cx="2476500" cy="1695450"/>
          </a:xfrm>
          <a:prstGeom prst="rect">
            <a:avLst/>
          </a:prstGeom>
        </p:spPr>
      </p:pic>
      <p:sp>
        <p:nvSpPr>
          <p:cNvPr id="19" name="BRIDGE">
            <a:extLst>
              <a:ext uri="{FF2B5EF4-FFF2-40B4-BE49-F238E27FC236}">
                <a16:creationId xmlns:a16="http://schemas.microsoft.com/office/drawing/2014/main" id="{22C1F432-3F7A-425F-8151-8ACA44B85179}"/>
              </a:ext>
            </a:extLst>
          </p:cNvPr>
          <p:cNvSpPr>
            <a:spLocks noGrp="1"/>
          </p:cNvSpPr>
          <p:nvPr/>
        </p:nvSpPr>
        <p:spPr>
          <a:xfrm>
            <a:off x="87915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BRIDGE</a:t>
            </a:r>
          </a:p>
        </p:txBody>
      </p:sp>
      <p:sp>
        <p:nvSpPr>
          <p:cNvPr id="20" name="Признак 4: что можно увидеть и…">
            <a:extLst>
              <a:ext uri="{FF2B5EF4-FFF2-40B4-BE49-F238E27FC236}">
                <a16:creationId xmlns:a16="http://schemas.microsoft.com/office/drawing/2014/main" id="{55AA457B-A739-46D4-8CD5-482CFA437967}"/>
              </a:ext>
            </a:extLst>
          </p:cNvPr>
          <p:cNvSpPr>
            <a:spLocks noGrp="1"/>
          </p:cNvSpPr>
          <p:nvPr/>
        </p:nvSpPr>
        <p:spPr>
          <a:xfrm>
            <a:off x="87915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516474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ма">
            <a:extLst>
              <a:ext uri="{FF2B5EF4-FFF2-40B4-BE49-F238E27FC236}">
                <a16:creationId xmlns:a16="http://schemas.microsoft.com/office/drawing/2014/main" id="{7EC0B332-C8FE-4789-B9BE-DC9472C3FC87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1834739B-245B-47CB-B95A-2AA75D12EC1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2117A422-2F2D-49D9-8C8E-E8DF594DD439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Финал Illustrator-блока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11A5BAE2-74BA-4317-951F-8A5DD672888C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33E80D6-9BB1-4ADB-8831-EBA6956A7952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173006-AEF8-4A14-B1FF-FB594FA117F0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5C5A95E6-FA3D-436F-8AF3-5871F7955ABD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CDA84471-77BF-4DE5-A3AD-5D15A89F8797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19125" y="2305050"/>
            <a:ext cx="5095875" cy="2143125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58D2FDE3-11ED-4D16-A2F3-4497EF12F44C}"/>
              </a:ext>
            </a:extLst>
          </p:cNvPr>
          <p:cNvSpPr>
            <a:spLocks noGrp="1"/>
          </p:cNvSpPr>
          <p:nvPr/>
        </p:nvSpPr>
        <p:spPr>
          <a:xfrm>
            <a:off x="619125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>
              <a:ext uri="{FF2B5EF4-FFF2-40B4-BE49-F238E27FC236}">
                <a16:creationId xmlns:a16="http://schemas.microsoft.com/office/drawing/2014/main" id="{35544438-DC08-4E9A-BB4D-FB3840BE3333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096000" y="2305050"/>
            <a:ext cx="5095875" cy="2143125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B081F687-3E25-4E0B-91A4-952A5A3CB6A4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Вариант Б: объясняем отличие и…">
            <a:extLst>
              <a:ext uri="{FF2B5EF4-FFF2-40B4-BE49-F238E27FC236}">
                <a16:creationId xmlns:a16="http://schemas.microsoft.com/office/drawing/2014/main" id="{A382A5DB-ED14-4836-997A-3E397D020291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8631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ма">
            <a:extLst>
              <a:ext uri="{FF2B5EF4-FFF2-40B4-BE49-F238E27FC236}">
                <a16:creationId xmlns:a16="http://schemas.microsoft.com/office/drawing/2014/main" id="{A8F0A5A6-C01E-4015-B4DE-666919D0B15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61A97B75-00D2-4737-928B-3BE2859A45B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3D68724B-6198-402A-9C61-9711D41E6E2F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должен получить web-дизайнер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42FB00F3-E706-431D-9F49-26D3E4A30900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1B3AA1D-C3E8-4BA5-961C-9F60346CC381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0B59BD1-F133-4935-BE7F-BDBF63D23630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5BBD6F9F-9010-4959-9505-57C91896E441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927019D5-2C24-4114-BA5A-98EBA84935EE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l="7413" r="7413"/>
          <a:stretch>
            <a:fillRect/>
          </a:stretch>
        </p:blipFill>
        <p:spPr>
          <a:xfrm>
            <a:off x="619125" y="2286000"/>
            <a:ext cx="4762500" cy="314325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B20D0DF-6DF9-461D-A519-5DE1950633A5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1EEC097-3889-4EAB-A197-5D49CCC14A5F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2" name="1">
            <a:extLst>
              <a:ext uri="{FF2B5EF4-FFF2-40B4-BE49-F238E27FC236}">
                <a16:creationId xmlns:a16="http://schemas.microsoft.com/office/drawing/2014/main" id="{34DBFF1B-7811-4488-9B3F-38117C828FC7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>
              <a:ext uri="{FF2B5EF4-FFF2-40B4-BE49-F238E27FC236}">
                <a16:creationId xmlns:a16="http://schemas.microsoft.com/office/drawing/2014/main" id="{9AB36984-3C14-469B-90A9-8A2F1B76E64C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3BAF8CD-06D1-49C5-B7A8-DC07657F9A13}"/>
              </a:ext>
            </a:extLst>
          </p:cNvPr>
          <p:cNvSpPr>
            <a:spLocks noGrp="1"/>
          </p:cNvSpPr>
          <p:nvPr/>
        </p:nvSpPr>
        <p:spPr>
          <a:xfrm>
            <a:off x="5715000" y="30670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89DE4369-04A1-4C75-8F4B-E0ECDF8CCEDD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6" name="2">
            <a:extLst>
              <a:ext uri="{FF2B5EF4-FFF2-40B4-BE49-F238E27FC236}">
                <a16:creationId xmlns:a16="http://schemas.microsoft.com/office/drawing/2014/main" id="{AE883251-5435-4F1C-AE5C-C1CE7D86D332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Empty state, icons, SVG/PNG export">
            <a:extLst>
              <a:ext uri="{FF2B5EF4-FFF2-40B4-BE49-F238E27FC236}">
                <a16:creationId xmlns:a16="http://schemas.microsoft.com/office/drawing/2014/main" id="{CFD68655-00C9-4079-9736-51DE69463406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A3B1496-78C7-4A97-A593-E345FA6857FE}"/>
              </a:ext>
            </a:extLst>
          </p:cNvPr>
          <p:cNvSpPr>
            <a:spLocks noGrp="1"/>
          </p:cNvSpPr>
          <p:nvPr/>
        </p:nvSpPr>
        <p:spPr>
          <a:xfrm>
            <a:off x="5715000" y="38481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CAAE47F7-71FC-4FAD-8E38-DA1570CD009C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0" name="3">
            <a:extLst>
              <a:ext uri="{FF2B5EF4-FFF2-40B4-BE49-F238E27FC236}">
                <a16:creationId xmlns:a16="http://schemas.microsoft.com/office/drawing/2014/main" id="{73CE2ACD-D78A-4858-80E7-A0485BEEB37C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Редактируемый AI-master">
            <a:extLst>
              <a:ext uri="{FF2B5EF4-FFF2-40B4-BE49-F238E27FC236}">
                <a16:creationId xmlns:a16="http://schemas.microsoft.com/office/drawing/2014/main" id="{FAFD0E2F-BEE9-4506-A57E-1CFC89225E61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Редактируемый AI-master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EAD495E-D30B-40DD-9461-5C7ADEA647AE}"/>
              </a:ext>
            </a:extLst>
          </p:cNvPr>
          <p:cNvSpPr>
            <a:spLocks noGrp="1"/>
          </p:cNvSpPr>
          <p:nvPr/>
        </p:nvSpPr>
        <p:spPr>
          <a:xfrm>
            <a:off x="5715000" y="46291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8F38682-99E4-488D-86DB-D227FFC7A283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4" name="4">
            <a:extLst>
              <a:ext uri="{FF2B5EF4-FFF2-40B4-BE49-F238E27FC236}">
                <a16:creationId xmlns:a16="http://schemas.microsoft.com/office/drawing/2014/main" id="{BE9CA6AD-C2A7-4B0D-BCE2-5948D194E13E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SVG для vector-assets">
            <a:extLst>
              <a:ext uri="{FF2B5EF4-FFF2-40B4-BE49-F238E27FC236}">
                <a16:creationId xmlns:a16="http://schemas.microsoft.com/office/drawing/2014/main" id="{F1A77F25-006D-4F13-AFDC-8D6DF8E486A1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SVG для vector-assets</a:t>
            </a:r>
          </a:p>
        </p:txBody>
      </p:sp>
    </p:spTree>
    <p:extLst>
      <p:ext uri="{BB962C8B-B14F-4D97-AF65-F5344CB8AC3E}">
        <p14:creationId xmlns:p14="http://schemas.microsoft.com/office/powerpoint/2010/main" val="136888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ма">
            <a:extLst>
              <a:ext uri="{FF2B5EF4-FFF2-40B4-BE49-F238E27FC236}">
                <a16:creationId xmlns:a16="http://schemas.microsoft.com/office/drawing/2014/main" id="{91F84E11-9A58-4621-973D-32A5EC44C326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82F63EE6-9B3F-4828-86A0-AF03439354E2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31773D28-0CA8-4F29-BB10-B6E0DD9E9019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C8E011E4-1DA9-4CAC-B9B5-B4D3804317C7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424A85A-071B-4795-846D-A1F839AE558D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1D38ED-1ECD-4CDE-9073-4513E06102CD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ADF9E7F1-39FF-476B-B5E2-A00200B15A01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D3E52BB0-786C-4D6D-8E30-CB5E47C4FD28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AD2CA44-6CE5-42B0-8A97-61B58D6C0026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2476500" cy="3143250"/>
          </a:xfrm>
          <a:prstGeom prst="roundRect">
            <a:avLst>
              <a:gd name="adj" fmla="val 5385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3BD4-7ECC-4CBC-BD5B-443A538B6840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1" name="1">
            <a:extLst>
              <a:ext uri="{FF2B5EF4-FFF2-40B4-BE49-F238E27FC236}">
                <a16:creationId xmlns:a16="http://schemas.microsoft.com/office/drawing/2014/main" id="{12B43E15-3456-4338-870D-32BB7342986E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3"/>
          <a:srcRect t="2351" b="2351"/>
          <a:stretch>
            <a:fillRect/>
          </a:stretch>
        </p:blipFill>
        <p:spPr>
          <a:xfrm>
            <a:off x="790575" y="3048000"/>
            <a:ext cx="2133600" cy="1143000"/>
          </a:xfrm>
          <a:prstGeom prst="rect">
            <a:avLst/>
          </a:prstGeom>
        </p:spPr>
      </p:pic>
      <p:sp>
        <p:nvSpPr>
          <p:cNvPr id="13" name="Преподаватель показывает действие…">
            <a:extLst>
              <a:ext uri="{FF2B5EF4-FFF2-40B4-BE49-F238E27FC236}">
                <a16:creationId xmlns:a16="http://schemas.microsoft.com/office/drawing/2014/main" id="{94715AEE-2F2A-46B6-A45C-B76B1A0779D9}"/>
              </a:ext>
            </a:extLst>
          </p:cNvPr>
          <p:cNvSpPr>
            <a:spLocks noGrp="1"/>
          </p:cNvSpPr>
          <p:nvPr/>
        </p:nvSpPr>
        <p:spPr>
          <a:xfrm>
            <a:off x="790575" y="4305300"/>
            <a:ext cx="213360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C1E78F9-3CC8-48C5-BBE8-C0DA69A7F59F}"/>
              </a:ext>
            </a:extLst>
          </p:cNvPr>
          <p:cNvSpPr>
            <a:spLocks noGrp="1"/>
          </p:cNvSpPr>
          <p:nvPr/>
        </p:nvSpPr>
        <p:spPr>
          <a:xfrm>
            <a:off x="3343275" y="2333625"/>
            <a:ext cx="2476500" cy="3143250"/>
          </a:xfrm>
          <a:prstGeom prst="roundRect">
            <a:avLst>
              <a:gd name="adj" fmla="val 5385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5B66AA6-E272-45B9-997E-B15E28346279}"/>
              </a:ext>
            </a:extLst>
          </p:cNvPr>
          <p:cNvSpPr>
            <a:spLocks noGrp="1"/>
          </p:cNvSpPr>
          <p:nvPr/>
        </p:nvSpPr>
        <p:spPr>
          <a:xfrm>
            <a:off x="3505200" y="24765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6" name="2">
            <a:extLst>
              <a:ext uri="{FF2B5EF4-FFF2-40B4-BE49-F238E27FC236}">
                <a16:creationId xmlns:a16="http://schemas.microsoft.com/office/drawing/2014/main" id="{506CC3D7-01EC-4EA7-97CE-C331C8674708}"/>
              </a:ext>
            </a:extLst>
          </p:cNvPr>
          <p:cNvSpPr>
            <a:spLocks noGrp="1"/>
          </p:cNvSpPr>
          <p:nvPr/>
        </p:nvSpPr>
        <p:spPr>
          <a:xfrm>
            <a:off x="3505200" y="2476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rcRect t="2351" b="2351"/>
          <a:stretch>
            <a:fillRect/>
          </a:stretch>
        </p:blipFill>
        <p:spPr>
          <a:xfrm>
            <a:off x="3514725" y="3048000"/>
            <a:ext cx="2133600" cy="1143000"/>
          </a:xfrm>
          <a:prstGeom prst="rect">
            <a:avLst/>
          </a:prstGeom>
        </p:spPr>
      </p:pic>
      <p:sp>
        <p:nvSpPr>
          <p:cNvPr id="18" name="Вслух объясняет выбор инструмента…">
            <a:extLst>
              <a:ext uri="{FF2B5EF4-FFF2-40B4-BE49-F238E27FC236}">
                <a16:creationId xmlns:a16="http://schemas.microsoft.com/office/drawing/2014/main" id="{5513F580-D079-40DA-B2AD-F74D606133D1}"/>
              </a:ext>
            </a:extLst>
          </p:cNvPr>
          <p:cNvSpPr>
            <a:spLocks noGrp="1"/>
          </p:cNvSpPr>
          <p:nvPr/>
        </p:nvSpPr>
        <p:spPr>
          <a:xfrm>
            <a:off x="3514725" y="4305300"/>
            <a:ext cx="213360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3E733D7-E5DE-4BF6-ADCE-1B99AAC92C0B}"/>
              </a:ext>
            </a:extLst>
          </p:cNvPr>
          <p:cNvSpPr>
            <a:spLocks noGrp="1"/>
          </p:cNvSpPr>
          <p:nvPr/>
        </p:nvSpPr>
        <p:spPr>
          <a:xfrm>
            <a:off x="6067425" y="2333625"/>
            <a:ext cx="2476500" cy="3143250"/>
          </a:xfrm>
          <a:prstGeom prst="roundRect">
            <a:avLst>
              <a:gd name="adj" fmla="val 5385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3C222553-7F34-4103-B831-90F6B3E47318}"/>
              </a:ext>
            </a:extLst>
          </p:cNvPr>
          <p:cNvSpPr>
            <a:spLocks noGrp="1"/>
          </p:cNvSpPr>
          <p:nvPr/>
        </p:nvSpPr>
        <p:spPr>
          <a:xfrm>
            <a:off x="6229350" y="24765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1" name="3">
            <a:extLst>
              <a:ext uri="{FF2B5EF4-FFF2-40B4-BE49-F238E27FC236}">
                <a16:creationId xmlns:a16="http://schemas.microsoft.com/office/drawing/2014/main" id="{189626D3-5319-46E3-AF2A-650C71857D53}"/>
              </a:ext>
            </a:extLst>
          </p:cNvPr>
          <p:cNvSpPr>
            <a:spLocks noGrp="1"/>
          </p:cNvSpPr>
          <p:nvPr/>
        </p:nvSpPr>
        <p:spPr>
          <a:xfrm>
            <a:off x="6229350" y="2476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Рисунок 49"/>
          <p:cNvPicPr>
            <a:picLocks noChangeAspect="1"/>
          </p:cNvPicPr>
          <p:nvPr/>
        </p:nvPicPr>
        <p:blipFill>
          <a:blip r:embed="rId3"/>
          <a:srcRect t="2351" b="2351"/>
          <a:stretch>
            <a:fillRect/>
          </a:stretch>
        </p:blipFill>
        <p:spPr>
          <a:xfrm>
            <a:off x="6238875" y="3048000"/>
            <a:ext cx="2133600" cy="1143000"/>
          </a:xfrm>
          <a:prstGeom prst="rect">
            <a:avLst/>
          </a:prstGeom>
        </p:spPr>
      </p:pic>
      <p:sp>
        <p:nvSpPr>
          <p:cNvPr id="23" name="Студенты повторяют первый шаг.">
            <a:extLst>
              <a:ext uri="{FF2B5EF4-FFF2-40B4-BE49-F238E27FC236}">
                <a16:creationId xmlns:a16="http://schemas.microsoft.com/office/drawing/2014/main" id="{719DCA62-3105-4A02-87AC-1994FB42E062}"/>
              </a:ext>
            </a:extLst>
          </p:cNvPr>
          <p:cNvSpPr>
            <a:spLocks noGrp="1"/>
          </p:cNvSpPr>
          <p:nvPr/>
        </p:nvSpPr>
        <p:spPr>
          <a:xfrm>
            <a:off x="6238875" y="4305300"/>
            <a:ext cx="213360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238FD6F-BE2A-4BFC-BC9E-31EC04750D1E}"/>
              </a:ext>
            </a:extLst>
          </p:cNvPr>
          <p:cNvSpPr>
            <a:spLocks noGrp="1"/>
          </p:cNvSpPr>
          <p:nvPr/>
        </p:nvSpPr>
        <p:spPr>
          <a:xfrm>
            <a:off x="8791575" y="2333625"/>
            <a:ext cx="2476500" cy="3143250"/>
          </a:xfrm>
          <a:prstGeom prst="roundRect">
            <a:avLst>
              <a:gd name="adj" fmla="val 5385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18A99A3-4C6F-4561-B653-0E8D7D672F9F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6" name="4">
            <a:extLst>
              <a:ext uri="{FF2B5EF4-FFF2-40B4-BE49-F238E27FC236}">
                <a16:creationId xmlns:a16="http://schemas.microsoft.com/office/drawing/2014/main" id="{B3546820-E66A-4C99-BC87-F739588E6A78}"/>
              </a:ext>
            </a:extLst>
          </p:cNvPr>
          <p:cNvSpPr>
            <a:spLocks noGrp="1"/>
          </p:cNvSpPr>
          <p:nvPr/>
        </p:nvSpPr>
        <p:spPr>
          <a:xfrm>
            <a:off x="8953500" y="2476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Рисунок 54"/>
          <p:cNvPicPr>
            <a:picLocks noChangeAspect="1"/>
          </p:cNvPicPr>
          <p:nvPr/>
        </p:nvPicPr>
        <p:blipFill>
          <a:blip r:embed="rId3"/>
          <a:srcRect t="2351" b="2351"/>
          <a:stretch>
            <a:fillRect/>
          </a:stretch>
        </p:blipFill>
        <p:spPr>
          <a:xfrm>
            <a:off x="8963025" y="3048000"/>
            <a:ext cx="2133600" cy="1143000"/>
          </a:xfrm>
          <a:prstGeom prst="rect">
            <a:avLst/>
          </a:prstGeom>
        </p:spPr>
      </p:pic>
      <p:sp>
        <p:nvSpPr>
          <p:cNvPr id="28" name="Самостоятельно усложняют…">
            <a:extLst>
              <a:ext uri="{FF2B5EF4-FFF2-40B4-BE49-F238E27FC236}">
                <a16:creationId xmlns:a16="http://schemas.microsoft.com/office/drawing/2014/main" id="{58CEFF9E-4D2C-4D4A-AE32-F2E19C331AF1}"/>
              </a:ext>
            </a:extLst>
          </p:cNvPr>
          <p:cNvSpPr>
            <a:spLocks noGrp="1"/>
          </p:cNvSpPr>
          <p:nvPr/>
        </p:nvSpPr>
        <p:spPr>
          <a:xfrm>
            <a:off x="8963025" y="4305300"/>
            <a:ext cx="2133600" cy="876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82410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ма">
            <a:extLst>
              <a:ext uri="{FF2B5EF4-FFF2-40B4-BE49-F238E27FC236}">
                <a16:creationId xmlns:a16="http://schemas.microsoft.com/office/drawing/2014/main" id="{C40D2E82-86D3-42B8-B06B-C2C42C5E1B68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8767399F-33E7-4A50-823A-F46E9FCA9A47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99B4B332-0ED5-4AA7-BAE4-6CE54F447DE7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Multiple Artboards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24E76D77-3819-4C8A-955E-1C46E55807CE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B2DC2D8-2735-4CB7-9BF4-30C5C3F46D72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AC3D2D9-3A5C-48F5-A042-9FB83DAF477F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BCC03178-6AAF-49B9-83E3-04C9D6372E36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BC68B0B9-53BA-463D-83E2-51D4B2FED75A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19125" y="2305050"/>
            <a:ext cx="5095875" cy="2143125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269554D0-5BB6-4023-9C52-FD76746A8202}"/>
              </a:ext>
            </a:extLst>
          </p:cNvPr>
          <p:cNvSpPr>
            <a:spLocks noGrp="1"/>
          </p:cNvSpPr>
          <p:nvPr/>
        </p:nvSpPr>
        <p:spPr>
          <a:xfrm>
            <a:off x="619125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>
              <a:ext uri="{FF2B5EF4-FFF2-40B4-BE49-F238E27FC236}">
                <a16:creationId xmlns:a16="http://schemas.microsoft.com/office/drawing/2014/main" id="{3A2B37A7-2119-482D-A37D-9F9573BA9057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096000" y="2305050"/>
            <a:ext cx="5095875" cy="2143125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FF6F8894-B874-46B4-87D5-6F81E8701499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Вариант Б: объясняем отличие и…">
            <a:extLst>
              <a:ext uri="{FF2B5EF4-FFF2-40B4-BE49-F238E27FC236}">
                <a16:creationId xmlns:a16="http://schemas.microsoft.com/office/drawing/2014/main" id="{4BBFB4D9-56B6-4BED-88DA-C34BD6630F2C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3995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ма">
            <a:extLst>
              <a:ext uri="{FF2B5EF4-FFF2-40B4-BE49-F238E27FC236}">
                <a16:creationId xmlns:a16="http://schemas.microsoft.com/office/drawing/2014/main" id="{D3172204-00CF-43D0-88DD-7262883E8DFC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EC6D45B7-2D91-41CA-879F-53F3261185B0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63E54377-919A-49D5-A90A-1E5FC357E135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Упрощение для малого размера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656C3FDA-90FD-481B-BF27-45C8A078B880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4438635-74F7-42F0-962E-8C3816F3E8A3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1A6C9F-C097-4E3F-AAAE-F64189E841E8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A0E8A1D3-74C5-42BA-8B49-20FA77AFAD78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9553F35F-7AF8-484D-8797-FF8705717B05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l="7413" r="7413"/>
          <a:stretch>
            <a:fillRect/>
          </a:stretch>
        </p:blipFill>
        <p:spPr>
          <a:xfrm>
            <a:off x="619125" y="2286000"/>
            <a:ext cx="4762500" cy="314325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0A532CA-F707-4543-9BD4-E9005B240BF0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181BFB3-85E7-40A3-8E00-D37A102F165D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2" name="1">
            <a:extLst>
              <a:ext uri="{FF2B5EF4-FFF2-40B4-BE49-F238E27FC236}">
                <a16:creationId xmlns:a16="http://schemas.microsoft.com/office/drawing/2014/main" id="{67946806-BB0F-4D30-BAB9-ABB53BE35476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>
              <a:ext uri="{FF2B5EF4-FFF2-40B4-BE49-F238E27FC236}">
                <a16:creationId xmlns:a16="http://schemas.microsoft.com/office/drawing/2014/main" id="{53A5E977-8605-4AF0-8A7F-A14F0784C4EE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4A43624-57C8-4594-AF46-6852A7D619B1}"/>
              </a:ext>
            </a:extLst>
          </p:cNvPr>
          <p:cNvSpPr>
            <a:spLocks noGrp="1"/>
          </p:cNvSpPr>
          <p:nvPr/>
        </p:nvSpPr>
        <p:spPr>
          <a:xfrm>
            <a:off x="5715000" y="30670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D663B2E-1D4F-4733-9D60-176E2660A5F8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6" name="2">
            <a:extLst>
              <a:ext uri="{FF2B5EF4-FFF2-40B4-BE49-F238E27FC236}">
                <a16:creationId xmlns:a16="http://schemas.microsoft.com/office/drawing/2014/main" id="{A3D17EE9-83AD-4A18-A3A9-621172316D27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Empty state, icons, SVG/PNG export">
            <a:extLst>
              <a:ext uri="{FF2B5EF4-FFF2-40B4-BE49-F238E27FC236}">
                <a16:creationId xmlns:a16="http://schemas.microsoft.com/office/drawing/2014/main" id="{768B4475-6047-4369-882B-01C2E7FAAC25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443FE78-37F7-448D-AB10-3B8C9E8B3A9F}"/>
              </a:ext>
            </a:extLst>
          </p:cNvPr>
          <p:cNvSpPr>
            <a:spLocks noGrp="1"/>
          </p:cNvSpPr>
          <p:nvPr/>
        </p:nvSpPr>
        <p:spPr>
          <a:xfrm>
            <a:off x="5715000" y="38481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55B5C13F-CC76-4176-A745-E7996D109275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0" name="3">
            <a:extLst>
              <a:ext uri="{FF2B5EF4-FFF2-40B4-BE49-F238E27FC236}">
                <a16:creationId xmlns:a16="http://schemas.microsoft.com/office/drawing/2014/main" id="{8AA8B5EB-524E-4548-8B88-774975B9C2C0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Убрать мелкую фактуру">
            <a:extLst>
              <a:ext uri="{FF2B5EF4-FFF2-40B4-BE49-F238E27FC236}">
                <a16:creationId xmlns:a16="http://schemas.microsoft.com/office/drawing/2014/main" id="{5FAB7D8B-37D2-47D1-8B0F-0A8F48B2C456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Убрать мелкую фактуру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3EAA9E56-4EA1-4CDE-97F2-E6FEED0BBDF0}"/>
              </a:ext>
            </a:extLst>
          </p:cNvPr>
          <p:cNvSpPr>
            <a:spLocks noGrp="1"/>
          </p:cNvSpPr>
          <p:nvPr/>
        </p:nvSpPr>
        <p:spPr>
          <a:xfrm>
            <a:off x="5715000" y="46291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26C573EC-A027-4040-A1F8-A5DE795BD7F4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4" name="4">
            <a:extLst>
              <a:ext uri="{FF2B5EF4-FFF2-40B4-BE49-F238E27FC236}">
                <a16:creationId xmlns:a16="http://schemas.microsoft.com/office/drawing/2014/main" id="{34E7FF6D-D9AA-4D2A-AC11-D1172A9AF626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Усилить силуэт">
            <a:extLst>
              <a:ext uri="{FF2B5EF4-FFF2-40B4-BE49-F238E27FC236}">
                <a16:creationId xmlns:a16="http://schemas.microsoft.com/office/drawing/2014/main" id="{A4782D42-1CDC-4415-A9E1-25E4CF13191B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Усилить силуэт</a:t>
            </a:r>
          </a:p>
        </p:txBody>
      </p:sp>
    </p:spTree>
    <p:extLst>
      <p:ext uri="{BB962C8B-B14F-4D97-AF65-F5344CB8AC3E}">
        <p14:creationId xmlns:p14="http://schemas.microsoft.com/office/powerpoint/2010/main" val="1723235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ма">
            <a:extLst>
              <a:ext uri="{FF2B5EF4-FFF2-40B4-BE49-F238E27FC236}">
                <a16:creationId xmlns:a16="http://schemas.microsoft.com/office/drawing/2014/main" id="{01BD435C-C837-43AB-8ADB-5BFBB815487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95264ACE-1290-4FF2-A752-E9B11331FFF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2D0FB8E0-3B89-4178-BFA8-F79641DC32DC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Эксперимент: большой предмет → пиктограмма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A282EB3C-8085-4193-80F9-53267D9E46B0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82C34BF-84B1-4CD5-B689-D671FA1D835C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F88725-7345-448C-A8BA-AD28D20140A0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CB9E8EB7-F9F6-4EDF-9342-569EC34E5128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539C51C3-707E-40FE-BFBD-055C52DBDE98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19125" y="2266950"/>
            <a:ext cx="2476500" cy="1695450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BE79E3CF-E7FB-4092-B435-54FCC8C4CBEE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>
              <a:ext uri="{FF2B5EF4-FFF2-40B4-BE49-F238E27FC236}">
                <a16:creationId xmlns:a16="http://schemas.microsoft.com/office/drawing/2014/main" id="{471735B3-C935-43AB-B95E-E39F33D6BF9C}"/>
              </a:ext>
            </a:extLst>
          </p:cNvPr>
          <p:cNvSpPr>
            <a:spLocks noGrp="1"/>
          </p:cNvSpPr>
          <p:nvPr/>
        </p:nvSpPr>
        <p:spPr>
          <a:xfrm>
            <a:off x="6191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3343275" y="2266950"/>
            <a:ext cx="2476500" cy="1695450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E3FDDE9A-1E88-4D66-999C-BABED26A047F}"/>
              </a:ext>
            </a:extLst>
          </p:cNvPr>
          <p:cNvSpPr>
            <a:spLocks noGrp="1"/>
          </p:cNvSpPr>
          <p:nvPr/>
        </p:nvSpPr>
        <p:spPr>
          <a:xfrm>
            <a:off x="33432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Признак 2: что можно увидеть и…">
            <a:extLst>
              <a:ext uri="{FF2B5EF4-FFF2-40B4-BE49-F238E27FC236}">
                <a16:creationId xmlns:a16="http://schemas.microsoft.com/office/drawing/2014/main" id="{C4115B47-CF82-40AF-80A7-938262762D31}"/>
              </a:ext>
            </a:extLst>
          </p:cNvPr>
          <p:cNvSpPr>
            <a:spLocks noGrp="1"/>
          </p:cNvSpPr>
          <p:nvPr/>
        </p:nvSpPr>
        <p:spPr>
          <a:xfrm>
            <a:off x="33432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sp>
        <p:nvSpPr>
          <p:cNvPr id="16" name="Один объект в illustration-version">
            <a:extLst>
              <a:ext uri="{FF2B5EF4-FFF2-40B4-BE49-F238E27FC236}">
                <a16:creationId xmlns:a16="http://schemas.microsoft.com/office/drawing/2014/main" id="{382AF0F5-50D5-46D0-B2A3-D327E045BDDD}"/>
              </a:ext>
            </a:extLst>
          </p:cNvPr>
          <p:cNvSpPr>
            <a:spLocks noGrp="1"/>
          </p:cNvSpPr>
          <p:nvPr/>
        </p:nvSpPr>
        <p:spPr>
          <a:xfrm>
            <a:off x="60674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Один объект в illustration-version</a:t>
            </a:r>
          </a:p>
        </p:txBody>
      </p:sp>
      <p:sp>
        <p:nvSpPr>
          <p:cNvPr id="17" name="Признак 3: что можно увидеть и…">
            <a:extLst>
              <a:ext uri="{FF2B5EF4-FFF2-40B4-BE49-F238E27FC236}">
                <a16:creationId xmlns:a16="http://schemas.microsoft.com/office/drawing/2014/main" id="{85E2F614-69F7-46B8-9D58-05BE64CA1770}"/>
              </a:ext>
            </a:extLst>
          </p:cNvPr>
          <p:cNvSpPr>
            <a:spLocks noGrp="1"/>
          </p:cNvSpPr>
          <p:nvPr/>
        </p:nvSpPr>
        <p:spPr>
          <a:xfrm>
            <a:off x="60674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8791575" y="2266950"/>
            <a:ext cx="2476500" cy="1695450"/>
          </a:xfrm>
          <a:prstGeom prst="rect">
            <a:avLst/>
          </a:prstGeom>
        </p:spPr>
      </p:pic>
      <p:sp>
        <p:nvSpPr>
          <p:cNvPr id="19" name="Тот же объект в pictogram-version">
            <a:extLst>
              <a:ext uri="{FF2B5EF4-FFF2-40B4-BE49-F238E27FC236}">
                <a16:creationId xmlns:a16="http://schemas.microsoft.com/office/drawing/2014/main" id="{243E4E7C-1977-4C7A-BB10-6BA6AC3A6545}"/>
              </a:ext>
            </a:extLst>
          </p:cNvPr>
          <p:cNvSpPr>
            <a:spLocks noGrp="1"/>
          </p:cNvSpPr>
          <p:nvPr/>
        </p:nvSpPr>
        <p:spPr>
          <a:xfrm>
            <a:off x="87915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Тот же объект в pictogram-version</a:t>
            </a:r>
          </a:p>
        </p:txBody>
      </p:sp>
      <p:sp>
        <p:nvSpPr>
          <p:cNvPr id="20" name="Признак 4: что можно увидеть и…">
            <a:extLst>
              <a:ext uri="{FF2B5EF4-FFF2-40B4-BE49-F238E27FC236}">
                <a16:creationId xmlns:a16="http://schemas.microsoft.com/office/drawing/2014/main" id="{8AF84FCA-350E-4813-B48D-8525399216EF}"/>
              </a:ext>
            </a:extLst>
          </p:cNvPr>
          <p:cNvSpPr>
            <a:spLocks noGrp="1"/>
          </p:cNvSpPr>
          <p:nvPr/>
        </p:nvSpPr>
        <p:spPr>
          <a:xfrm>
            <a:off x="87915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BC141B8-2929-217B-7FAA-07660DC393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024562" y="2266950"/>
            <a:ext cx="24765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8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ма">
            <a:extLst>
              <a:ext uri="{FF2B5EF4-FFF2-40B4-BE49-F238E27FC236}">
                <a16:creationId xmlns:a16="http://schemas.microsoft.com/office/drawing/2014/main" id="{2A838C39-3C2C-4823-BEE3-7CCF6C726943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0573350B-1DC5-48A0-B686-D5F22292004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D669A958-994E-44DE-85AD-2B74B9B0D4F4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state: “в коллекции пока ничего нет”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EE79C150-E6AE-4303-A444-2D620F4581B1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14BA5F3-28A5-455A-BFFE-CF60B9D4D356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791A381-E0C7-4ABC-9E1F-DDA9F7B9D144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9C97796A-21C7-4418-BAAD-64C406984F7D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828A2E71-F5D1-487A-A1DA-86E5DE46B6C6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19125" y="2305050"/>
            <a:ext cx="5095875" cy="2143125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6B617717-42BC-4713-88B1-12BC12018C02}"/>
              </a:ext>
            </a:extLst>
          </p:cNvPr>
          <p:cNvSpPr>
            <a:spLocks noGrp="1"/>
          </p:cNvSpPr>
          <p:nvPr/>
        </p:nvSpPr>
        <p:spPr>
          <a:xfrm>
            <a:off x="619125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>
              <a:ext uri="{FF2B5EF4-FFF2-40B4-BE49-F238E27FC236}">
                <a16:creationId xmlns:a16="http://schemas.microsoft.com/office/drawing/2014/main" id="{DADD86A9-545D-40D5-BFA2-53750FDB109A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096000" y="2305050"/>
            <a:ext cx="5095875" cy="2143125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91A676C3-B572-4F91-874E-5C475A662318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Вариант Б: объясняем отличие и…">
            <a:extLst>
              <a:ext uri="{FF2B5EF4-FFF2-40B4-BE49-F238E27FC236}">
                <a16:creationId xmlns:a16="http://schemas.microsoft.com/office/drawing/2014/main" id="{629D4902-62BB-4D6D-8B67-5B30C6DED42B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99305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ма">
            <a:extLst>
              <a:ext uri="{FF2B5EF4-FFF2-40B4-BE49-F238E27FC236}">
                <a16:creationId xmlns:a16="http://schemas.microsoft.com/office/drawing/2014/main" id="{2FCB34F4-7AF2-4513-85F6-13EDD776D28E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392309F0-174E-4C5F-A272-6B30562A443C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F23A6652-F46C-498D-868A-AD903BC41757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Icons / pictograms 4–6 штук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B823E562-B47C-4AF4-BC64-5E74F4A2911A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BDD75CA-5047-4C84-9B68-940460856D55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43891D-3597-4326-9AE7-D83153CA9C37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2C1B14D3-F5FF-436A-845C-A75671C6FD6D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6310B304-2BC2-4953-9D25-8BFB1F009B1C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l="7413" r="7413"/>
          <a:stretch>
            <a:fillRect/>
          </a:stretch>
        </p:blipFill>
        <p:spPr>
          <a:xfrm>
            <a:off x="619125" y="2286000"/>
            <a:ext cx="4762500" cy="314325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00E598B-693D-4BB3-B046-529805740F20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906D282-AA71-431C-AE77-6064D769CB2B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2" name="1">
            <a:extLst>
              <a:ext uri="{FF2B5EF4-FFF2-40B4-BE49-F238E27FC236}">
                <a16:creationId xmlns:a16="http://schemas.microsoft.com/office/drawing/2014/main" id="{07F5D506-B460-40D1-BA58-4138DB39DCBA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>
              <a:ext uri="{FF2B5EF4-FFF2-40B4-BE49-F238E27FC236}">
                <a16:creationId xmlns:a16="http://schemas.microsoft.com/office/drawing/2014/main" id="{BF70E38F-C746-43B3-B360-D699B331C8FC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38C8C0A-8A3E-4D09-B674-669EAC11E5D6}"/>
              </a:ext>
            </a:extLst>
          </p:cNvPr>
          <p:cNvSpPr>
            <a:spLocks noGrp="1"/>
          </p:cNvSpPr>
          <p:nvPr/>
        </p:nvSpPr>
        <p:spPr>
          <a:xfrm>
            <a:off x="5715000" y="30670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B24A860-F05F-48ED-BAE5-C23F58B6A68B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6" name="2">
            <a:extLst>
              <a:ext uri="{FF2B5EF4-FFF2-40B4-BE49-F238E27FC236}">
                <a16:creationId xmlns:a16="http://schemas.microsoft.com/office/drawing/2014/main" id="{3EBB2D0F-A05D-4D8E-A2D6-2AADFB194AC0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Empty state, icons, SVG/PNG export">
            <a:extLst>
              <a:ext uri="{FF2B5EF4-FFF2-40B4-BE49-F238E27FC236}">
                <a16:creationId xmlns:a16="http://schemas.microsoft.com/office/drawing/2014/main" id="{26BA949C-D18A-45D5-A776-81AE1C91AF44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F50688D-F1D4-4B24-AD7F-42813DC257BC}"/>
              </a:ext>
            </a:extLst>
          </p:cNvPr>
          <p:cNvSpPr>
            <a:spLocks noGrp="1"/>
          </p:cNvSpPr>
          <p:nvPr/>
        </p:nvSpPr>
        <p:spPr>
          <a:xfrm>
            <a:off x="5715000" y="38481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8D2A9CD-756C-4E44-9899-3F72AD95CD24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0" name="3">
            <a:extLst>
              <a:ext uri="{FF2B5EF4-FFF2-40B4-BE49-F238E27FC236}">
                <a16:creationId xmlns:a16="http://schemas.microsoft.com/office/drawing/2014/main" id="{405EF03E-D534-4566-B3DF-2BE9F69F8D6B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оиск / коллекция / метка /…">
            <a:extLst>
              <a:ext uri="{FF2B5EF4-FFF2-40B4-BE49-F238E27FC236}">
                <a16:creationId xmlns:a16="http://schemas.microsoft.com/office/drawing/2014/main" id="{4D6F0AC5-FE41-4E14-8501-D2C7254B562B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Поиск / коллекция / метка / настройки / лист / архив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E4FD770-F0CC-4B9F-A336-730360CDE19E}"/>
              </a:ext>
            </a:extLst>
          </p:cNvPr>
          <p:cNvSpPr>
            <a:spLocks noGrp="1"/>
          </p:cNvSpPr>
          <p:nvPr/>
        </p:nvSpPr>
        <p:spPr>
          <a:xfrm>
            <a:off x="5715000" y="46291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0E1E42EE-70DE-438A-B18C-2C0C98DF7BFF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4" name="4">
            <a:extLst>
              <a:ext uri="{FF2B5EF4-FFF2-40B4-BE49-F238E27FC236}">
                <a16:creationId xmlns:a16="http://schemas.microsoft.com/office/drawing/2014/main" id="{BA24A9AD-8BF8-4FC6-80A2-7414F08A5930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Одинаковый grid, stroke, радиусы…">
            <a:extLst>
              <a:ext uri="{FF2B5EF4-FFF2-40B4-BE49-F238E27FC236}">
                <a16:creationId xmlns:a16="http://schemas.microsoft.com/office/drawing/2014/main" id="{B281C189-BA5D-423A-A6BA-36BA3DD4B7D1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Одинаковый grid, stroke, радиусы и детализация</a:t>
            </a:r>
          </a:p>
        </p:txBody>
      </p:sp>
    </p:spTree>
    <p:extLst>
      <p:ext uri="{BB962C8B-B14F-4D97-AF65-F5344CB8AC3E}">
        <p14:creationId xmlns:p14="http://schemas.microsoft.com/office/powerpoint/2010/main" val="1290423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ма">
            <a:extLst>
              <a:ext uri="{FF2B5EF4-FFF2-40B4-BE49-F238E27FC236}">
                <a16:creationId xmlns:a16="http://schemas.microsoft.com/office/drawing/2014/main" id="{920A3936-4FED-4C72-8C72-459A2F7F36F5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32D4B22D-D850-4E97-92AE-DFBE42B73089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23DD94AA-ACAF-41C8-89C1-157AEA5B149F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SVG: когда использовать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AA492277-B419-4143-B23E-682B453851F0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B102ED4-4BD0-4224-AD67-D245FC62D1FF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7DE4C3-BD89-43F2-8030-ACF4A0DEDE67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122F4845-3DA8-4277-AB82-624A0BAA8E87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BA33C2F9-243D-4ED6-9258-96D4505F8414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19125" y="2266950"/>
            <a:ext cx="2476500" cy="1695450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58C8960A-06C4-45AF-A8BB-FEFC06097E6E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>
              <a:ext uri="{FF2B5EF4-FFF2-40B4-BE49-F238E27FC236}">
                <a16:creationId xmlns:a16="http://schemas.microsoft.com/office/drawing/2014/main" id="{BCDB736B-F090-410A-9766-2C36BC4DEC3D}"/>
              </a:ext>
            </a:extLst>
          </p:cNvPr>
          <p:cNvSpPr>
            <a:spLocks noGrp="1"/>
          </p:cNvSpPr>
          <p:nvPr/>
        </p:nvSpPr>
        <p:spPr>
          <a:xfrm>
            <a:off x="6191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3343275" y="2266950"/>
            <a:ext cx="2476500" cy="1695450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BC845F1B-8B9D-4122-8E22-EA0A24FA44C3}"/>
              </a:ext>
            </a:extLst>
          </p:cNvPr>
          <p:cNvSpPr>
            <a:spLocks noGrp="1"/>
          </p:cNvSpPr>
          <p:nvPr/>
        </p:nvSpPr>
        <p:spPr>
          <a:xfrm>
            <a:off x="33432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Признак 2: что можно увидеть и…">
            <a:extLst>
              <a:ext uri="{FF2B5EF4-FFF2-40B4-BE49-F238E27FC236}">
                <a16:creationId xmlns:a16="http://schemas.microsoft.com/office/drawing/2014/main" id="{AC082506-C2F5-45DB-BBFE-C6F95E4708DB}"/>
              </a:ext>
            </a:extLst>
          </p:cNvPr>
          <p:cNvSpPr>
            <a:spLocks noGrp="1"/>
          </p:cNvSpPr>
          <p:nvPr/>
        </p:nvSpPr>
        <p:spPr>
          <a:xfrm>
            <a:off x="33432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067425" y="2266950"/>
            <a:ext cx="2476500" cy="1695450"/>
          </a:xfrm>
          <a:prstGeom prst="rect">
            <a:avLst/>
          </a:prstGeom>
        </p:spPr>
      </p:pic>
      <p:sp>
        <p:nvSpPr>
          <p:cNvPr id="16" name="Для масштабируемых иллюстраций и…">
            <a:extLst>
              <a:ext uri="{FF2B5EF4-FFF2-40B4-BE49-F238E27FC236}">
                <a16:creationId xmlns:a16="http://schemas.microsoft.com/office/drawing/2014/main" id="{211D0FAB-E115-47B3-96FA-A82DAB62C721}"/>
              </a:ext>
            </a:extLst>
          </p:cNvPr>
          <p:cNvSpPr>
            <a:spLocks noGrp="1"/>
          </p:cNvSpPr>
          <p:nvPr/>
        </p:nvSpPr>
        <p:spPr>
          <a:xfrm>
            <a:off x="60674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Для масштабируемых иллюстраций и иконок</a:t>
            </a:r>
          </a:p>
        </p:txBody>
      </p:sp>
      <p:sp>
        <p:nvSpPr>
          <p:cNvPr id="17" name="Признак 3: что можно увидеть и…">
            <a:extLst>
              <a:ext uri="{FF2B5EF4-FFF2-40B4-BE49-F238E27FC236}">
                <a16:creationId xmlns:a16="http://schemas.microsoft.com/office/drawing/2014/main" id="{37FBF46B-22AA-42B6-B4C5-B6698DE2B11E}"/>
              </a:ext>
            </a:extLst>
          </p:cNvPr>
          <p:cNvSpPr>
            <a:spLocks noGrp="1"/>
          </p:cNvSpPr>
          <p:nvPr/>
        </p:nvSpPr>
        <p:spPr>
          <a:xfrm>
            <a:off x="60674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8791575" y="2266950"/>
            <a:ext cx="2476500" cy="1695450"/>
          </a:xfrm>
          <a:prstGeom prst="rect">
            <a:avLst/>
          </a:prstGeom>
        </p:spPr>
      </p:pic>
      <p:sp>
        <p:nvSpPr>
          <p:cNvPr id="19" name="Когда нужен маленький вес и…">
            <a:extLst>
              <a:ext uri="{FF2B5EF4-FFF2-40B4-BE49-F238E27FC236}">
                <a16:creationId xmlns:a16="http://schemas.microsoft.com/office/drawing/2014/main" id="{5D200CED-A962-4BB5-AABD-C3ED21C607AC}"/>
              </a:ext>
            </a:extLst>
          </p:cNvPr>
          <p:cNvSpPr>
            <a:spLocks noGrp="1"/>
          </p:cNvSpPr>
          <p:nvPr/>
        </p:nvSpPr>
        <p:spPr>
          <a:xfrm>
            <a:off x="87915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Когда нужен маленький вес и чёткие контуры</a:t>
            </a:r>
          </a:p>
        </p:txBody>
      </p:sp>
      <p:sp>
        <p:nvSpPr>
          <p:cNvPr id="20" name="Признак 4: что можно увидеть и…">
            <a:extLst>
              <a:ext uri="{FF2B5EF4-FFF2-40B4-BE49-F238E27FC236}">
                <a16:creationId xmlns:a16="http://schemas.microsoft.com/office/drawing/2014/main" id="{9B045793-2A6B-486E-949B-41B5A487BC26}"/>
              </a:ext>
            </a:extLst>
          </p:cNvPr>
          <p:cNvSpPr>
            <a:spLocks noGrp="1"/>
          </p:cNvSpPr>
          <p:nvPr/>
        </p:nvSpPr>
        <p:spPr>
          <a:xfrm>
            <a:off x="87915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62959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ма">
            <a:extLst>
              <a:ext uri="{FF2B5EF4-FFF2-40B4-BE49-F238E27FC236}">
                <a16:creationId xmlns:a16="http://schemas.microsoft.com/office/drawing/2014/main" id="{B95BD3FE-48A1-44B2-A48B-31467F61449F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847663A7-F677-4B6A-BA64-884B4725EBFD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108122EB-861C-4D9D-8E65-3086DC5DABCF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PNG: когда использовать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31D90A31-05FA-4839-8489-99227B2691CD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4C8D430-4680-4626-800B-D4C4B2B36EA8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9B60EF-95D6-4CCD-B946-4B418C0D9AE3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90BF7632-A2CC-46A5-AAC7-95EB8931F5EA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579E8534-9860-4021-93E9-DF5C5963AB62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19125" y="2305050"/>
            <a:ext cx="5095875" cy="2143125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CF76AEAB-1DFF-417A-858B-83B359390B72}"/>
              </a:ext>
            </a:extLst>
          </p:cNvPr>
          <p:cNvSpPr>
            <a:spLocks noGrp="1"/>
          </p:cNvSpPr>
          <p:nvPr/>
        </p:nvSpPr>
        <p:spPr>
          <a:xfrm>
            <a:off x="619125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>
              <a:ext uri="{FF2B5EF4-FFF2-40B4-BE49-F238E27FC236}">
                <a16:creationId xmlns:a16="http://schemas.microsoft.com/office/drawing/2014/main" id="{3088DAB4-B8F7-489D-AEF1-2306880D368C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096000" y="2305050"/>
            <a:ext cx="5095875" cy="2143125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B409CC20-55AD-4F5F-AC90-A373236221EB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Вариант Б: объясняем отличие и…">
            <a:extLst>
              <a:ext uri="{FF2B5EF4-FFF2-40B4-BE49-F238E27FC236}">
                <a16:creationId xmlns:a16="http://schemas.microsoft.com/office/drawing/2014/main" id="{6BA03DC1-9F11-4191-934D-C0DB0006566C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37720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ма">
            <a:extLst>
              <a:ext uri="{FF2B5EF4-FFF2-40B4-BE49-F238E27FC236}">
                <a16:creationId xmlns:a16="http://schemas.microsoft.com/office/drawing/2014/main" id="{9136A308-A233-465D-9A82-0CC4B5664744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98953AEE-9B71-4DE4-B74A-3F9FCFDFE8A5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CDA16370-3A90-4743-ABB9-8083791A949F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Export for Screens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0D1BE785-7119-4298-8C38-6474C991CBE9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2552D21-5897-494F-97C7-91181898C2BB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2CE5AB-51A5-4A37-98FC-35A1514D3922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6CBDEA59-C098-46C6-8B63-54AB5E0C0578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942F1EA9-DBD1-4743-8B38-3794B2D34C3E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l="7413" r="7413"/>
          <a:stretch>
            <a:fillRect/>
          </a:stretch>
        </p:blipFill>
        <p:spPr>
          <a:xfrm>
            <a:off x="619125" y="2286000"/>
            <a:ext cx="4762500" cy="314325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F23DCCC-B2AD-4D61-BB76-DE3B06A6B0B0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7073026-4A52-496A-9377-6881483858B0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2" name="1">
            <a:extLst>
              <a:ext uri="{FF2B5EF4-FFF2-40B4-BE49-F238E27FC236}">
                <a16:creationId xmlns:a16="http://schemas.microsoft.com/office/drawing/2014/main" id="{5C817BE2-600C-46BE-ADE9-D16A91C0B77E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>
              <a:ext uri="{FF2B5EF4-FFF2-40B4-BE49-F238E27FC236}">
                <a16:creationId xmlns:a16="http://schemas.microsoft.com/office/drawing/2014/main" id="{94281193-6E8C-44AD-812D-6577802BA2D1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6EBE923-5FF1-42AE-A425-CDB1DA499C7B}"/>
              </a:ext>
            </a:extLst>
          </p:cNvPr>
          <p:cNvSpPr>
            <a:spLocks noGrp="1"/>
          </p:cNvSpPr>
          <p:nvPr/>
        </p:nvSpPr>
        <p:spPr>
          <a:xfrm>
            <a:off x="5715000" y="30670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79FE6AA-9AC4-4D12-B7C8-1C36E396CB0B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6" name="2">
            <a:extLst>
              <a:ext uri="{FF2B5EF4-FFF2-40B4-BE49-F238E27FC236}">
                <a16:creationId xmlns:a16="http://schemas.microsoft.com/office/drawing/2014/main" id="{80A64D57-45C2-43CA-815B-ED465D83DE26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Empty state, icons, SVG/PNG export">
            <a:extLst>
              <a:ext uri="{FF2B5EF4-FFF2-40B4-BE49-F238E27FC236}">
                <a16:creationId xmlns:a16="http://schemas.microsoft.com/office/drawing/2014/main" id="{E1416F7D-52A1-41AD-B087-E31768A3D321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43E6E5B-C27B-4729-AEAA-F299468A2168}"/>
              </a:ext>
            </a:extLst>
          </p:cNvPr>
          <p:cNvSpPr>
            <a:spLocks noGrp="1"/>
          </p:cNvSpPr>
          <p:nvPr/>
        </p:nvSpPr>
        <p:spPr>
          <a:xfrm>
            <a:off x="5715000" y="38481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044D85D2-88BA-421B-9F85-6FBC25077748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0" name="3">
            <a:extLst>
              <a:ext uri="{FF2B5EF4-FFF2-40B4-BE49-F238E27FC236}">
                <a16:creationId xmlns:a16="http://schemas.microsoft.com/office/drawing/2014/main" id="{1CB1EAEB-931C-40F2-9785-86870364C5BB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Выбрать артборды">
            <a:extLst>
              <a:ext uri="{FF2B5EF4-FFF2-40B4-BE49-F238E27FC236}">
                <a16:creationId xmlns:a16="http://schemas.microsoft.com/office/drawing/2014/main" id="{76221DA8-BB6B-4710-A971-0CB3BA7291B9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Выбрать артборды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B85697A-F250-4FC5-B3C7-4B8D09F73BC3}"/>
              </a:ext>
            </a:extLst>
          </p:cNvPr>
          <p:cNvSpPr>
            <a:spLocks noGrp="1"/>
          </p:cNvSpPr>
          <p:nvPr/>
        </p:nvSpPr>
        <p:spPr>
          <a:xfrm>
            <a:off x="5715000" y="46291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0FBF490-D65C-43FF-B487-A0E6149466D4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4" name="4">
            <a:extLst>
              <a:ext uri="{FF2B5EF4-FFF2-40B4-BE49-F238E27FC236}">
                <a16:creationId xmlns:a16="http://schemas.microsoft.com/office/drawing/2014/main" id="{C3A0EC09-2F01-4D35-BEA2-4B39A9188CB4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Проверить формат SVG / PNG">
            <a:extLst>
              <a:ext uri="{FF2B5EF4-FFF2-40B4-BE49-F238E27FC236}">
                <a16:creationId xmlns:a16="http://schemas.microsoft.com/office/drawing/2014/main" id="{95D0D6EE-C0A8-47AA-BAEC-4B727AFB643B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 формат SVG / PNG</a:t>
            </a:r>
          </a:p>
        </p:txBody>
      </p:sp>
    </p:spTree>
    <p:extLst>
      <p:ext uri="{BB962C8B-B14F-4D97-AF65-F5344CB8AC3E}">
        <p14:creationId xmlns:p14="http://schemas.microsoft.com/office/powerpoint/2010/main" val="198381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ма">
            <a:extLst>
              <a:ext uri="{FF2B5EF4-FFF2-40B4-BE49-F238E27FC236}">
                <a16:creationId xmlns:a16="http://schemas.microsoft.com/office/drawing/2014/main" id="{8847DE7C-3D30-47C3-936E-988BC129B3B2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B2D080A1-156D-4ACD-90DC-7F6A0D2247FA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488C0864-C957-4879-92FC-0776C49EFA27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Naming: без устных подсказок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155F5322-FC55-43B5-A52C-A2AD02C96F3C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049727F-F8EB-4F4B-A1C6-25B9F37BA2F9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674CF4-B50F-466B-857F-EE054B96788F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98769326-96A8-4F39-B2FF-1311D20D01B1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05460E07-CB82-4A79-A58E-D6AE79E74BCE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19125" y="2266950"/>
            <a:ext cx="2476500" cy="1695450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8515D3ED-83BA-47BA-A906-4DCC4EED3236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Признак 1: что можно увидеть и…">
            <a:extLst>
              <a:ext uri="{FF2B5EF4-FFF2-40B4-BE49-F238E27FC236}">
                <a16:creationId xmlns:a16="http://schemas.microsoft.com/office/drawing/2014/main" id="{854603BF-3D36-44A2-A36F-F51CE5CBC8E6}"/>
              </a:ext>
            </a:extLst>
          </p:cNvPr>
          <p:cNvSpPr>
            <a:spLocks noGrp="1"/>
          </p:cNvSpPr>
          <p:nvPr/>
        </p:nvSpPr>
        <p:spPr>
          <a:xfrm>
            <a:off x="6191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3343275" y="2266950"/>
            <a:ext cx="2476500" cy="1695450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12E115AE-109E-4361-AA3B-339D516A063E}"/>
              </a:ext>
            </a:extLst>
          </p:cNvPr>
          <p:cNvSpPr>
            <a:spLocks noGrp="1"/>
          </p:cNvSpPr>
          <p:nvPr/>
        </p:nvSpPr>
        <p:spPr>
          <a:xfrm>
            <a:off x="33432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Признак 2: что можно увидеть и…">
            <a:extLst>
              <a:ext uri="{FF2B5EF4-FFF2-40B4-BE49-F238E27FC236}">
                <a16:creationId xmlns:a16="http://schemas.microsoft.com/office/drawing/2014/main" id="{5FEB036F-3FC8-479A-9FF4-99CF77364A55}"/>
              </a:ext>
            </a:extLst>
          </p:cNvPr>
          <p:cNvSpPr>
            <a:spLocks noGrp="1"/>
          </p:cNvSpPr>
          <p:nvPr/>
        </p:nvSpPr>
        <p:spPr>
          <a:xfrm>
            <a:off x="33432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6067425" y="2266950"/>
            <a:ext cx="2476500" cy="1695450"/>
          </a:xfrm>
          <a:prstGeom prst="rect">
            <a:avLst/>
          </a:prstGeom>
        </p:spPr>
      </p:pic>
      <p:sp>
        <p:nvSpPr>
          <p:cNvPr id="16" name="museum_hero.svg">
            <a:extLst>
              <a:ext uri="{FF2B5EF4-FFF2-40B4-BE49-F238E27FC236}">
                <a16:creationId xmlns:a16="http://schemas.microsoft.com/office/drawing/2014/main" id="{8DD6964B-5542-4AA3-B75D-FA2F0EDD8A0E}"/>
              </a:ext>
            </a:extLst>
          </p:cNvPr>
          <p:cNvSpPr>
            <a:spLocks noGrp="1"/>
          </p:cNvSpPr>
          <p:nvPr/>
        </p:nvSpPr>
        <p:spPr>
          <a:xfrm>
            <a:off x="606742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museum_hero.svg</a:t>
            </a:r>
          </a:p>
        </p:txBody>
      </p:sp>
      <p:sp>
        <p:nvSpPr>
          <p:cNvPr id="17" name="Признак 3: что можно увидеть и…">
            <a:extLst>
              <a:ext uri="{FF2B5EF4-FFF2-40B4-BE49-F238E27FC236}">
                <a16:creationId xmlns:a16="http://schemas.microsoft.com/office/drawing/2014/main" id="{B98EF447-6214-4FE6-A887-769753BDD768}"/>
              </a:ext>
            </a:extLst>
          </p:cNvPr>
          <p:cNvSpPr>
            <a:spLocks noGrp="1"/>
          </p:cNvSpPr>
          <p:nvPr/>
        </p:nvSpPr>
        <p:spPr>
          <a:xfrm>
            <a:off x="606742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3"/>
          <a:srcRect l="8945" r="8945"/>
          <a:stretch>
            <a:fillRect/>
          </a:stretch>
        </p:blipFill>
        <p:spPr>
          <a:xfrm>
            <a:off x="8791575" y="2266950"/>
            <a:ext cx="2476500" cy="1695450"/>
          </a:xfrm>
          <a:prstGeom prst="rect">
            <a:avLst/>
          </a:prstGeom>
        </p:spPr>
      </p:pic>
      <p:sp>
        <p:nvSpPr>
          <p:cNvPr id="19" name="museum_empty_state.svg">
            <a:extLst>
              <a:ext uri="{FF2B5EF4-FFF2-40B4-BE49-F238E27FC236}">
                <a16:creationId xmlns:a16="http://schemas.microsoft.com/office/drawing/2014/main" id="{115C669E-8CED-4B4B-9291-7F6786E82FCA}"/>
              </a:ext>
            </a:extLst>
          </p:cNvPr>
          <p:cNvSpPr>
            <a:spLocks noGrp="1"/>
          </p:cNvSpPr>
          <p:nvPr/>
        </p:nvSpPr>
        <p:spPr>
          <a:xfrm>
            <a:off x="8791575" y="40957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museum_empty_state.svg</a:t>
            </a:r>
          </a:p>
        </p:txBody>
      </p:sp>
      <p:sp>
        <p:nvSpPr>
          <p:cNvPr id="20" name="Признак 4: что можно увидеть и…">
            <a:extLst>
              <a:ext uri="{FF2B5EF4-FFF2-40B4-BE49-F238E27FC236}">
                <a16:creationId xmlns:a16="http://schemas.microsoft.com/office/drawing/2014/main" id="{96F464E4-5568-412A-932B-F015006A7131}"/>
              </a:ext>
            </a:extLst>
          </p:cNvPr>
          <p:cNvSpPr>
            <a:spLocks noGrp="1"/>
          </p:cNvSpPr>
          <p:nvPr/>
        </p:nvSpPr>
        <p:spPr>
          <a:xfrm>
            <a:off x="8791575" y="50101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2124813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ма">
            <a:extLst>
              <a:ext uri="{FF2B5EF4-FFF2-40B4-BE49-F238E27FC236}">
                <a16:creationId xmlns:a16="http://schemas.microsoft.com/office/drawing/2014/main" id="{D7B1342C-2194-422D-9C9F-82C68FC8D977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D77F1A38-1900-41A6-B552-5FE004FA50CB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4DF95107-AEF3-43E9-BB14-A16B2F458CD3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QA после экспорта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975E5065-D54E-4EC7-B619-3D82A8194AEC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D957B39-12C3-43C2-BBD5-9F882CEE81AF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764827-FCAF-4B56-83AA-7484099A736F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2024DF4C-EB4D-477F-BA03-9A6033A0A0C7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61489517-4288-40DF-964A-DD9A8B6F1253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rcRect t="12593" b="12593"/>
          <a:stretch>
            <a:fillRect/>
          </a:stretch>
        </p:blipFill>
        <p:spPr>
          <a:xfrm>
            <a:off x="619125" y="2305050"/>
            <a:ext cx="5095875" cy="2143125"/>
          </a:xfrm>
          <a:prstGeom prst="rect">
            <a:avLst/>
          </a:prstGeom>
        </p:spPr>
      </p:pic>
      <p:sp>
        <p:nvSpPr>
          <p:cNvPr id="10" name="Illustrator · Музей забытых вещей">
            <a:extLst>
              <a:ext uri="{FF2B5EF4-FFF2-40B4-BE49-F238E27FC236}">
                <a16:creationId xmlns:a16="http://schemas.microsoft.com/office/drawing/2014/main" id="{DBAB471C-9E18-41C0-9634-1B738C62D705}"/>
              </a:ext>
            </a:extLst>
          </p:cNvPr>
          <p:cNvSpPr>
            <a:spLocks noGrp="1"/>
          </p:cNvSpPr>
          <p:nvPr/>
        </p:nvSpPr>
        <p:spPr>
          <a:xfrm>
            <a:off x="619125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1" name="Вариант А: называем условие и…">
            <a:extLst>
              <a:ext uri="{FF2B5EF4-FFF2-40B4-BE49-F238E27FC236}">
                <a16:creationId xmlns:a16="http://schemas.microsoft.com/office/drawing/2014/main" id="{7628B2C0-9E6F-439C-91A4-235E60F77717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rcRect t="12593" b="12593"/>
          <a:stretch>
            <a:fillRect/>
          </a:stretch>
        </p:blipFill>
        <p:spPr>
          <a:xfrm>
            <a:off x="6096000" y="2305050"/>
            <a:ext cx="5095875" cy="2143125"/>
          </a:xfrm>
          <a:prstGeom prst="rect">
            <a:avLst/>
          </a:prstGeom>
        </p:spPr>
      </p:pic>
      <p:sp>
        <p:nvSpPr>
          <p:cNvPr id="13" name="Empty state, icons, SVG/PNG export">
            <a:extLst>
              <a:ext uri="{FF2B5EF4-FFF2-40B4-BE49-F238E27FC236}">
                <a16:creationId xmlns:a16="http://schemas.microsoft.com/office/drawing/2014/main" id="{F71FFAD7-2650-46D9-BBD0-86A3742107DC}"/>
              </a:ext>
            </a:extLst>
          </p:cNvPr>
          <p:cNvSpPr>
            <a:spLocks noGrp="1"/>
          </p:cNvSpPr>
          <p:nvPr/>
        </p:nvSpPr>
        <p:spPr>
          <a:xfrm>
            <a:off x="6096000" y="4581525"/>
            <a:ext cx="5095875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4" name="Вариант Б: объясняем отличие и…">
            <a:extLst>
              <a:ext uri="{FF2B5EF4-FFF2-40B4-BE49-F238E27FC236}">
                <a16:creationId xmlns:a16="http://schemas.microsoft.com/office/drawing/2014/main" id="{0817E5B9-3E56-44F6-A13D-5A02F2107911}"/>
              </a:ext>
            </a:extLst>
          </p:cNvPr>
          <p:cNvSpPr>
            <a:spLocks noGrp="1"/>
          </p:cNvSpPr>
          <p:nvPr/>
        </p:nvSpPr>
        <p:spPr>
          <a:xfrm>
            <a:off x="6096000" y="52197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200872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ма">
            <a:extLst>
              <a:ext uri="{FF2B5EF4-FFF2-40B4-BE49-F238E27FC236}">
                <a16:creationId xmlns:a16="http://schemas.microsoft.com/office/drawing/2014/main" id="{3DC7C287-C681-49F7-A8FA-75CA86754970}"/>
              </a:ext>
            </a:extLst>
          </p:cNvPr>
          <p:cNvSpPr>
            <a:spLocks noGrp="1"/>
          </p:cNvSpPr>
          <p:nvPr/>
        </p:nvSpPr>
        <p:spPr>
          <a:xfrm>
            <a:off x="619125" y="257175"/>
            <a:ext cx="7810500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Web Illustration Pack export</a:t>
            </a:r>
          </a:p>
        </p:txBody>
      </p:sp>
      <p:sp>
        <p:nvSpPr>
          <p:cNvPr id="2" name="Бренд">
            <a:extLst>
              <a:ext uri="{FF2B5EF4-FFF2-40B4-BE49-F238E27FC236}">
                <a16:creationId xmlns:a16="http://schemas.microsoft.com/office/drawing/2014/main" id="{243663AB-4213-43A8-B213-D037661BAC4B}"/>
              </a:ext>
            </a:extLst>
          </p:cNvPr>
          <p:cNvSpPr>
            <a:spLocks noGrp="1"/>
          </p:cNvSpPr>
          <p:nvPr/>
        </p:nvSpPr>
        <p:spPr>
          <a:xfrm>
            <a:off x="10572750" y="257175"/>
            <a:ext cx="1000125" cy="209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>
              <a:ext uri="{FF2B5EF4-FFF2-40B4-BE49-F238E27FC236}">
                <a16:creationId xmlns:a16="http://schemas.microsoft.com/office/drawing/2014/main" id="{13126231-AA54-4FB5-AC5E-6977C8117E93}"/>
              </a:ext>
            </a:extLst>
          </p:cNvPr>
          <p:cNvSpPr>
            <a:spLocks noGrp="1"/>
          </p:cNvSpPr>
          <p:nvPr/>
        </p:nvSpPr>
        <p:spPr>
          <a:xfrm>
            <a:off x="619125" y="733425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 и мост к П043</a:t>
            </a:r>
          </a:p>
        </p:txBody>
      </p:sp>
      <p:sp>
        <p:nvSpPr>
          <p:cNvPr id="4" name="Illustrator · Музей забытых вещей">
            <a:extLst>
              <a:ext uri="{FF2B5EF4-FFF2-40B4-BE49-F238E27FC236}">
                <a16:creationId xmlns:a16="http://schemas.microsoft.com/office/drawing/2014/main" id="{9392EA83-4B5A-40FE-BF15-23E51677336D}"/>
              </a:ext>
            </a:extLst>
          </p:cNvPr>
          <p:cNvSpPr>
            <a:spLocks noGrp="1"/>
          </p:cNvSpPr>
          <p:nvPr/>
        </p:nvSpPr>
        <p:spPr>
          <a:xfrm>
            <a:off x="619125" y="1495425"/>
            <a:ext cx="10810875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3525B1B-D11F-4AA8-BDD0-BB49C06D92C5}"/>
              </a:ext>
            </a:extLst>
          </p:cNvPr>
          <p:cNvSpPr>
            <a:spLocks noGrp="1"/>
          </p:cNvSpPr>
          <p:nvPr/>
        </p:nvSpPr>
        <p:spPr>
          <a:xfrm>
            <a:off x="619125" y="6153150"/>
            <a:ext cx="10953750" cy="457200"/>
          </a:xfrm>
          <a:prstGeom prst="roundRect">
            <a:avLst>
              <a:gd name="adj" fmla="val 29167"/>
            </a:avLst>
          </a:prstGeom>
          <a:solidFill>
            <a:srgbClr val="10161A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A412F59-8333-472D-9D5B-BD9D19645E9B}"/>
              </a:ext>
            </a:extLst>
          </p:cNvPr>
          <p:cNvSpPr>
            <a:spLocks noGrp="1"/>
          </p:cNvSpPr>
          <p:nvPr/>
        </p:nvSpPr>
        <p:spPr>
          <a:xfrm>
            <a:off x="723900" y="6267450"/>
            <a:ext cx="38100" cy="238125"/>
          </a:xfrm>
          <a:prstGeom prst="rect">
            <a:avLst/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7" name="Вывод">
            <a:extLst>
              <a:ext uri="{FF2B5EF4-FFF2-40B4-BE49-F238E27FC236}">
                <a16:creationId xmlns:a16="http://schemas.microsoft.com/office/drawing/2014/main" id="{4F34A9A2-3B28-4548-9F3A-E392B009B829}"/>
              </a:ext>
            </a:extLst>
          </p:cNvPr>
          <p:cNvSpPr>
            <a:spLocks noGrp="1"/>
          </p:cNvSpPr>
          <p:nvPr/>
        </p:nvSpPr>
        <p:spPr>
          <a:xfrm>
            <a:off x="923925" y="6219825"/>
            <a:ext cx="103632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П042 · Illustrator: Web Illustration Pack</a:t>
            </a:r>
          </a:p>
        </p:txBody>
      </p:sp>
      <p:sp>
        <p:nvSpPr>
          <p:cNvPr id="8" name="Номер">
            <a:extLst>
              <a:ext uri="{FF2B5EF4-FFF2-40B4-BE49-F238E27FC236}">
                <a16:creationId xmlns:a16="http://schemas.microsoft.com/office/drawing/2014/main" id="{C0606D6B-F6D4-476D-9B48-EB1D339C70DD}"/>
              </a:ext>
            </a:extLst>
          </p:cNvPr>
          <p:cNvSpPr>
            <a:spLocks noGrp="1"/>
          </p:cNvSpPr>
          <p:nvPr/>
        </p:nvSpPr>
        <p:spPr>
          <a:xfrm>
            <a:off x="11525250" y="6515100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l="7413" r="7413"/>
          <a:stretch>
            <a:fillRect/>
          </a:stretch>
        </p:blipFill>
        <p:spPr>
          <a:xfrm>
            <a:off x="619125" y="2286000"/>
            <a:ext cx="4762500" cy="314325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93CF554-0E3E-4AD9-A6BD-15CCD072D6BD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BCFC983-A9CB-4D0C-BB91-019B0BFF4211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2" name="1">
            <a:extLst>
              <a:ext uri="{FF2B5EF4-FFF2-40B4-BE49-F238E27FC236}">
                <a16:creationId xmlns:a16="http://schemas.microsoft.com/office/drawing/2014/main" id="{A01E8A62-597C-46B8-8C03-87B09AE34C1B}"/>
              </a:ext>
            </a:extLst>
          </p:cNvPr>
          <p:cNvSpPr>
            <a:spLocks noGrp="1"/>
          </p:cNvSpPr>
          <p:nvPr/>
        </p:nvSpPr>
        <p:spPr>
          <a:xfrm>
            <a:off x="5867400" y="24098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Illustrator · Музей забытых вещей">
            <a:extLst>
              <a:ext uri="{FF2B5EF4-FFF2-40B4-BE49-F238E27FC236}">
                <a16:creationId xmlns:a16="http://schemas.microsoft.com/office/drawing/2014/main" id="{6C17C436-1114-4A9B-A7AE-1F5DB196D3FA}"/>
              </a:ext>
            </a:extLst>
          </p:cNvPr>
          <p:cNvSpPr>
            <a:spLocks noGrp="1"/>
          </p:cNvSpPr>
          <p:nvPr/>
        </p:nvSpPr>
        <p:spPr>
          <a:xfrm>
            <a:off x="6381750" y="23622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Illustrator · Музей забытых вещей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3582AFF-672C-4621-A791-02C9C042AA92}"/>
              </a:ext>
            </a:extLst>
          </p:cNvPr>
          <p:cNvSpPr>
            <a:spLocks noGrp="1"/>
          </p:cNvSpPr>
          <p:nvPr/>
        </p:nvSpPr>
        <p:spPr>
          <a:xfrm>
            <a:off x="5715000" y="30670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CCE787D-8BFD-4338-A474-127939275741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16" name="2">
            <a:extLst>
              <a:ext uri="{FF2B5EF4-FFF2-40B4-BE49-F238E27FC236}">
                <a16:creationId xmlns:a16="http://schemas.microsoft.com/office/drawing/2014/main" id="{ACC85ACE-173C-4FAF-A1EB-C5B20CD886FB}"/>
              </a:ext>
            </a:extLst>
          </p:cNvPr>
          <p:cNvSpPr>
            <a:spLocks noGrp="1"/>
          </p:cNvSpPr>
          <p:nvPr/>
        </p:nvSpPr>
        <p:spPr>
          <a:xfrm>
            <a:off x="5867400" y="3190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Empty state, icons, SVG/PNG export">
            <a:extLst>
              <a:ext uri="{FF2B5EF4-FFF2-40B4-BE49-F238E27FC236}">
                <a16:creationId xmlns:a16="http://schemas.microsoft.com/office/drawing/2014/main" id="{E6678C0F-FE60-47DD-AE9C-D0683CD01444}"/>
              </a:ext>
            </a:extLst>
          </p:cNvPr>
          <p:cNvSpPr>
            <a:spLocks noGrp="1"/>
          </p:cNvSpPr>
          <p:nvPr/>
        </p:nvSpPr>
        <p:spPr>
          <a:xfrm>
            <a:off x="6381750" y="31432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Empty state, icons, SVG/PNG export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AA846E3-1ED3-41E8-88C7-1A39234608A0}"/>
              </a:ext>
            </a:extLst>
          </p:cNvPr>
          <p:cNvSpPr>
            <a:spLocks noGrp="1"/>
          </p:cNvSpPr>
          <p:nvPr/>
        </p:nvSpPr>
        <p:spPr>
          <a:xfrm>
            <a:off x="5715000" y="384810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1B176D1-5226-49A7-94D8-825D8C14BF78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0" name="3">
            <a:extLst>
              <a:ext uri="{FF2B5EF4-FFF2-40B4-BE49-F238E27FC236}">
                <a16:creationId xmlns:a16="http://schemas.microsoft.com/office/drawing/2014/main" id="{CA889C46-5307-48C3-828D-6FA6A6DF4387}"/>
              </a:ext>
            </a:extLst>
          </p:cNvPr>
          <p:cNvSpPr>
            <a:spLocks noGrp="1"/>
          </p:cNvSpPr>
          <p:nvPr/>
        </p:nvSpPr>
        <p:spPr>
          <a:xfrm>
            <a:off x="5867400" y="397192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Готов финальный illustration pack">
            <a:extLst>
              <a:ext uri="{FF2B5EF4-FFF2-40B4-BE49-F238E27FC236}">
                <a16:creationId xmlns:a16="http://schemas.microsoft.com/office/drawing/2014/main" id="{AC128BFF-38C3-4E23-9820-51391CB6F78C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Готов финальный illustration pack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CB629625-77B1-4B61-BBFF-AD88E87FF9B2}"/>
              </a:ext>
            </a:extLst>
          </p:cNvPr>
          <p:cNvSpPr>
            <a:spLocks noGrp="1"/>
          </p:cNvSpPr>
          <p:nvPr/>
        </p:nvSpPr>
        <p:spPr>
          <a:xfrm>
            <a:off x="5715000" y="4629150"/>
            <a:ext cx="5857875" cy="647700"/>
          </a:xfrm>
          <a:prstGeom prst="roundRect">
            <a:avLst>
              <a:gd name="adj" fmla="val 20588"/>
            </a:avLst>
          </a:prstGeom>
          <a:solidFill>
            <a:srgbClr val="11171B"/>
          </a:solidFill>
          <a:ln w="11430">
            <a:solidFill>
              <a:srgbClr val="38424D"/>
            </a:solidFill>
            <a:prstDash val="solid"/>
          </a:ln>
        </p:spPr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FA104F0-5114-4F5F-A832-B615C7D0C5BC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oundRect">
            <a:avLst>
              <a:gd name="adj" fmla="val 36842"/>
            </a:avLst>
          </a:prstGeom>
          <a:solidFill>
            <a:srgbClr val="FF4158"/>
          </a:solidFill>
          <a:ln w="0">
            <a:noFill/>
            <a:prstDash val="solid"/>
          </a:ln>
        </p:spPr>
      </p:sp>
      <p:sp>
        <p:nvSpPr>
          <p:cNvPr id="24" name="4">
            <a:extLst>
              <a:ext uri="{FF2B5EF4-FFF2-40B4-BE49-F238E27FC236}">
                <a16:creationId xmlns:a16="http://schemas.microsoft.com/office/drawing/2014/main" id="{A7D9A6CF-D0FE-4EA4-B484-2DFCCF085B9C}"/>
              </a:ext>
            </a:extLst>
          </p:cNvPr>
          <p:cNvSpPr>
            <a:spLocks noGrp="1"/>
          </p:cNvSpPr>
          <p:nvPr/>
        </p:nvSpPr>
        <p:spPr>
          <a:xfrm>
            <a:off x="5867400" y="47529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Файлы можно передать другому…">
            <a:extLst>
              <a:ext uri="{FF2B5EF4-FFF2-40B4-BE49-F238E27FC236}">
                <a16:creationId xmlns:a16="http://schemas.microsoft.com/office/drawing/2014/main" id="{6093D99F-E55C-46F2-A6F7-5F54A35B0940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Файлы можно передать другому человеку</a:t>
            </a:r>
          </a:p>
        </p:txBody>
      </p:sp>
    </p:spTree>
    <p:extLst>
      <p:ext uri="{BB962C8B-B14F-4D97-AF65-F5344CB8AC3E}">
        <p14:creationId xmlns:p14="http://schemas.microsoft.com/office/powerpoint/2010/main" val="17690594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1674</Words>
  <Application>Microsoft Office PowerPoint</Application>
  <DocSecurity>0</DocSecurity>
  <PresentationFormat>Широкоэкранный</PresentationFormat>
  <Paragraphs>274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VAN SMITH</cp:lastModifiedBy>
  <cp:revision>1</cp:revision>
  <dcterms:created xsi:type="dcterms:W3CDTF">2026-09-13T13:18:49Z</dcterms:created>
  <dcterms:modified xsi:type="dcterms:W3CDTF">2026-09-13T13:30:50Z</dcterms:modified>
</cp:coreProperties>
</file>