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de_minimalist_flat_soft_shaded_vector_illustrati.png"/>
          <p:cNvPicPr>
            <a:picLocks noChangeAspect="1"/>
          </p:cNvPicPr>
          <p:nvPr/>
        </p:nvPicPr>
        <p:blipFill>
          <a:blip r:embed="rId2"/>
          <a:srcRect l="16870" r="16870"/>
          <a:stretch>
            <a:fillRect/>
          </a:stretch>
        </p:blipFill>
        <p:spPr>
          <a:xfrm>
            <a:off x="4114800" y="0"/>
            <a:ext cx="8074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C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100" b="1">
                <a:solidFill>
                  <a:srgbClr val="F4F6F8"/>
                </a:solidFill>
                <a:latin typeface="Aptos"/>
              </a:rPr>
              <a:t>Хекслет Колледж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F4F6F8"/>
                </a:solidFill>
                <a:latin typeface="Aptos"/>
              </a:rPr>
              <a:t>ПМ1 · Сканирование и обработка
графической информации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4F6F8"/>
                </a:solidFill>
                <a:latin typeface="Aptos"/>
              </a:rPr>
              <a:t>Занятие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200" b="1">
                <a:solidFill>
                  <a:srgbClr val="F4F6F8"/>
                </a:solidFill>
                <a:latin typeface="Aptos"/>
              </a:rPr>
              <a:t>Components, Instances, Variants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15968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4F6F8"/>
                </a:solidFill>
                <a:latin typeface="Aptos"/>
              </a:rPr>
              <a:t>Одна кнопка как система, а не копии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A5AEB5"/>
                </a:solidFill>
                <a:latin typeface="Aptos"/>
              </a:rPr>
              <a:t>люди · идеи · инструменты · изображения · проекты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Сегодня: кнопка как 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Main component → Instance → Properties → 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Не размножаем несвязанные копии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Создаём main component и instances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Состояния оформляем через variants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828800"/>
            <a:ext cx="5486400" cy="237744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0116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Aptos"/>
              </a:rPr>
              <a:t>Main component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377440"/>
            <a:ext cx="1280160" cy="38404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2519172"/>
            <a:ext cx="113385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Button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24028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235458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08483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265176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276606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Купить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49631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59" y="3063240"/>
            <a:ext cx="1170432" cy="329184"/>
          </a:xfrm>
          <a:prstGeom prst="roundRect">
            <a:avLst/>
          </a:prstGeom>
          <a:solidFill>
            <a:srgbClr val="67707A"/>
          </a:solidFill>
          <a:ln w="12700">
            <a:solidFill>
              <a:srgbClr val="67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0111" y="317754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Открыть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290779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79208" y="2578608"/>
            <a:ext cx="457200" cy="0"/>
          </a:xfrm>
          <a:prstGeom prst="line">
            <a:avLst/>
          </a:prstGeom>
          <a:ln w="1524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97880" y="3886200"/>
            <a:ext cx="51206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override сохраняет связь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компонент нужен, чтобы управлять системой, а не копировать кнопку вручную.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Проблема копий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Визуально одинаково, технически — хаос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Копии не обновляются от main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Разные радиусы и padding быстро расходятся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Исправление одной кнопки не чинит остальные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338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04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340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706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5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342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08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338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04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704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0176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340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06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06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06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706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0375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342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08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08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708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0576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несвязанные копии выглядят быстро, но разрушают поддержку интерфейса.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Main component и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Главный объект и связанные экземпляры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Main component хранит базовую структуру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Instance наследует изменения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Override меняет локально, но не разрывает связь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828800"/>
            <a:ext cx="5486400" cy="237744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0116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Aptos"/>
              </a:rPr>
              <a:t>Main component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377440"/>
            <a:ext cx="1280160" cy="38404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2519172"/>
            <a:ext cx="113385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Button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24028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235458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08483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265176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276606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Купить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49631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59" y="3063240"/>
            <a:ext cx="1170432" cy="329184"/>
          </a:xfrm>
          <a:prstGeom prst="roundRect">
            <a:avLst/>
          </a:prstGeom>
          <a:solidFill>
            <a:srgbClr val="67707A"/>
          </a:solidFill>
          <a:ln w="12700">
            <a:solidFill>
              <a:srgbClr val="67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0111" y="317754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Открыть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290779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79208" y="2578608"/>
            <a:ext cx="457200" cy="0"/>
          </a:xfrm>
          <a:prstGeom prst="line">
            <a:avLst/>
          </a:prstGeom>
          <a:ln w="1524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97880" y="3886200"/>
            <a:ext cx="51206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override сохраняет связь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main component управляет системой, instance использует её в реальном макете.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Создание компонента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Select layers → Create component / Ctrl+Alt+K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Выделяем готовую кнопку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Создаём компонент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Переименовываем понятно: Button/Primary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295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3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932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8932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095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496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8583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583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583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583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22007" y="2103120"/>
            <a:ext cx="2011680" cy="132588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599" y="2267712"/>
            <a:ext cx="704088" cy="996695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8704" y="2340863"/>
            <a:ext cx="112654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78607"/>
            <a:ext cx="11265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3026663"/>
            <a:ext cx="112654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18704" y="3273551"/>
            <a:ext cx="11265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364991"/>
            <a:ext cx="9070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103120"/>
            <a:ext cx="1417320" cy="141732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219456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Layout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2514600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8048" y="2944368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28048" y="3374136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286207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компонент начинается с чистой структуры и нормального имени, а не с случайной группы.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Assets и вставка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Assets tab слева → выбрать component → Insert/drag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Instance можно вставить из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Можно дублировать уже вставленный instance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Важно не detach без причины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691640"/>
            <a:ext cx="5257800" cy="29718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691640"/>
            <a:ext cx="658368" cy="29718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11512" y="1691640"/>
            <a:ext cx="1298448" cy="2971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0528" y="4315968"/>
            <a:ext cx="330098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80136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82880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1592" y="182880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6080760" y="207568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80760" y="238658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80760" y="269748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80760" y="300837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80760" y="331927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2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100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4108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94392" y="216712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94392" y="245973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94392" y="275234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94392" y="304495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94392" y="333756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481888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A5AEB5"/>
                </a:solidFill>
                <a:latin typeface="Aptos"/>
              </a:rPr>
              <a:t>navigation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98348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toolbar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81888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properties panel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instance берётся из системы компонентов и сохраняет связь с главным элементом.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Проверка связи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Меняем radius/padding в main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Изменили main — instances обновились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Поменяли label в instance — это override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Структура остаётся общей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828800"/>
            <a:ext cx="5486400" cy="237744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0116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Aptos"/>
              </a:rPr>
              <a:t>Main component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377440"/>
            <a:ext cx="1280160" cy="38404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2519172"/>
            <a:ext cx="113385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Button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24028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235458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08483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265176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276606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Купить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49631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59" y="3063240"/>
            <a:ext cx="1170432" cy="329184"/>
          </a:xfrm>
          <a:prstGeom prst="roundRect">
            <a:avLst/>
          </a:prstGeom>
          <a:solidFill>
            <a:srgbClr val="67707A"/>
          </a:solidFill>
          <a:ln w="12700">
            <a:solidFill>
              <a:srgbClr val="67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0111" y="317754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Открыть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290779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79208" y="2578608"/>
            <a:ext cx="457200" cy="0"/>
          </a:xfrm>
          <a:prstGeom prst="line">
            <a:avLst/>
          </a:prstGeom>
          <a:ln w="1524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97880" y="3886200"/>
            <a:ext cx="51206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override сохраняет связь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связь доказывается простым тестом — меняем main component и смотрим instances.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Component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Пять типов свойств в текущей Figma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Text — управляемая надпись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Boolean — показать/скрыть слой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Instance swap — заменить вложенный 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Variant — выбрать состояние/размер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98848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98848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Slot — гибкая область для содержимого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4867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4807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23" name="Oval 22"/>
          <p:cNvSpPr/>
          <p:nvPr/>
        </p:nvSpPr>
        <p:spPr>
          <a:xfrm>
            <a:off x="603504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3504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951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19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352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552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53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953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3155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3155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3155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3155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3155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50607" y="2880360"/>
            <a:ext cx="1188720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59" y="2994660"/>
            <a:ext cx="104241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224028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85248" y="226771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Text: Label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1240" y="256032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85248" y="258775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Boolean: Icon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21240" y="288036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5248" y="2907791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Variant: State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21240" y="320040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85248" y="322783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Instance swap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40" y="352044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85248" y="354787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Slot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component properties показывают, что именно можно безопасно менять в instance.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Text и Boolean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Минимум для понятной кнопки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Label выносим в Text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Icon можно включать через Boolean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Студент меняет свойства справа, не ломая слой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4867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4807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951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19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3155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3155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155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3155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3155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50607" y="2880360"/>
            <a:ext cx="1188720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2994660"/>
            <a:ext cx="104241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224028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5248" y="226771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Text: Label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40" y="256032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85248" y="258775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Boolean: Icon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288036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85248" y="2907791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Variant: State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1240" y="320040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85248" y="322783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Instance swap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21240" y="352044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5248" y="354787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Slot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Text и Boolean делают instance управляемым без ручного редактирования структуры.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Variants: состояния кнопки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Default / Hover / Pressed / Disabled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Состояния должны иметь одинаковую геометрию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Изменяем цвет, фон, обводку, но не ломаем размер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State — нормальное имя property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560320"/>
            <a:ext cx="777240" cy="23774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2560320"/>
            <a:ext cx="777240" cy="237744"/>
          </a:xfrm>
          <a:prstGeom prst="roundRect">
            <a:avLst/>
          </a:prstGeom>
          <a:solidFill>
            <a:srgbClr val="6448DC"/>
          </a:solidFill>
          <a:ln w="12700">
            <a:solidFill>
              <a:srgbClr val="64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Hover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Hover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0" y="2560320"/>
            <a:ext cx="777240" cy="237744"/>
          </a:xfrm>
          <a:prstGeom prst="roundRect">
            <a:avLst/>
          </a:prstGeom>
          <a:solidFill>
            <a:srgbClr val="482DBE"/>
          </a:solidFill>
          <a:ln w="12700">
            <a:solidFill>
              <a:srgbClr val="482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Pressed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Pressed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87000" y="2560320"/>
            <a:ext cx="777240" cy="237744"/>
          </a:xfrm>
          <a:prstGeom prst="roundRect">
            <a:avLst/>
          </a:prstGeom>
          <a:solidFill>
            <a:srgbClr val="5E6770"/>
          </a:solidFill>
          <a:ln w="12700"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015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Disabled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727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Disabled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47472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F4F6F8"/>
                </a:solidFill>
                <a:latin typeface="Aptos"/>
              </a:rPr>
              <a:t>State = Default / Hover / Pressed / Disabled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variants описывают состояния одного компонента, а не набор случайных копий.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Combine as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Компоненты объединяются в component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Выделяем состояния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Combine as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Называем property: State, Size,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560320"/>
            <a:ext cx="777240" cy="23774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2560320"/>
            <a:ext cx="777240" cy="237744"/>
          </a:xfrm>
          <a:prstGeom prst="roundRect">
            <a:avLst/>
          </a:prstGeom>
          <a:solidFill>
            <a:srgbClr val="6448DC"/>
          </a:solidFill>
          <a:ln w="12700">
            <a:solidFill>
              <a:srgbClr val="64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Hover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Hover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0" y="2560320"/>
            <a:ext cx="777240" cy="237744"/>
          </a:xfrm>
          <a:prstGeom prst="roundRect">
            <a:avLst/>
          </a:prstGeom>
          <a:solidFill>
            <a:srgbClr val="482DBE"/>
          </a:solidFill>
          <a:ln w="12700">
            <a:solidFill>
              <a:srgbClr val="482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Pressed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Pressed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87000" y="2560320"/>
            <a:ext cx="777240" cy="237744"/>
          </a:xfrm>
          <a:prstGeom prst="roundRect">
            <a:avLst/>
          </a:prstGeom>
          <a:solidFill>
            <a:srgbClr val="5E6770"/>
          </a:solidFill>
          <a:ln w="12700"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015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Disabled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727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Disabled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47472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F4F6F8"/>
                </a:solidFill>
                <a:latin typeface="Aptos"/>
              </a:rPr>
              <a:t>State = Default / Hover / Pressed / Disabled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component set появляется тогда, когда у одного элемента есть несколько управляемых вариантов.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Не оставлять Variant1 / Property2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Имена свойств должны объяснять смысл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Плохо: Variant1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Хорошо: State=Hover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Хорошо: Size=Small / Medium / Large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Хорошо: Type=Primary / Secondary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4867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4807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504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19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52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52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155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3155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3155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3155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3155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50607" y="2880360"/>
            <a:ext cx="1188720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2994660"/>
            <a:ext cx="104241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40" y="224028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85248" y="226771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Text: Label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256032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85248" y="258775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Boolean: Icon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1240" y="288036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85248" y="2907791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Variant: State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21240" y="320040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5248" y="322783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Instance swap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21240" y="352044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85248" y="354787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Slot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понятные названия свойств важнее красивого внешнего вида компонента.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Практика: Button component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State + Label + instances в двух карточках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Создать Button/Primary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Собрать State: Default/Hover/Pressed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Добавить Text property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Вставить два instances и поменять только свойства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828800"/>
            <a:ext cx="5486400" cy="237744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20116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Aptos"/>
              </a:rPr>
              <a:t>Main component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377440"/>
            <a:ext cx="1280160" cy="38404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2519172"/>
            <a:ext cx="113385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Button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24028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235458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08483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19" y="265176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276606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Купить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49631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59" y="3063240"/>
            <a:ext cx="1170432" cy="329184"/>
          </a:xfrm>
          <a:prstGeom prst="roundRect">
            <a:avLst/>
          </a:prstGeom>
          <a:solidFill>
            <a:srgbClr val="67707A"/>
          </a:solidFill>
          <a:ln w="12700">
            <a:solidFill>
              <a:srgbClr val="67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1" y="317754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Открыть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290779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9208" y="2578608"/>
            <a:ext cx="457200" cy="0"/>
          </a:xfrm>
          <a:prstGeom prst="line">
            <a:avLst/>
          </a:prstGeom>
          <a:ln w="1524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97880" y="3886200"/>
            <a:ext cx="51206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override сохраняет связь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практика закрепляет компонент как систему повторного использования.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Самостоятельно: Disabled и 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Четвёртое состояние + опциональное свойство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Добавить Disabled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Опционально: Icon true/false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Не делать отдельный компонент на каждую комбинацию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Разделять характеристики: State, Size,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2560320"/>
            <a:ext cx="777240" cy="23774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Default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52360" y="2560320"/>
            <a:ext cx="777240" cy="237744"/>
          </a:xfrm>
          <a:prstGeom prst="roundRect">
            <a:avLst/>
          </a:prstGeom>
          <a:solidFill>
            <a:srgbClr val="6448DC"/>
          </a:solidFill>
          <a:ln w="12700">
            <a:solidFill>
              <a:srgbClr val="64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Hover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Hover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0" y="2560320"/>
            <a:ext cx="777240" cy="237744"/>
          </a:xfrm>
          <a:prstGeom prst="roundRect">
            <a:avLst/>
          </a:prstGeom>
          <a:solidFill>
            <a:srgbClr val="482DBE"/>
          </a:solidFill>
          <a:ln w="12700">
            <a:solidFill>
              <a:srgbClr val="482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Pressed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Pressed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87000" y="2560320"/>
            <a:ext cx="777240" cy="237744"/>
          </a:xfrm>
          <a:prstGeom prst="roundRect">
            <a:avLst/>
          </a:prstGeom>
          <a:solidFill>
            <a:srgbClr val="5E6770"/>
          </a:solidFill>
          <a:ln w="12700"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Disabled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Disabled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47472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F4F6F8"/>
                </a:solidFill>
                <a:latin typeface="Aptos"/>
              </a:rPr>
              <a:t>State = Default / Hover / Pressed / Disabled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самостоятельная часть учит управлять сложностью через свойства, а не через взрыв variants.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Типичные ошибки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Копии, случайные имена, слишком много 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Кнопка копируется вручную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Instance detached без причины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Variant1 / Property2 не переименованы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Комбинаций стало слишком много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96596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00253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Gap/Padding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46888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0545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49631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Hug/Fill/Fixed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97180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00837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9923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Main+Instances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47472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351129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0215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Desktop/Mobile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3977639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401421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00507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ошибки компонента видны по тому, насколько трудно изменить систему без ручного ремонта.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Итог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Components + properties + 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Кнопка стала main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 макете используются instances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Есть State и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Изменение main component обновляет instances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828800"/>
            <a:ext cx="5486400" cy="237744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20116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Aptos"/>
              </a:rPr>
              <a:t>Main component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377440"/>
            <a:ext cx="1280160" cy="38404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2519172"/>
            <a:ext cx="113385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Button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24028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235458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08483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19" y="2651760"/>
            <a:ext cx="1170432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276606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Купить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49631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59" y="3063240"/>
            <a:ext cx="1170432" cy="329184"/>
          </a:xfrm>
          <a:prstGeom prst="roundRect">
            <a:avLst/>
          </a:prstGeom>
          <a:solidFill>
            <a:srgbClr val="67707A"/>
          </a:solidFill>
          <a:ln w="12700">
            <a:solidFill>
              <a:srgbClr val="67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1" y="3177540"/>
            <a:ext cx="1024128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Открыть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290779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" b="0">
                <a:solidFill>
                  <a:srgbClr val="A5AEB5"/>
                </a:solidFill>
                <a:latin typeface="Aptos"/>
              </a:rPr>
              <a:t>Instance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9208" y="2578608"/>
            <a:ext cx="457200" cy="0"/>
          </a:xfrm>
          <a:prstGeom prst="line">
            <a:avLst/>
          </a:prstGeom>
          <a:ln w="1524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97880" y="3886200"/>
            <a:ext cx="51206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override сохраняет связь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результат П027 — одна кнопка работает как система, а не как набор несвязанных копий.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П027 · Figma: Components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