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wide_polished_vector_illustration_ui_style_co.png"/>
          <p:cNvPicPr>
            <a:picLocks noChangeAspect="1"/>
          </p:cNvPicPr>
          <p:nvPr/>
        </p:nvPicPr>
        <p:blipFill>
          <a:blip r:embed="rId2"/>
          <a:srcRect l="16870" r="16870"/>
          <a:stretch>
            <a:fillRect/>
          </a:stretch>
        </p:blipFill>
        <p:spPr>
          <a:xfrm>
            <a:off x="4114800" y="0"/>
            <a:ext cx="8074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C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>
                <a:solidFill>
                  <a:srgbClr val="F4F6F8"/>
                </a:solidFill>
                <a:latin typeface="Aptos"/>
              </a:rPr>
              <a:t>Хекслет Колледж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4F6F8"/>
                </a:solidFill>
                <a:latin typeface="Aptos"/>
              </a:rPr>
              <a:t>ПМ1 · Сканирование и обработка
графической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Занятие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200" b="1">
                <a:solidFill>
                  <a:srgbClr val="F4F6F8"/>
                </a:solidFill>
                <a:latin typeface="Aptos"/>
              </a:rPr>
              <a:t>Адаптация desktop →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4F6F8"/>
                </a:solidFill>
                <a:latin typeface="Aptos"/>
              </a:rPr>
              <a:t>Responsive без Scale всего экрана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A5AEB5"/>
                </a:solidFill>
                <a:latin typeface="Aptos"/>
              </a:rPr>
              <a:t>люди · идеи · инструменты · изображения · проекты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Сегодня: desktop →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Responsive — это правила, а не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Mobile не делаем простым уменьшением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Меняем flow, sizing и композицию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Проверяем на нескольких ширинах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responsive в учебной работе — это изменение правил композиции под доступную ширину.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Scale — не адаптация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Уменьшенный экран часто становится нечитаемым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Scale сохраняет внешний вид, но ломает читаемость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Текст, CTA и media требуют новых правил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Работаем с frame width, а не с масштабом всего экрана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mobile-версия должна быть отдельной осмысленной композицией, а не уменьшенным desktop.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Desktop / 1440 и Mobile / 390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Учебные контрольные ширины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Дублируем desktop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Называем frames понятно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Цифры — контрольные, не обязательные breakpoints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5257800" cy="29718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691640"/>
            <a:ext cx="658368" cy="29718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11512" y="1691640"/>
            <a:ext cx="1298448" cy="2971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4315968"/>
            <a:ext cx="330098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2880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1592" y="18288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6080760" y="207568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80760" y="238658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0760" y="269748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80760" y="300837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80760" y="331927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1080" y="443484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4392" y="216712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94392" y="245973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94392" y="275234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94392" y="304495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94392" y="333756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81888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A5AEB5"/>
                </a:solidFill>
                <a:latin typeface="Aptos"/>
              </a:rPr>
              <a:t>navigation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98348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00" b="0">
                <a:solidFill>
                  <a:srgbClr val="A5AEB5"/>
                </a:solidFill>
                <a:latin typeface="Aptos"/>
              </a:rPr>
              <a:t>toolbar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8188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properties panel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две ширины нужны как лаборатория для проверки правил, а не как магические размеры.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Card: Horizontal →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Меняем flow, а не двигаем слои вручную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 desktop media и content рядом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 mobile media сверху, content ниже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Это изменение flow в auto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ключевой mobile-переход — горизонтальная карточка становится вертикальной.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Content: Fill + Hug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Ширина от родителя, высота от текста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Content часто Fill container по ширине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Текстовая высота обычно Hug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Нужно заранее проверить длинный 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Hug contents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61487"/>
            <a:ext cx="685800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71032" y="3154679"/>
            <a:ext cx="1024128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размер следует за содержимым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Fill 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834639"/>
            <a:ext cx="1097280" cy="310896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2907791"/>
            <a:ext cx="914400" cy="7315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занимает доступное место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Fixed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4392" y="2788920"/>
            <a:ext cx="676656" cy="457200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5" y="2971800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FF3D5C"/>
                </a:solidFill>
                <a:latin typeface="Aptos"/>
              </a:rPr>
              <a:t>240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число не меняется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content должен занимать доступную ширину и расти по высоте вместе с текстом.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Media: пропорции изображения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Fill + aspect ratio / разумный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Изображение не должно растягиваться случайно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Пропорция важнее заполнения любой ценой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На mobile media получает другую роль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media нужно настраивать так, чтобы изображение сохраняло пропорции и не ломало карточку.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CTA: Hug или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Два корректных решения для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Hug — компактная кнопка по тексту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Fill — CTA на всю ширину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Выбор зависит от сценария экрана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Hug contents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61487"/>
            <a:ext cx="685800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71032" y="3154679"/>
            <a:ext cx="1024128" cy="25603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размер следует за содержимым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Fill 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834639"/>
            <a:ext cx="1097280" cy="310896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2907791"/>
            <a:ext cx="914400" cy="73152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занимает доступное место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103120"/>
            <a:ext cx="1554480" cy="1783080"/>
          </a:xfrm>
          <a:prstGeom prst="roundRect">
            <a:avLst/>
          </a:prstGeom>
          <a:solidFill>
            <a:srgbClr val="121A1D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677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00" b="1">
                <a:solidFill>
                  <a:srgbClr val="F4F6F8"/>
                </a:solidFill>
                <a:latin typeface="Aptos"/>
              </a:rPr>
              <a:t>Fixed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4392" y="2788920"/>
            <a:ext cx="676656" cy="457200"/>
          </a:xfrm>
          <a:prstGeom prst="roundRect">
            <a:avLst/>
          </a:prstGeom>
          <a:solidFill>
            <a:srgbClr val="2E383E"/>
          </a:solidFill>
          <a:ln w="1270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5" y="2971800"/>
            <a:ext cx="54864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00" b="0">
                <a:solidFill>
                  <a:srgbClr val="FF3D5C"/>
                </a:solidFill>
                <a:latin typeface="Aptos"/>
              </a:rPr>
              <a:t>240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520439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30" b="0">
                <a:solidFill>
                  <a:srgbClr val="A5AEB5"/>
                </a:solidFill>
                <a:latin typeface="Aptos"/>
              </a:rPr>
              <a:t>число не меняется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mobile-кнопка может быть компактной или широкой, если решение объяснено интерфейсной задачей.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Min / Max на широком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Fill без ограничения может стать бессмысленно широким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Max width защищает строку от чрезмерной длины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Min width защищает от сжатия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Это диапазон, а не фиксированный размер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28800"/>
            <a:ext cx="310896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71031" y="1993392"/>
            <a:ext cx="1088136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3" y="2066543"/>
            <a:ext cx="1741017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2304287"/>
            <a:ext cx="1741017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2752344"/>
            <a:ext cx="1741017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2999232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090672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48840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760 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944368"/>
            <a:ext cx="233172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71031" y="3108960"/>
            <a:ext cx="816101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5150" y="3182111"/>
            <a:ext cx="1305763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3419855"/>
            <a:ext cx="1305763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3867911"/>
            <a:ext cx="1305763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5150" y="4114800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4878" y="4206240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264408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560 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059935"/>
            <a:ext cx="160020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71031" y="4224527"/>
            <a:ext cx="560069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9118" y="4297679"/>
            <a:ext cx="896112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9118" y="4535423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9118" y="4983479"/>
            <a:ext cx="896112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9118" y="5230367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8846" y="5321807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437997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420 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Min/Max помогают сохранить читаемость карточки на разных ширинах.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Layout guide ≠ Grid Auto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Направляющая и реальный поток — разные функции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Layout guide помогает выравнивать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Grid Auto layout управляет расположением элементов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С мая 2025 используется название Layout guide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194560"/>
            <a:ext cx="283464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D9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57800" y="2423160"/>
            <a:ext cx="384048" cy="1463040"/>
          </a:xfrm>
          <a:prstGeom prst="rect">
            <a:avLst/>
          </a:prstGeom>
          <a:solidFill>
            <a:srgbClr val="DCEB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61304" y="2423160"/>
            <a:ext cx="384048" cy="1463040"/>
          </a:xfrm>
          <a:prstGeom prst="rect">
            <a:avLst/>
          </a:prstGeom>
          <a:solidFill>
            <a:srgbClr val="DCEB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808" y="2423160"/>
            <a:ext cx="384048" cy="1463040"/>
          </a:xfrm>
          <a:prstGeom prst="rect">
            <a:avLst/>
          </a:prstGeom>
          <a:solidFill>
            <a:srgbClr val="DCEB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68312" y="2423160"/>
            <a:ext cx="384048" cy="1463040"/>
          </a:xfrm>
          <a:prstGeom prst="rect">
            <a:avLst/>
          </a:prstGeom>
          <a:solidFill>
            <a:srgbClr val="DCEB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977639"/>
            <a:ext cx="91440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323C46"/>
                </a:solidFill>
                <a:latin typeface="Aptos"/>
              </a:rPr>
              <a:t>Layout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194560"/>
            <a:ext cx="283464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D9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48716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248716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21240" y="248716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9640" y="312724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312724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21240" y="3127248"/>
            <a:ext cx="502920" cy="411480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977639"/>
            <a:ext cx="128016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00" b="0">
                <a:solidFill>
                  <a:srgbClr val="323C46"/>
                </a:solidFill>
                <a:latin typeface="Aptos"/>
              </a:rPr>
              <a:t>Grid Auto layout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Layout guide — визуальная опора, а Grid Auto layout — механизм потока элементов.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Constraints: где уместны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Для ordinary frame и Ignore auto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 обычном frame constraints управляют реакцией слоя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 auto layout главный механизм — sizing/flow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Для Ignore auto layout constraints снова важны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5440680" cy="3429000"/>
          </a:xfrm>
          <a:prstGeom prst="rect">
            <a:avLst/>
          </a:prstGeom>
          <a:solidFill>
            <a:srgbClr val="F2F4F6"/>
          </a:solidFill>
          <a:ln w="8890">
            <a:solidFill>
              <a:srgbClr val="21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600200"/>
            <a:ext cx="658368" cy="3429000"/>
          </a:xfrm>
          <a:prstGeom prst="rect">
            <a:avLst/>
          </a:prstGeom>
          <a:solidFill>
            <a:srgbClr val="20262D"/>
          </a:solidFill>
          <a:ln w="12700">
            <a:solidFill>
              <a:srgbClr val="20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1600200"/>
            <a:ext cx="1298448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4681728"/>
            <a:ext cx="3483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42484E"/>
                </a:solidFill>
                <a:latin typeface="Aptos"/>
              </a:rPr>
              <a:t>Figma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73736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1">
                <a:solidFill>
                  <a:srgbClr val="2B3137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73787D"/>
                </a:solidFill>
                <a:latin typeface="Aptos"/>
              </a:rPr>
              <a:t>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1984248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2295144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606040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2916936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91440" cy="91440"/>
          </a:xfrm>
          <a:prstGeom prst="ellipse">
            <a:avLst/>
          </a:prstGeom>
          <a:solidFill>
            <a:srgbClr val="6A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1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59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9640" y="4800600"/>
            <a:ext cx="182880" cy="109728"/>
          </a:xfrm>
          <a:prstGeom prst="roundRect">
            <a:avLst/>
          </a:prstGeom>
          <a:solidFill>
            <a:srgbClr val="E1E4E9"/>
          </a:solidFill>
          <a:ln w="12700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5832" y="2075688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5832" y="2368296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660904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5832" y="2953512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5832" y="3246120"/>
            <a:ext cx="859536" cy="109728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22007" y="2103120"/>
            <a:ext cx="2011680" cy="13258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599" y="2267712"/>
            <a:ext cx="704088" cy="996695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2340863"/>
            <a:ext cx="112654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2578607"/>
            <a:ext cx="11265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026663"/>
            <a:ext cx="11265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18704" y="3273551"/>
            <a:ext cx="11265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364991"/>
            <a:ext cx="9070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103120"/>
            <a:ext cx="1417320" cy="1417320"/>
          </a:xfrm>
          <a:prstGeom prst="roundRect">
            <a:avLst/>
          </a:prstGeom>
          <a:solidFill>
            <a:srgbClr val="232B30"/>
          </a:solidFill>
          <a:ln w="1524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219456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50" b="1">
                <a:solidFill>
                  <a:srgbClr val="A5AEB5"/>
                </a:solidFill>
                <a:latin typeface="Aptos"/>
              </a:rPr>
              <a:t>Layout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514600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944368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28048" y="3374136"/>
            <a:ext cx="777240" cy="256032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862072"/>
            <a:ext cx="274320" cy="91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00" b="0">
                <a:solidFill>
                  <a:srgbClr val="FF3D5C"/>
                </a:solidFill>
                <a:latin typeface="Aptos"/>
              </a:rPr>
              <a:t>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constraints не заменяют auto layout, но полезны в обычных frame и для исключённых элементов.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Stress test ширин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1024 / 768 / 480 / 390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Не обязательно создавать все экраны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Можно временно менять 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Фиксируем, где начинается проблема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28800"/>
            <a:ext cx="310896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71031" y="1993392"/>
            <a:ext cx="1088136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3" y="2066543"/>
            <a:ext cx="1741017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2304287"/>
            <a:ext cx="1741017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2752344"/>
            <a:ext cx="1741017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2999232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090672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48840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760 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944368"/>
            <a:ext cx="233172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71031" y="3108960"/>
            <a:ext cx="816101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5150" y="3182111"/>
            <a:ext cx="1305763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3419855"/>
            <a:ext cx="1305763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3867911"/>
            <a:ext cx="1305763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5150" y="4114800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4878" y="4206240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264408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560 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059935"/>
            <a:ext cx="1600200" cy="896112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71031" y="4224527"/>
            <a:ext cx="560069" cy="5669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9118" y="4297679"/>
            <a:ext cx="896112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9118" y="4535423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9118" y="4983479"/>
            <a:ext cx="896112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9118" y="5230367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8846" y="5321807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437997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00" b="0">
                <a:solidFill>
                  <a:srgbClr val="FF3D5C"/>
                </a:solidFill>
                <a:latin typeface="Aptos"/>
              </a:rPr>
              <a:t>420 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проверка промежуточных ширин показывает, где правила перестают работать.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Практика: собрать mobile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390 px из той же content-system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Card → Vertical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Title переносится без выхода за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Media и CTA не выходят за границы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Проверка 430 и 360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практика переводит desktop-карточку в mobile без масштабирования всего экрана.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Два mobile-варианта 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Compact CTA и full-width 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Вариант 1: кнопка Hug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Вариант 2: кнопка Fill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Выбор объясняется задачей, а не вкусом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338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40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06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5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874519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34272" y="2039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586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824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3272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3518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3610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338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04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01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340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06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06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0375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3017520"/>
            <a:ext cx="1325880" cy="932688"/>
          </a:xfrm>
          <a:prstGeom prst="roundRect">
            <a:avLst/>
          </a:prstGeom>
          <a:solidFill>
            <a:srgbClr val="FCFCFC"/>
          </a:solidFill>
          <a:ln w="1016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34272" y="3182112"/>
            <a:ext cx="996695" cy="391728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0848" y="372928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3967032"/>
            <a:ext cx="9235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4415088"/>
            <a:ext cx="9235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70848" y="4661976"/>
            <a:ext cx="841248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0576" y="4753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студент сравнивает два корректных решения и обосновывает выбор с точки зрения интерфейса.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Типичные ошибки адаптации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Scale, выходы за границы, сломанный 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Mobile = уменьшенный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Всё Fixed и ничего не переносится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Guide принят за Auto layout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Текст выходит за frame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00253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Gap/Padding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46888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0545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49631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Hug/Fill/Fixed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297180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00837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Main+Instances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474720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351129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0215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Desktop/Mobile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3977639"/>
            <a:ext cx="201168" cy="201168"/>
          </a:xfrm>
          <a:prstGeom prst="ellipse">
            <a:avLst/>
          </a:prstGeom>
          <a:solidFill>
            <a:srgbClr val="54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4014216"/>
            <a:ext cx="10972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1">
                <a:solidFill>
                  <a:srgbClr val="0F1416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21945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0">
                <a:solidFill>
                  <a:srgbClr val="F4F6F8"/>
                </a:solidFill>
                <a:latin typeface="Aptos"/>
              </a:rPr>
              <a:t>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ошибки responsive видны не по красоте, а по поведению при изменении ширины.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0">
                <a:solidFill>
                  <a:srgbClr val="A5AEB5"/>
                </a:solidFill>
                <a:latin typeface="Aptos"/>
              </a:rPr>
              <a:t>Figma · актуальный интерфейс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10896"/>
            <a:ext cx="54864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50" b="1">
                <a:solidFill>
                  <a:srgbClr val="A5AEB5"/>
                </a:solidFill>
                <a:latin typeface="Aptos"/>
              </a:rPr>
              <a:t>Хекслет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000" b="1">
                <a:solidFill>
                  <a:srgbClr val="F4F6F8"/>
                </a:solidFill>
                <a:latin typeface="Aptos"/>
              </a:rPr>
              <a:t>Итог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27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50" b="0">
                <a:solidFill>
                  <a:srgbClr val="A5AEB5"/>
                </a:solidFill>
                <a:latin typeface="Aptos"/>
              </a:rPr>
              <a:t>Desktop →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Desktop и Mobile — отдельные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Card меняет flow осмысленно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55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Layout guide использован как направляющая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137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F3D5C"/>
                </a:solidFill>
                <a:latin typeface="Apto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F4F6F8"/>
                </a:solidFill>
                <a:latin typeface="Aptos"/>
              </a:rPr>
              <a:t>Stress test ширин пройден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Desktop 1440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148840"/>
            <a:ext cx="3383280" cy="150876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9472" y="2313432"/>
            <a:ext cx="1184148" cy="1179576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1636" y="2386584"/>
            <a:ext cx="1894636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624328"/>
            <a:ext cx="1894636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636" y="3072384"/>
            <a:ext cx="1894636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1234440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3410712"/>
            <a:ext cx="1014984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9748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0">
                <a:solidFill>
                  <a:srgbClr val="FF3D5C"/>
                </a:solidFill>
                <a:latin typeface="Aptos"/>
              </a:rPr>
              <a:t>→ изменить правила, не масштабировать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192024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0">
                <a:solidFill>
                  <a:srgbClr val="A5AEB5"/>
                </a:solidFill>
                <a:latin typeface="Aptos"/>
              </a:rPr>
              <a:t>Mobile 390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2148840"/>
            <a:ext cx="1554480" cy="237744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88752" y="2313432"/>
            <a:ext cx="1225295" cy="998524"/>
          </a:xfrm>
          <a:prstGeom prst="roundRect">
            <a:avLst/>
          </a:prstGeom>
          <a:solidFill>
            <a:srgbClr val="E1E6E8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25328" y="3467404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22262A"/>
                </a:solidFill>
                <a:latin typeface="Aptos"/>
              </a:rPr>
              <a:t>Desk Lamp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370514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0" b="0">
                <a:solidFill>
                  <a:srgbClr val="5B6268"/>
                </a:solidFill>
                <a:latin typeface="Aptos"/>
              </a:rPr>
              <a:t>Алюминиевая настольная лампа с направленным светом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4153204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22262A"/>
                </a:solidFill>
                <a:latin typeface="Aptos"/>
              </a:rPr>
              <a:t>39 900 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25328" y="4400092"/>
            <a:ext cx="1152144" cy="292608"/>
          </a:xfrm>
          <a:prstGeom prst="roundRect">
            <a:avLst/>
          </a:prstGeom>
          <a:solidFill>
            <a:srgbClr val="7D5AFF"/>
          </a:solidFill>
          <a:ln w="12700">
            <a:solidFill>
              <a:srgbClr val="7D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35056" y="4491532"/>
            <a:ext cx="932688" cy="731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50" b="0">
                <a:solidFill>
                  <a:srgbClr val="F4F6F8"/>
                </a:solidFill>
                <a:latin typeface="Aptos"/>
              </a:rPr>
              <a:t>Подробнее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6181344"/>
            <a:ext cx="10972800" cy="475488"/>
          </a:xfrm>
          <a:prstGeom prst="roundRect">
            <a:avLst/>
          </a:prstGeom>
          <a:solidFill>
            <a:srgbClr val="121A1D"/>
          </a:solidFill>
          <a:ln w="10160">
            <a:solidFill>
              <a:srgbClr val="374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6291072"/>
            <a:ext cx="36576" cy="256032"/>
          </a:xfrm>
          <a:prstGeom prst="rect">
            <a:avLst/>
          </a:prstGeom>
          <a:solidFill>
            <a:srgbClr val="F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281928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19" b="0">
                <a:solidFill>
                  <a:srgbClr val="F4F6F8"/>
                </a:solidFill>
                <a:latin typeface="Aptos"/>
              </a:rPr>
              <a:t>Итог слайда: результат П028 — mobile-композиция создана через правила, а не через Scale всего экрана.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3276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700" b="0">
                <a:solidFill>
                  <a:srgbClr val="A5AEB5"/>
                </a:solidFill>
                <a:latin typeface="Aptos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647395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520" b="0">
                <a:solidFill>
                  <a:srgbClr val="626E76"/>
                </a:solidFill>
                <a:latin typeface="Aptos"/>
              </a:rPr>
              <a:t>П028 · Figma: Responsive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