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d687d0e84642be" /><Relationship Type="http://schemas.openxmlformats.org/officeDocument/2006/relationships/extended-properties" Target="/docProps/app.xml" Id="Rc4144184ed4a4f1b" /><Relationship Type="http://schemas.openxmlformats.org/officeDocument/2006/relationships/officeDocument" Target="/ppt/presentation.xml" Id="R6547982cb667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11aa20622a474f"/>
  </p:sldMasterIdLst>
  <p:notesMasterIdLst>
    <p:notesMasterId xmlns:r="http://schemas.openxmlformats.org/officeDocument/2006/relationships" r:id="R025605c256c740aa"/>
  </p:notesMasterIdLst>
  <p:sldIdLst>
    <p:sldId xmlns:r="http://schemas.openxmlformats.org/officeDocument/2006/relationships" id="256" r:id="R31eb0da148ea40cc"/>
    <p:sldId xmlns:r="http://schemas.openxmlformats.org/officeDocument/2006/relationships" id="257" r:id="R7d54ee72ae854daa"/>
    <p:sldId xmlns:r="http://schemas.openxmlformats.org/officeDocument/2006/relationships" id="258" r:id="R0121df4858e0469f"/>
    <p:sldId xmlns:r="http://schemas.openxmlformats.org/officeDocument/2006/relationships" id="259" r:id="Ra77fabb2abd641db"/>
    <p:sldId xmlns:r="http://schemas.openxmlformats.org/officeDocument/2006/relationships" id="260" r:id="Rd0287cfd63504ca8"/>
    <p:sldId xmlns:r="http://schemas.openxmlformats.org/officeDocument/2006/relationships" id="261" r:id="R79d7f23914b544ef"/>
    <p:sldId xmlns:r="http://schemas.openxmlformats.org/officeDocument/2006/relationships" id="262" r:id="R6cccdc7ab52844be"/>
    <p:sldId xmlns:r="http://schemas.openxmlformats.org/officeDocument/2006/relationships" id="263" r:id="R3b6456fce4954cbf"/>
    <p:sldId xmlns:r="http://schemas.openxmlformats.org/officeDocument/2006/relationships" id="264" r:id="R4141236b8dfd4b48"/>
    <p:sldId xmlns:r="http://schemas.openxmlformats.org/officeDocument/2006/relationships" id="265" r:id="Rb99b3bb7d095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eb711f9e249d5" /><Relationship Type="http://schemas.openxmlformats.org/officeDocument/2006/relationships/slideMaster" Target="/ppt/slideMasters/slideMaster1.xml" Id="R8e11aa20622a474f" /><Relationship Type="http://schemas.openxmlformats.org/officeDocument/2006/relationships/notesMaster" Target="/ppt/notesMasters/notesMaster1.xml" Id="R025605c256c740aa" /><Relationship Type="http://schemas.openxmlformats.org/officeDocument/2006/relationships/presProps" Target="/ppt/presProps.xml" Id="R104d23d7c82d4329" /><Relationship Type="http://schemas.openxmlformats.org/officeDocument/2006/relationships/tableStyles" Target="/ppt/tableStyles.xml" Id="Rc1542ad78a604b31" /><Relationship Type="http://schemas.openxmlformats.org/officeDocument/2006/relationships/slide" Target="/ppt/slides/slide1.xml" Id="R31eb0da148ea40cc" /><Relationship Type="http://schemas.openxmlformats.org/officeDocument/2006/relationships/slide" Target="/ppt/slides/slide2.xml" Id="R7d54ee72ae854daa" /><Relationship Type="http://schemas.openxmlformats.org/officeDocument/2006/relationships/slide" Target="/ppt/slides/slide3.xml" Id="R0121df4858e0469f" /><Relationship Type="http://schemas.openxmlformats.org/officeDocument/2006/relationships/slide" Target="/ppt/slides/slide4.xml" Id="Ra77fabb2abd641db" /><Relationship Type="http://schemas.openxmlformats.org/officeDocument/2006/relationships/slide" Target="/ppt/slides/slide5.xml" Id="Rd0287cfd63504ca8" /><Relationship Type="http://schemas.openxmlformats.org/officeDocument/2006/relationships/slide" Target="/ppt/slides/slide6.xml" Id="R79d7f23914b544ef" /><Relationship Type="http://schemas.openxmlformats.org/officeDocument/2006/relationships/slide" Target="/ppt/slides/slide7.xml" Id="R6cccdc7ab52844be" /><Relationship Type="http://schemas.openxmlformats.org/officeDocument/2006/relationships/slide" Target="/ppt/slides/slide8.xml" Id="R3b6456fce4954cbf" /><Relationship Type="http://schemas.openxmlformats.org/officeDocument/2006/relationships/slide" Target="/ppt/slides/slide9.xml" Id="R4141236b8dfd4b48" /><Relationship Type="http://schemas.openxmlformats.org/officeDocument/2006/relationships/slide" Target="/ppt/slides/slide10.xml" Id="Rb99b3bb7d095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d0c0e450b0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4d153d7b14bf5" /><Relationship Type="http://schemas.openxmlformats.org/officeDocument/2006/relationships/notesMaster" Target="/ppt/notesMasters/notesMaster1.xml" Id="Rc9ea4c8e10b244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8f032cf114360" /><Relationship Type="http://schemas.openxmlformats.org/officeDocument/2006/relationships/notesMaster" Target="/ppt/notesMasters/notesMaster1.xml" Id="R2233630589cb4d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c75e823ce94210" /><Relationship Type="http://schemas.openxmlformats.org/officeDocument/2006/relationships/notesMaster" Target="/ppt/notesMasters/notesMaster1.xml" Id="R7705f4fde766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e3b771a6241fe" /><Relationship Type="http://schemas.openxmlformats.org/officeDocument/2006/relationships/notesMaster" Target="/ppt/notesMasters/notesMaster1.xml" Id="R56ef7ee4605641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4d1e9b76904d51" /><Relationship Type="http://schemas.openxmlformats.org/officeDocument/2006/relationships/notesMaster" Target="/ppt/notesMasters/notesMaster1.xml" Id="Rc3adc41c1a5145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979d2dcb9e427f" /><Relationship Type="http://schemas.openxmlformats.org/officeDocument/2006/relationships/notesMaster" Target="/ppt/notesMasters/notesMaster1.xml" Id="R18ddff154c58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bb1711eb0c4dbb" /><Relationship Type="http://schemas.openxmlformats.org/officeDocument/2006/relationships/notesMaster" Target="/ppt/notesMasters/notesMaster1.xml" Id="Rf82b0fa9876541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a5c0c894ca4fc2" /><Relationship Type="http://schemas.openxmlformats.org/officeDocument/2006/relationships/notesMaster" Target="/ppt/notesMasters/notesMaster1.xml" Id="R6f1a81b6203f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e50b05e56d404b" /><Relationship Type="http://schemas.openxmlformats.org/officeDocument/2006/relationships/notesMaster" Target="/ppt/notesMasters/notesMaster1.xml" Id="Ra6d55f93776c42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9d01e25c54f64" /><Relationship Type="http://schemas.openxmlformats.org/officeDocument/2006/relationships/notesMaster" Target="/ppt/notesMasters/notesMaster1.xml" Id="Re9f4a43528fc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Что изображение сообщает человеку.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Изображение как сообщение.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Исходник → решение → сообщение.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Один исходник — разные сообщения.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Что меняет дизайнер.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Кадрирование меняет смысл.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Контекст меняет роль изображения.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Красиво — не всегда правильно.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Практика: как изображение меняет сообщение.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П003;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2b10b9a1c4b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ca95743bf4a21" /><Relationship Type="http://schemas.openxmlformats.org/officeDocument/2006/relationships/slideLayout" Target="/ppt/slideLayouts/slideLayout1.xml" Id="Rc4c04de68a014b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04de68a014b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3150ce6c84f61" /><Relationship Type="http://schemas.openxmlformats.org/officeDocument/2006/relationships/image" Target="/ppt/media/image.png" Id="R622782a9566b41e4" /><Relationship Type="http://schemas.openxmlformats.org/officeDocument/2006/relationships/notesSlide" Target="/ppt/notesSlides/notesSlide1.xml" Id="R2e08405d597a43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d8e3f6fad4ecb" /><Relationship Type="http://schemas.openxmlformats.org/officeDocument/2006/relationships/image" Target="/ppt/media/image2.png" Id="R3bc2b502164844b3" /><Relationship Type="http://schemas.openxmlformats.org/officeDocument/2006/relationships/image" Target="/ppt/media/image3.png" Id="R6eaae1df01454a5d" /><Relationship Type="http://schemas.openxmlformats.org/officeDocument/2006/relationships/image" Target="/ppt/media/image4.png" Id="R0c34a3f80ff04c0f" /><Relationship Type="http://schemas.openxmlformats.org/officeDocument/2006/relationships/image" Target="/ppt/media/image5.png" Id="Rd7f011f8302749bf" /><Relationship Type="http://schemas.openxmlformats.org/officeDocument/2006/relationships/notesSlide" Target="/ppt/notesSlides/notesSlide2.xml" Id="R28a8dfbd17f648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67b1ad5334d99" /><Relationship Type="http://schemas.openxmlformats.org/officeDocument/2006/relationships/image" Target="/ppt/media/image6.png" Id="Refbb412ab3264dcc" /><Relationship Type="http://schemas.openxmlformats.org/officeDocument/2006/relationships/image" Target="/ppt/media/image7.png" Id="Rd8f4e3b2a9844cd3" /><Relationship Type="http://schemas.openxmlformats.org/officeDocument/2006/relationships/notesSlide" Target="/ppt/notesSlides/notesSlide3.xml" Id="R29693e074c09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3bc7ad64e4c6f" /><Relationship Type="http://schemas.openxmlformats.org/officeDocument/2006/relationships/image" Target="/ppt/media/image8.png" Id="R99556808265949cb" /><Relationship Type="http://schemas.openxmlformats.org/officeDocument/2006/relationships/notesSlide" Target="/ppt/notesSlides/notesSlide4.xml" Id="Rf60c0fb7d5244f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089221a7246f2" /><Relationship Type="http://schemas.openxmlformats.org/officeDocument/2006/relationships/image" Target="/ppt/media/image9.png" Id="R6e260241407043b3" /><Relationship Type="http://schemas.openxmlformats.org/officeDocument/2006/relationships/image" Target="/ppt/media/image10.png" Id="R8c4afce8e2a74129" /><Relationship Type="http://schemas.openxmlformats.org/officeDocument/2006/relationships/image" Target="/ppt/media/image11.png" Id="R641eae2952304a9c" /><Relationship Type="http://schemas.openxmlformats.org/officeDocument/2006/relationships/image" Target="/ppt/media/image12.png" Id="Rfd01e67e445e4c27" /><Relationship Type="http://schemas.openxmlformats.org/officeDocument/2006/relationships/notesSlide" Target="/ppt/notesSlides/notesSlide5.xml" Id="R6c60d978e6274e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35586e3ce4827" /><Relationship Type="http://schemas.openxmlformats.org/officeDocument/2006/relationships/image" Target="/ppt/media/image13.png" Id="Re62b8cf335f34a81" /><Relationship Type="http://schemas.openxmlformats.org/officeDocument/2006/relationships/image" Target="/ppt/media/image14.png" Id="R668b0a9fa2ef496c" /><Relationship Type="http://schemas.openxmlformats.org/officeDocument/2006/relationships/notesSlide" Target="/ppt/notesSlides/notesSlide6.xml" Id="R540d91e3f49f42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b550719344419" /><Relationship Type="http://schemas.openxmlformats.org/officeDocument/2006/relationships/image" Target="/ppt/media/image15.png" Id="R5acb3f09d3494456" /><Relationship Type="http://schemas.openxmlformats.org/officeDocument/2006/relationships/notesSlide" Target="/ppt/notesSlides/notesSlide7.xml" Id="R38cafe4b72bc43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b1fc6bcd44758" /><Relationship Type="http://schemas.openxmlformats.org/officeDocument/2006/relationships/image" Target="/ppt/media/image16.png" Id="R8c243956370a471e" /><Relationship Type="http://schemas.openxmlformats.org/officeDocument/2006/relationships/image" Target="/ppt/media/image17.png" Id="R174ce38590a440e8" /><Relationship Type="http://schemas.openxmlformats.org/officeDocument/2006/relationships/image" Target="/ppt/media/image18.png" Id="R99f53c0ac5be49a9" /><Relationship Type="http://schemas.openxmlformats.org/officeDocument/2006/relationships/image" Target="/ppt/media/image19.png" Id="Rcee7a314110944e6" /><Relationship Type="http://schemas.openxmlformats.org/officeDocument/2006/relationships/notesSlide" Target="/ppt/notesSlides/notesSlide8.xml" Id="R1f5969f0f6a94d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035dbb1ab464b" /><Relationship Type="http://schemas.openxmlformats.org/officeDocument/2006/relationships/image" Target="/ppt/media/image20.png" Id="R9f235ae01b504075" /><Relationship Type="http://schemas.openxmlformats.org/officeDocument/2006/relationships/image" Target="/ppt/media/image21.png" Id="Ra5fb23b627b649e8" /><Relationship Type="http://schemas.openxmlformats.org/officeDocument/2006/relationships/notesSlide" Target="/ppt/notesSlides/notesSlide9.xml" Id="R725163cbc56c41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4f1f0d5f349d5" /><Relationship Type="http://schemas.openxmlformats.org/officeDocument/2006/relationships/image" Target="/ppt/media/image22.png" Id="Re436df2978b94b77" /><Relationship Type="http://schemas.openxmlformats.org/officeDocument/2006/relationships/notesSlide" Target="/ppt/notesSlides/notesSlide10.xml" Id="Re0a22817b1f34e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782a9566b41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6B433-DC84-4C3C-92A1-8D28AEA8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757AA379-2D4A-4D39-8DCC-C44AF7A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E066C975-D14F-42AA-97C0-2A44C886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3">
            <a:extLst xmlns:a="http://schemas.openxmlformats.org/drawingml/2006/main">
              <a:ext uri="{FF2B5EF4-FFF2-40B4-BE49-F238E27FC236}">
                <a16:creationId xmlns:a16="http://schemas.microsoft.com/office/drawing/2014/main" id="{D2D0008D-4484-4278-936E-C1FA41B0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3</a:t>
            </a:r>
          </a:p>
        </p:txBody>
      </p:sp>
      <p:sp>
        <p:nvSpPr>
          <p:cNvPr id="6" name="Что изображение сообщает человеку">
            <a:extLst xmlns:a="http://schemas.openxmlformats.org/drawingml/2006/main">
              <a:ext uri="{FF2B5EF4-FFF2-40B4-BE49-F238E27FC236}">
                <a16:creationId xmlns:a16="http://schemas.microsoft.com/office/drawing/2014/main" id="{1F6806BB-13A0-45A1-854F-2ED1F354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C81850BC-911C-4050-8A71-767791E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A1A04FD9-39A4-4DB3-BC42-D319DEF1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662931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B333F617-28D3-44EB-AAF7-4215430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B4A47BE-574A-41A3-80DC-18076369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B5C2060-8248-4E7D-A1DA-D67B5B00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Изображение как сообщение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8265F6A5-F0C7-4FDC-952A-87B321F1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1624-B130-4EEB-BDE8-847E521A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6D478-ACFA-46DF-B120-FA7B48B3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6E3A387A-F176-434D-A595-C2A714A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Одно изображение может выполнять разные роли — в зависимости от цели и контекста.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B954CC2-327B-4318-A829-807C875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2b502164844b3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470A8A17-8CA8-43A9-A2B3-5E43AB12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220F7D2-CC15-4DFB-8416-70AF2C7F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ae1df01454a5d"/>
          <a:srcRect xmlns:a="http://schemas.openxmlformats.org/drawingml/2006/main" l="0" t="7678" r="0" b="7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Изображение не только показывает…">
            <a:extLst xmlns:a="http://schemas.openxmlformats.org/drawingml/2006/main">
              <a:ext uri="{FF2B5EF4-FFF2-40B4-BE49-F238E27FC236}">
                <a16:creationId xmlns:a16="http://schemas.microsoft.com/office/drawing/2014/main" id="{D4BD0135-4B78-4B77-AAAD-EFBEF16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Изображение не только показывает объект — оно помогает передать смысл.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2D3107E-1CA0-4DE1-8EBA-4EFC98E5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4a3f80ff04c0f"/>
          <a:srcRect xmlns:a="http://schemas.openxmlformats.org/drawingml/2006/main" l="0" t="3163" r="0" b="3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Привлекает внимание">
            <a:extLst xmlns:a="http://schemas.openxmlformats.org/drawingml/2006/main">
              <a:ext uri="{FF2B5EF4-FFF2-40B4-BE49-F238E27FC236}">
                <a16:creationId xmlns:a16="http://schemas.microsoft.com/office/drawing/2014/main" id="{A9C363AA-BE42-4297-A048-6C4C1A7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Привлекает внимание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DFC467E-0F57-4E5A-9315-5A02B47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11f8302749bf"/>
          <a:srcRect xmlns:a="http://schemas.openxmlformats.org/drawingml/2006/main" l="0" t="24038" r="0" b="2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Объясняет">
            <a:extLst xmlns:a="http://schemas.openxmlformats.org/drawingml/2006/main">
              <a:ext uri="{FF2B5EF4-FFF2-40B4-BE49-F238E27FC236}">
                <a16:creationId xmlns:a16="http://schemas.microsoft.com/office/drawing/2014/main" id="{64EDDA51-A481-4410-A482-C7E14CF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Объясняет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8A93FF5-3FE3-4352-A7FB-42C445A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252600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087007F6-7EBF-41E1-811B-45FA0D9F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C48D977A-6053-423A-8815-4F7A852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3384D21-B824-4E43-8795-96E6D6E7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Исходник → решение → сообщение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AB972FA4-2631-435D-9078-E950898F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A8751-A440-43B7-8328-BFBEF8B3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D4660-4B29-433E-B734-B08CB87F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F6671A4-0B50-459E-A6EF-F2EC086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Исходник остаётся тем же, но сообщение меняется вместе с решением дизайнера.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62B787E-0F24-4051-8091-E84E546E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b412ab3264dcc"/>
          <a:srcRect xmlns:a="http://schemas.openxmlformats.org/drawingml/2006/main" l="0" t="34035" r="0" b="3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AF16B274-002C-48F4-8AC6-ADFE444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080F2C56-B337-47EA-B14E-72424A6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4e3b2a9844cd3"/>
          <a:srcRect xmlns:a="http://schemas.openxmlformats.org/drawingml/2006/main" l="0" t="33857" r="0" b="33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изайнер меняет не только внешний…">
            <a:extLst xmlns:a="http://schemas.openxmlformats.org/drawingml/2006/main">
              <a:ext uri="{FF2B5EF4-FFF2-40B4-BE49-F238E27FC236}">
                <a16:creationId xmlns:a16="http://schemas.microsoft.com/office/drawing/2014/main" id="{AD2F88F7-3775-495C-BE8D-4D839B7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Дизайнер меняет не только внешний вид, но и роль изображения.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29EBB1E1-51DA-4F04-BA09-F8EFA4E6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65262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A3C2B00A-42C3-4700-B77D-F229FD6B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EE7B663-F01A-483F-BC97-624555ED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DEACF1F-13E9-4A7D-AD51-93C77B0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Один исходник — разные сообщения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236B82DC-99C1-407B-A4D6-5CEBB87C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A3002-1526-424E-8FAF-C73E2453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D9DF9-D857-4A13-925D-9310548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612FFF3-72D0-45F1-8438-BA6536C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Один кадр может вести к разным прочтениям, если меняется задача, аудитория и подача.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0DB9BDD-E198-4CAD-A32E-7B8A6811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56808265949cb"/>
          <a:srcRect xmlns:a="http://schemas.openxmlformats.org/drawingml/2006/main" l="0" t="24385" r="0" b="24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5BF52-1E81-4F20-8D09-79A9E27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F5B5B-C99A-4A49-9D1C-2F3B7F5F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72B77FB0-6A26-4426-B186-667A0DEC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C4C32551-E9BB-4EE4-9B46-E42B1C21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6273A-ABE9-42EA-A73A-45EFC6F1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B0B13-F7C0-420B-85BF-39F38BE7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E8CD7178-1E89-4563-8C64-0A6D3A9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Кадрирование, масштаб и среда…">
            <a:extLst xmlns:a="http://schemas.openxmlformats.org/drawingml/2006/main">
              <a:ext uri="{FF2B5EF4-FFF2-40B4-BE49-F238E27FC236}">
                <a16:creationId xmlns:a16="http://schemas.microsoft.com/office/drawing/2014/main" id="{08D84C4B-79F2-4B43-9BEB-0AC5272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Кадрирование, масштаб и среда меняют акцент восприятия.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599AD-59DB-4A65-B940-855534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391C3-F6A2-4C49-A915-760A96A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65669770-7B28-441A-BD36-57DB9A28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Нейтральный показ">
            <a:extLst xmlns:a="http://schemas.openxmlformats.org/drawingml/2006/main">
              <a:ext uri="{FF2B5EF4-FFF2-40B4-BE49-F238E27FC236}">
                <a16:creationId xmlns:a16="http://schemas.microsoft.com/office/drawing/2014/main" id="{186E0333-60C6-471A-BA02-489519D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Нейтральный показ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C22E2-0127-44BE-BDCF-B1B702FF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7530A-7462-4B5A-8471-29E8CAD9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9666E22F-3C06-48B2-B3F7-D37ACD0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Смещение акцента">
            <a:extLst xmlns:a="http://schemas.openxmlformats.org/drawingml/2006/main">
              <a:ext uri="{FF2B5EF4-FFF2-40B4-BE49-F238E27FC236}">
                <a16:creationId xmlns:a16="http://schemas.microsoft.com/office/drawing/2014/main" id="{880363C2-78EF-4F81-BD7E-EF06481A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Смещение акцента</a:t>
            </a:r>
          </a:p>
        </p:txBody>
      </p:sp>
    </p:spTree>
    <p:extLst>
      <p:ext uri="{BB962C8B-B14F-4D97-AF65-F5344CB8AC3E}">
        <p14:creationId xmlns:p14="http://schemas.microsoft.com/office/powerpoint/2010/main" val="1530541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77206D0E-0C30-4A19-B689-E54EA258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BAE92E0-2F65-4CDB-A3C1-53462AB3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A1152BB-2E84-440E-89DD-25B37280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196F7DE7-A5CB-4F4A-87D0-EE077303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24178-7247-4381-AD51-C6941D3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C17A1-DF95-4842-BCBF-B2A42548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8A31002-35F3-4D00-87F6-9F8549A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Изменение этих параметров влияет на то, что зритель увидит первым и как поймёт изображение.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055566F-DDFB-4F42-8913-7EEDE0F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AD30B-81AC-4CD6-9241-8FA58F9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A6F51-B43E-4486-9D7A-B5035052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0AA84555-67AE-40A9-84C6-392B0248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60241407043b3"/>
          <a:srcRect xmlns:a="http://schemas.openxmlformats.org/drawingml/2006/main" l="0" t="29332" r="0" b="29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C5FE3618-3313-41EF-A67E-AA26759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0CB42-867D-4576-AFB9-C517B0B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86008-D3EC-4627-8273-75064F19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39D62BBB-22CA-40D2-9719-FC054EC7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afce8e2a74129"/>
          <a:srcRect xmlns:a="http://schemas.openxmlformats.org/drawingml/2006/main" l="0" t="7199" r="0" b="7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60101652-7C35-4E12-B02C-A9BA13C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61957-1FA3-4944-A933-A6BB9652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4D19A-C1AC-4327-A33A-879539F4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808DA4CF-4406-4BB9-9A46-820E0C04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eae2952304a9c"/>
          <a:srcRect xmlns:a="http://schemas.openxmlformats.org/drawingml/2006/main" l="0" t="12610" r="0" b="12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21FCF5CC-FB04-4612-9389-A8F1E779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C7D09-CFBD-4BE2-8E32-27BA197E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43411-69F3-4D8E-99BF-6EFA67F1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2C919F19-8A18-49B8-BFF8-5EB3C60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1e67e445e4c27"/>
          <a:srcRect xmlns:a="http://schemas.openxmlformats.org/drawingml/2006/main" l="0" t="7829" r="0" b="7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BFE7E086-D88F-4B40-B481-97893E19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296357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C01FDE10-60A1-4E97-8DE3-EA2BCF28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13012BC-B518-4DA5-A5A9-349770F9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E36BD21-ECD2-4145-B1EE-9B937B8D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Кадрирование меняет смысл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E615B15C-C834-4472-B3BD-16ACDDA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EE35C-F29D-4949-AC2C-69DD95A6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F2E6E-9988-4B13-B35D-6FECD1FE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CC5B938D-589B-47E3-BCFE-51F566EB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Меняя границы кадра, дизайнер управляет вниманием зрителя.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1BEF03D-F3C5-4E77-B511-136D495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b8cf335f34a81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75D45FAA-7B2F-4C3F-A3A3-D753123C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ED6A0728-E794-4256-9F52-D66991C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b0a9fa2ef496c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Что попадает в кадр — то…">
            <a:extLst xmlns:a="http://schemas.openxmlformats.org/drawingml/2006/main">
              <a:ext uri="{FF2B5EF4-FFF2-40B4-BE49-F238E27FC236}">
                <a16:creationId xmlns:a16="http://schemas.microsoft.com/office/drawing/2014/main" id="{6A56D098-049F-420A-B440-595F3C8E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попадает в кадр — то становится частью сообщения.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E2FEC805-B61D-44D0-95BE-231159AE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48830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C0A1D248-DD7A-4910-A32F-2CB26EB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E27465C-0589-4818-BEEB-10F0C26C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DF4E62D-D1D4-43B1-8252-3F16835C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Контекст меняет роль изображения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620913D2-0155-4F3C-B889-36DE431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6970A-F269-4F9C-AB0D-8EA3C86F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01773-F6DF-4D2F-8305-9C3BBFD9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BCA97D0-B6B2-4E28-8E33-C91802F2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Изображение начинает сообщать по-разному, когда меняется его окружение.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AEAF3E3-CF7A-4D7C-842E-EFFE60DB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b3f09d3494456"/>
          <a:srcRect xmlns:a="http://schemas.openxmlformats.org/drawingml/2006/main" l="7364" t="0" r="7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2BCC9-CB00-4966-9CE9-0D73EAB8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F8525-1987-490E-B271-969F74DE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3A4CADEC-8491-4C87-8E55-5160ECD1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FC88DB77-534C-4BA6-AF63-4FF1B4C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C165C-872B-40CD-8D04-1B9F937E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509A7-1F2D-4D4C-9E95-B713DEE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85CC2FBA-8259-49DA-A950-A6B3FA77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Одно изображение читается…">
            <a:extLst xmlns:a="http://schemas.openxmlformats.org/drawingml/2006/main">
              <a:ext uri="{FF2B5EF4-FFF2-40B4-BE49-F238E27FC236}">
                <a16:creationId xmlns:a16="http://schemas.microsoft.com/office/drawing/2014/main" id="{E3CBC224-3C09-42AC-9641-1DE2E132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Одно изображение читается по-разному в разной среде.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44016-59BB-46D3-8470-776B3F98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804E6-0E9A-4032-B033-92EB6BE6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B5719603-EDD5-4C85-83B2-F14EDA70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Сегодня">
            <a:extLst xmlns:a="http://schemas.openxmlformats.org/drawingml/2006/main">
              <a:ext uri="{FF2B5EF4-FFF2-40B4-BE49-F238E27FC236}">
                <a16:creationId xmlns:a16="http://schemas.microsoft.com/office/drawing/2014/main" id="{20986B9B-0C92-4D3E-9B39-9029A4A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1A2FE-628D-4AC5-98C1-BF36D9E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039DC-391A-4A4E-A6E6-E6CCA3E6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702650DF-05DE-4A47-8644-C2921D1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Ближе к природе">
            <a:extLst xmlns:a="http://schemas.openxmlformats.org/drawingml/2006/main">
              <a:ext uri="{FF2B5EF4-FFF2-40B4-BE49-F238E27FC236}">
                <a16:creationId xmlns:a16="http://schemas.microsoft.com/office/drawing/2014/main" id="{42CF5DDF-7DF5-4B5F-B891-2D894CB7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Ближе к природе</a:t>
            </a:r>
          </a:p>
        </p:txBody>
      </p:sp>
    </p:spTree>
    <p:extLst>
      <p:ext uri="{BB962C8B-B14F-4D97-AF65-F5344CB8AC3E}">
        <p14:creationId xmlns:p14="http://schemas.microsoft.com/office/powerpoint/2010/main" val="291732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54CB13A5-0A0A-4D8A-8246-0D019639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D2E6275-86E8-4231-A335-F26E5A2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046C3E1-E7A2-48F5-B4BD-52504061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Красиво — не всегда правильно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A397A33A-0DB1-4B49-8A2A-60190413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CF7D1-02E8-4024-BA7B-B13AC8B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97E37-E3BA-42C2-9815-8A50CE6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6B8FA8F-5C4D-4421-8D1E-7DB4DF9A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 дизайне важно не только впечатление, но и точность сообщения.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46658D5-D779-4FA5-9402-491E14C9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43956370a471e"/>
          <a:srcRect xmlns:a="http://schemas.openxmlformats.org/drawingml/2006/main" l="13890" t="0" r="13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76A2D342-7BF4-4489-A961-917996A6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5A3D7FB-BD14-41F1-95BB-CFB4AC61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ce38590a440e8"/>
          <a:srcRect xmlns:a="http://schemas.openxmlformats.org/drawingml/2006/main" l="13534" t="0" r="135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Эффектное изображение может плохо…">
            <a:extLst xmlns:a="http://schemas.openxmlformats.org/drawingml/2006/main">
              <a:ext uri="{FF2B5EF4-FFF2-40B4-BE49-F238E27FC236}">
                <a16:creationId xmlns:a16="http://schemas.microsoft.com/office/drawing/2014/main" id="{B72DEB58-C0C6-4609-88CD-2A41BA1C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Эффектное изображение может плохо выполнять задачу.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14FAF7A-1F66-4D46-8791-E1AC647B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53c0ac5be49a9"/>
          <a:srcRect xmlns:a="http://schemas.openxmlformats.org/drawingml/2006/main" l="0" t="13822" r="0" b="13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Эффектно, но не решает задачу">
            <a:extLst xmlns:a="http://schemas.openxmlformats.org/drawingml/2006/main">
              <a:ext uri="{FF2B5EF4-FFF2-40B4-BE49-F238E27FC236}">
                <a16:creationId xmlns:a16="http://schemas.microsoft.com/office/drawing/2014/main" id="{C415D55F-2F44-443A-9068-DE873E4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Эффектно, но не решает задачу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E8157D8-3EDC-4CB3-9EFC-843CFB79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7a314110944e6"/>
          <a:srcRect xmlns:a="http://schemas.openxmlformats.org/drawingml/2006/main" l="0" t="16175" r="0" b="16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Спокойнее, но работает лучше">
            <a:extLst xmlns:a="http://schemas.openxmlformats.org/drawingml/2006/main">
              <a:ext uri="{FF2B5EF4-FFF2-40B4-BE49-F238E27FC236}">
                <a16:creationId xmlns:a16="http://schemas.microsoft.com/office/drawing/2014/main" id="{0FBA6768-0970-4039-BA6C-5ED4F73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Спокойнее, но работает лучше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F805638-72A7-4154-AF9D-D902872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2084748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FFAAC789-9DFE-443E-A36B-13C7ABBF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3FE22DED-3D63-4B3D-A55B-32E79FA7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E4C0DD8-9854-482A-B85C-FE2691F3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как изображение меняет сообщение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E9F21833-0D29-4288-8336-47B1ED6E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8E537-814C-4E13-BD7F-C70CA152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F74E2-EAE5-4011-B5CE-2D02538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95B16C8-AD50-419C-A7DF-98901319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Практика есть в каждом занятии: студент должен не угадывать, а объяснять наблюдение.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314F2F6-C1EC-49B6-8036-DA1BBD04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35ae01b504075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CECF31CA-02EF-49F0-97D6-57291C2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2F46D41B-53F5-4A38-BCAF-3C7A9CF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b23b627b649e8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равниваем два решения и…">
            <a:extLst xmlns:a="http://schemas.openxmlformats.org/drawingml/2006/main">
              <a:ext uri="{FF2B5EF4-FFF2-40B4-BE49-F238E27FC236}">
                <a16:creationId xmlns:a16="http://schemas.microsoft.com/office/drawing/2014/main" id="{5DC71B6E-EC79-4E14-BF28-AB38D4A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Сравниваем два решения и объясняем, как изменился смысл.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6EF50501-F838-4A96-B57B-190854A9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670524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E30F8E46-EF3F-4330-85EE-B629E297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Что изображение сообщает человеку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C8434C6-1CCA-4F78-9ED0-34FA4FD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9FE7308-DC6F-44E0-AE37-995021B7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673059FD-F43C-437A-9673-B90D177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E0DE9-6CAA-4AB4-8A64-FD35536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AB444-131A-4D17-B87F-B2B6DDC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DFCF37C-98E4-4743-80F5-5B05F92B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Изображение становится сообщением, когда дизайнер осознанно выбирает, изменяет и помещает его в нужный контекст.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38E7657-7FB6-4E53-B583-E7291DF9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6df2978b94b77"/>
          <a:srcRect xmlns:a="http://schemas.openxmlformats.org/drawingml/2006/main" l="7364" t="0" r="7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C32D-EED4-46EC-A881-200E07E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F1DC8-C4E3-49E1-A61C-3375D9B7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BA6FBD7D-0537-4920-AECC-4BA7E59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Введение в визуальную коммуникацию">
            <a:extLst xmlns:a="http://schemas.openxmlformats.org/drawingml/2006/main">
              <a:ext uri="{FF2B5EF4-FFF2-40B4-BE49-F238E27FC236}">
                <a16:creationId xmlns:a16="http://schemas.microsoft.com/office/drawing/2014/main" id="{FEFE1EDB-26CE-4D15-BBE1-5251EE2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визуальную коммуникацию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5C915-1DC3-48AC-B114-EAADE92E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D61BB-FB11-4966-A9E2-ED65CF3D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C79C52DF-00C1-47F7-84BD-09DD534E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Что важно запомнить после занятия…">
            <a:extLst xmlns:a="http://schemas.openxmlformats.org/drawingml/2006/main">
              <a:ext uri="{FF2B5EF4-FFF2-40B4-BE49-F238E27FC236}">
                <a16:creationId xmlns:a16="http://schemas.microsoft.com/office/drawing/2014/main" id="{3DC02130-13CA-48A5-8FBA-559EF9C2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важно запомнить после занятия 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F7C04-3A41-49C9-837E-09A775B3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11E80-7474-4D93-A017-7D3020F0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22CCE208-2965-4099-8D49-F45E28F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Изображение передаёт смысл">
            <a:extLst xmlns:a="http://schemas.openxmlformats.org/drawingml/2006/main">
              <a:ext uri="{FF2B5EF4-FFF2-40B4-BE49-F238E27FC236}">
                <a16:creationId xmlns:a16="http://schemas.microsoft.com/office/drawing/2014/main" id="{7A0CBEB2-C82E-41C5-A4F6-6AA0B2D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Изображение передаёт смысл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789C5-8ADA-45D6-9C6A-07BF4CF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537FC-3BBA-4933-963B-27CEC6E8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AE1DAA23-4491-4F6A-A4AE-FA3CEB66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Кадр меняет акцент">
            <a:extLst xmlns:a="http://schemas.openxmlformats.org/drawingml/2006/main">
              <a:ext uri="{FF2B5EF4-FFF2-40B4-BE49-F238E27FC236}">
                <a16:creationId xmlns:a16="http://schemas.microsoft.com/office/drawing/2014/main" id="{F0C2AA36-64F4-4004-8C80-E4192CD4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Кадр меняет акцент</a:t>
            </a:r>
          </a:p>
        </p:txBody>
      </p:sp>
    </p:spTree>
    <p:extLst>
      <p:ext uri="{BB962C8B-B14F-4D97-AF65-F5344CB8AC3E}">
        <p14:creationId xmlns:p14="http://schemas.microsoft.com/office/powerpoint/2010/main" val="1598034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2026-09-13T13:17:21.8470000Z</dcterms:created>
  <dcterms:modified xsi:type="dcterms:W3CDTF">2026-09-13T13:17:21.8470000Z</dcterms:modified>
</coreProperties>
</file>