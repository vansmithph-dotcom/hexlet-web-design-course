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de_cinematic_dark_moody_still_life_illustratio.png"/>
          <p:cNvPicPr>
            <a:picLocks noChangeAspect="1"/>
          </p:cNvPicPr>
          <p:nvPr/>
        </p:nvPicPr>
        <p:blipFill>
          <a:blip r:embed="rId2"/>
          <a:srcRect l="16870" r="16870"/>
          <a:stretch>
            <a:fillRect/>
          </a:stretch>
        </p:blipFill>
        <p:spPr>
          <a:xfrm>
            <a:off x="4114800" y="0"/>
            <a:ext cx="80741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C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100" b="1">
                <a:solidFill>
                  <a:srgbClr val="F4F6F8"/>
                </a:solidFill>
                <a:latin typeface="Aptos"/>
              </a:rPr>
              <a:t>Хекслет Колледж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F4F6F8"/>
                </a:solidFill>
                <a:latin typeface="Aptos"/>
              </a:rPr>
              <a:t>ПМ1 · Сканирование и обработка
графической информации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F4F6F8"/>
                </a:solidFill>
                <a:latin typeface="Aptos"/>
              </a:rPr>
              <a:t>Занятие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200" b="1">
                <a:solidFill>
                  <a:srgbClr val="F4F6F8"/>
                </a:solidFill>
                <a:latin typeface="Aptos"/>
              </a:rPr>
              <a:t>Состояния и интерактивный прототип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15968"/>
            <a:ext cx="3703320" cy="6583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F4F6F8"/>
                </a:solidFill>
                <a:latin typeface="Aptos"/>
              </a:rPr>
              <a:t>Trigger → Action → Destination → 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A5AEB5"/>
                </a:solidFill>
                <a:latin typeface="Aptos"/>
              </a:rPr>
              <a:t>люди · идеи · инструменты · изображения · проекты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Сегодня: состояния и прототип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Trigger → Action → Destination → Animation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Состояние компонента — реакция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Прототип — короткий пользовательский сценарий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Проверяем в Present как пользователь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59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Trigger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0" y="2798064"/>
            <a:ext cx="365759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79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9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19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Change to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83879" y="2798064"/>
            <a:ext cx="365761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964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Hover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Destination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92640" y="2798064"/>
            <a:ext cx="365760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5840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Animation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Smart Animate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интерактивность нужна для понятного сценария, а не для случайной анимации.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Prototype tab справа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Выделяем объект → Prototype → add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Правая panel имеет вкладку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Interaction можно добавить через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Или протянуть connection на холсте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4867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64807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7D5AFF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951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19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2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3155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3155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3155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3155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3155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50607" y="2697480"/>
            <a:ext cx="1188720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59" y="2811780"/>
            <a:ext cx="104241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08008" y="2240280"/>
            <a:ext cx="1280160" cy="132588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CD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385048" y="2862072"/>
            <a:ext cx="822960" cy="0"/>
          </a:xfrm>
          <a:prstGeom prst="line">
            <a:avLst/>
          </a:prstGeom>
          <a:ln w="20320">
            <a:solidFill>
              <a:srgbClr val="45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интеракции настраиваются во вкладке Prototype в правой панели.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Словарь интеракции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Событие, реакция, цель и переход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Trigger — что запускает действие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Action — что происходит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Destination — куда ведёт действие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Animation — как происходит переход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59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Trigger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75120" y="2798064"/>
            <a:ext cx="365759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40879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19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9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Change 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83879" y="2798064"/>
            <a:ext cx="365761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4964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Hover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Destination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92640" y="2798064"/>
            <a:ext cx="365760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5840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Animation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Smart Animate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прототип читается как цепочка Trigger → Action → Destination → Animation.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On click / On tap и Hover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Desktop и touch-среда работают по-разному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On click / On tap — базовое действие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Hover подходит для desktop-состояний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На mobile hover нельзя считать обязательным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4867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64807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951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19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2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3155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3155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3155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3155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3155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50607" y="2880360"/>
            <a:ext cx="1188720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59" y="2994660"/>
            <a:ext cx="104241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40" y="224028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85248" y="226771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Text: Label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40" y="256032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85248" y="258775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Boolean: Icon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1240" y="288036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85248" y="2907791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Variant: State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1240" y="320040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85248" y="322783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Instance swap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21240" y="3520440"/>
            <a:ext cx="914400" cy="164592"/>
          </a:xfrm>
          <a:prstGeom prst="round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85248" y="3547872"/>
            <a:ext cx="777240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" b="0">
                <a:solidFill>
                  <a:srgbClr val="282D32"/>
                </a:solidFill>
                <a:latin typeface="Aptos"/>
              </a:rPr>
              <a:t>Slot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главное действие должно работать по tap/click, потому что hover отсутствует на touch-устройствах.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Interactive variants: Change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Переключение между variants одного component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Default → Hover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Hover →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Pressed — по смыслу действия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Геометрия variants должна совпадать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2560320"/>
            <a:ext cx="777240" cy="23774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Default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52360" y="2560320"/>
            <a:ext cx="777240" cy="237744"/>
          </a:xfrm>
          <a:prstGeom prst="roundRect">
            <a:avLst/>
          </a:prstGeom>
          <a:solidFill>
            <a:srgbClr val="6448DC"/>
          </a:solidFill>
          <a:ln w="12700">
            <a:solidFill>
              <a:srgbClr val="64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Hover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Hover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0" y="2560320"/>
            <a:ext cx="777240" cy="237744"/>
          </a:xfrm>
          <a:prstGeom prst="roundRect">
            <a:avLst/>
          </a:prstGeom>
          <a:solidFill>
            <a:srgbClr val="482DBE"/>
          </a:solidFill>
          <a:ln w="12700">
            <a:solidFill>
              <a:srgbClr val="482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Pressed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995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Pressed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240280"/>
            <a:ext cx="1143000" cy="105156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87000" y="2560320"/>
            <a:ext cx="777240" cy="237744"/>
          </a:xfrm>
          <a:prstGeom prst="roundRect">
            <a:avLst/>
          </a:prstGeom>
          <a:solidFill>
            <a:srgbClr val="5E6770"/>
          </a:solidFill>
          <a:ln w="12700">
            <a:solidFill>
              <a:srgbClr val="5E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0152" y="2628900"/>
            <a:ext cx="63093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Disabled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7272" y="299008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A5AEB5"/>
                </a:solidFill>
                <a:latin typeface="Aptos"/>
              </a:rPr>
              <a:t>Disabled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47472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F4F6F8"/>
                </a:solidFill>
                <a:latin typeface="Aptos"/>
              </a:rPr>
              <a:t>State = Default / Hover / Pressed / Disabled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Change to работает между variants и показывает состояние компонента без отдельного экрана.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Navigate to: переход на экран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CTA ведёт на detail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Выделяем 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On click → Navigate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Destination: detail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Переход должен быть понятен пользователю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4867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64807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7D5AFF"/>
                </a:solidFill>
                <a:latin typeface="Aptos"/>
              </a:rPr>
              <a:t>Prototype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3504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51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19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352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552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753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953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3155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3155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3155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3155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3155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50607" y="2697480"/>
            <a:ext cx="1188720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59" y="2811780"/>
            <a:ext cx="104241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2240280"/>
            <a:ext cx="1280160" cy="132588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CD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385048" y="2862072"/>
            <a:ext cx="822960" cy="0"/>
          </a:xfrm>
          <a:prstGeom prst="line">
            <a:avLst/>
          </a:prstGeom>
          <a:ln w="20320">
            <a:solidFill>
              <a:srgbClr val="45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Navigate to используем, когда действие ведёт на другой frame или экран.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Open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Модальное окно или дополнительная информация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Info icon → Open overlay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Настраиваем позицию overlay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Проверяем закрытие и фон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Не перегружаем сценарий эффектами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691640"/>
            <a:ext cx="5440680" cy="333756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1691640"/>
            <a:ext cx="658368" cy="333756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57232" y="1691640"/>
            <a:ext cx="1298448" cy="333756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73368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80136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182880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7311" y="182880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7D5AFF"/>
                </a:solidFill>
                <a:latin typeface="Aptos"/>
              </a:rPr>
              <a:t>Prototype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207568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238658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0" y="269748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300837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0" y="331927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237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4380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838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0392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40111" y="216712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40111" y="245973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40111" y="275234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40111" y="304495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40111" y="333756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30568" y="2103120"/>
            <a:ext cx="3931920" cy="1920240"/>
          </a:xfrm>
          <a:prstGeom prst="roundRect">
            <a:avLst/>
          </a:prstGeom>
          <a:solidFill>
            <a:srgbClr val="EBEEF0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99248" y="2468880"/>
            <a:ext cx="21945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7888" y="288036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00" b="1">
                <a:solidFill>
                  <a:srgbClr val="22262A"/>
                </a:solidFill>
                <a:latin typeface="Aptos"/>
              </a:rPr>
              <a:t>Overlay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overlay полезен для дополнительной информации, если он не ломает основной пользовательский путь.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Animation: Instant / Smart Animate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Анимация подчёркивает связь, а не заменяет логику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Instant — мгновенный переход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Smart Animate — между похожими структурами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Имена и иерархия layers помогают анимации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59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Trigger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0" y="2798064"/>
            <a:ext cx="365759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79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9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19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Change to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83879" y="2798064"/>
            <a:ext cx="365761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964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Hover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Destination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92640" y="2798064"/>
            <a:ext cx="365760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5840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Animation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Smart Animate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Smart Animate работает лучше, когда структуры вариантов похожи и названы аккуратно.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Flow starting point и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Где начинается просмотр прототипа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Назначаем стартовый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Запускаем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Проверяем сценарий без подсказок преподавателя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4867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64807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7D5AFF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951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19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2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3155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3155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3155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3155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3155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50607" y="2697480"/>
            <a:ext cx="1188720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59" y="2811780"/>
            <a:ext cx="104241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08008" y="2240280"/>
            <a:ext cx="1280160" cy="132588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CD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385048" y="2862072"/>
            <a:ext cx="822960" cy="0"/>
          </a:xfrm>
          <a:prstGeom prst="line">
            <a:avLst/>
          </a:prstGeom>
          <a:ln w="20320">
            <a:solidFill>
              <a:srgbClr val="45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стартовая точка нужна, чтобы прототип открывался с правильного экрана.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Тест как пользователь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Не смотреть на слои — пройти сценарий глазами пользователя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Понятно ли, куда нажимать?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Не меняется ли geometry неожиданно?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Есть ли обратная связь?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Работает ли сценарий на mobile?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338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04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0176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340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06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0375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342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08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0576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338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04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704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0176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694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340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06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706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0375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696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342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08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08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08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708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0576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тестируем не настройки ради настроек, а понятность пользовательского сценария.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Mobile без обязательного hover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Touch-сценарий должен быть самостоятельным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Hover может быть только desktop enhancement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CTA должен работать по tap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Состояние кнопки не должно быть единственным способом понять действие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202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Desktop 1440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148840"/>
            <a:ext cx="3383280" cy="150876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19472" y="2313432"/>
            <a:ext cx="1184148" cy="1179576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1636" y="2386584"/>
            <a:ext cx="1894636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1636" y="2624328"/>
            <a:ext cx="1894636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6" y="3072384"/>
            <a:ext cx="1894636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3319272"/>
            <a:ext cx="12344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1364" y="3410712"/>
            <a:ext cx="10149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9748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FF3D5C"/>
                </a:solidFill>
                <a:latin typeface="Aptos"/>
              </a:rPr>
              <a:t>→ изменить правила, не масштабировать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192024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Mobile 390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2148840"/>
            <a:ext cx="1554480" cy="237744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88752" y="2313432"/>
            <a:ext cx="1225295" cy="998524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25328" y="3467404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25328" y="3705148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25328" y="4153204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25328" y="4400092"/>
            <a:ext cx="1152144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35056" y="4491532"/>
            <a:ext cx="93268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mobile-прототип обязан работать без hover как обязательного этапа.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Практика: button state + переход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Default/Hover + On click → Navigate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Подключить Default и Hover через Change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Добавить On click на 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Запустить Present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Проверить mobile-сценарий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4867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64807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7D5AFF"/>
                </a:solidFill>
                <a:latin typeface="Aptos"/>
              </a:rPr>
              <a:t>Prototype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3504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51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19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352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552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753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953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3155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3155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3155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3155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3155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50607" y="2697480"/>
            <a:ext cx="1188720" cy="329184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59" y="2811780"/>
            <a:ext cx="1042416" cy="822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7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2240280"/>
            <a:ext cx="1280160" cy="132588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CD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385048" y="2862072"/>
            <a:ext cx="822960" cy="0"/>
          </a:xfrm>
          <a:prstGeom prst="line">
            <a:avLst/>
          </a:prstGeom>
          <a:ln w="20320">
            <a:solidFill>
              <a:srgbClr val="458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практика соединяет состояние кнопки и реальный переход между экранами.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Самостоятельно: дополнительный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Overlay или раскрытие карточки через 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Добавить один осмысленный сценарий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Не увеличивать эффекты ради количества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Проверить закрытие overlay или возврат состояния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1691640"/>
            <a:ext cx="5440680" cy="333756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0" y="1691640"/>
            <a:ext cx="658368" cy="333756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57232" y="1691640"/>
            <a:ext cx="1298448" cy="333756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3368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80136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182880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97311" y="182880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7D5AFF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207568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238658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0" y="269748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300837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0" y="331927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2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4380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0392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40111" y="216712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40111" y="245973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40111" y="275234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40111" y="304495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40111" y="333756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30568" y="2103120"/>
            <a:ext cx="3931920" cy="1920240"/>
          </a:xfrm>
          <a:prstGeom prst="roundRect">
            <a:avLst/>
          </a:prstGeom>
          <a:solidFill>
            <a:srgbClr val="EBEEF0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99248" y="2468880"/>
            <a:ext cx="21945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288036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00" b="1">
                <a:solidFill>
                  <a:srgbClr val="22262A"/>
                </a:solidFill>
                <a:latin typeface="Aptos"/>
              </a:rPr>
              <a:t>Overlay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самостоятельная часть оценивает понятность реакции пользователя, а не количество эффектов.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Типичные ошибки прототипа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Неверная цель, отсутствующий старт, hover на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Нет flow starting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Destination выбран случайно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Hover используется как обязательное mobile-состояние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Variant interaction не между variants одного set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196596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200253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9339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Gap/Padding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46888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50545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49631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Hug/Fill/Fixed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297180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00837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99923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Main+Instances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347472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351129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0215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Desktop/Mobile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3977639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6" y="401421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00507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Prototype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ошибки прототипа проявляются при запуске Present и прохождении сценария.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Итог занятия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Interactive components +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Есть Change to для состояния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Есть Navigate to или Open overlay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Сценарий проверен в Present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Mobile работает без обязательного hover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59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Trigger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75120" y="2798064"/>
            <a:ext cx="365759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40879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19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9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Change 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83879" y="2798064"/>
            <a:ext cx="365761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4964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Hover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Destination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92640" y="2798064"/>
            <a:ext cx="365760" cy="0"/>
          </a:xfrm>
          <a:prstGeom prst="line">
            <a:avLst/>
          </a:prstGeom>
          <a:ln w="19050">
            <a:solidFill>
              <a:srgbClr val="FF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58400" y="2468880"/>
            <a:ext cx="1143000" cy="658368"/>
          </a:xfrm>
          <a:prstGeom prst="roundRect">
            <a:avLst/>
          </a:prstGeom>
          <a:solidFill>
            <a:srgbClr val="161F23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263347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F4F6F8"/>
                </a:solidFill>
                <a:latin typeface="Aptos"/>
              </a:rPr>
              <a:t>Animation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834640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60" b="0">
                <a:solidFill>
                  <a:srgbClr val="A5AEB5"/>
                </a:solidFill>
                <a:latin typeface="Aptos"/>
              </a:rPr>
              <a:t>Smart Animate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результат П029 — рабочее состояние компонента и короткий понятный сценарий прототипа.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П029 · Figma: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